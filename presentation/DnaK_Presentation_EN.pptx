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image" Target="../media/image-6-3.jpeg"/><Relationship Id="rId4" Type="http://schemas.openxmlformats.org/officeDocument/2006/relationships/image" Target="../media/image-6-4.jpe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image" Target="../media/image-7-3.jpe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jpeg"/><Relationship Id="rId3" Type="http://schemas.openxmlformats.org/officeDocument/2006/relationships/image" Target="../media/image-8-3.jpe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jpeg"/><Relationship Id="rId3" Type="http://schemas.openxmlformats.org/officeDocument/2006/relationships/image" Target="../media/image-9-3.jpe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image" Target="../media/image-11-3.jpe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jpeg"/><Relationship Id="rId3" Type="http://schemas.openxmlformats.org/officeDocument/2006/relationships/image" Target="../media/image-12-3.jpe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jpeg"/><Relationship Id="rId3" Type="http://schemas.openxmlformats.org/officeDocument/2006/relationships/image" Target="../media/image-13-3.jpe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1A4A8C"/>
          </a:solidFill>
          <a:ln/>
        </p:spPr>
      </p:sp>
      <p:sp>
        <p:nvSpPr>
          <p:cNvPr id="3" name="Shape 1"/>
          <p:cNvSpPr/>
          <p:nvPr/>
        </p:nvSpPr>
        <p:spPr>
          <a:xfrm>
            <a:off x="-1463040" y="3566160"/>
            <a:ext cx="2926080" cy="2926080"/>
          </a:xfrm>
          <a:prstGeom prst="ellipse">
            <a:avLst/>
          </a:prstGeom>
          <a:solidFill>
            <a:srgbClr val="1A4A8C"/>
          </a:solidFill>
          <a:ln/>
        </p:spPr>
      </p:sp>
      <p:sp>
        <p:nvSpPr>
          <p:cNvPr id="4" name="Shape 2"/>
          <p:cNvSpPr/>
          <p:nvPr/>
        </p:nvSpPr>
        <p:spPr>
          <a:xfrm>
            <a:off x="7863840" y="3291840"/>
            <a:ext cx="1463040" cy="1463040"/>
          </a:xfrm>
          <a:prstGeom prst="ellipse">
            <a:avLst/>
          </a:prstGeom>
          <a:solidFill>
            <a:srgbClr val="24395E"/>
          </a:solidFill>
          <a:ln/>
        </p:spPr>
      </p:sp>
      <p:sp>
        <p:nvSpPr>
          <p:cNvPr id="5" name="Text 3"/>
          <p:cNvSpPr/>
          <p:nvPr/>
        </p:nvSpPr>
        <p:spPr>
          <a:xfrm>
            <a:off x="640080" y="548640"/>
            <a:ext cx="7863840" cy="274320"/>
          </a:xfrm>
          <a:prstGeom prst="rect">
            <a:avLst/>
          </a:prstGeom>
          <a:noFill/>
          <a:ln/>
        </p:spPr>
        <p:txBody>
          <a:bodyPr wrap="square" rtlCol="0" anchor="ctr"/>
          <a:lstStyle/>
          <a:p>
            <a:pPr indent="0" marL="0">
              <a:buNone/>
            </a:pPr>
            <a:r>
              <a:rPr lang="en-US" sz="1200" spc="200" kern="0" dirty="0">
                <a:solidFill>
                  <a:srgbClr val="9FB4D9"/>
                </a:solidFill>
                <a:latin typeface="Calibri" pitchFamily="34" charset="0"/>
                <a:ea typeface="Calibri" pitchFamily="34" charset="-122"/>
                <a:cs typeface="Calibri" pitchFamily="34" charset="-120"/>
              </a:rPr>
              <a:t>FACULTY OF ENGINEERING AND NATURAL SCIENCES</a:t>
            </a:r>
            <a:endParaRPr lang="en-US" sz="1200" dirty="0"/>
          </a:p>
        </p:txBody>
      </p:sp>
      <p:sp>
        <p:nvSpPr>
          <p:cNvPr id="6" name="Text 4"/>
          <p:cNvSpPr/>
          <p:nvPr/>
        </p:nvSpPr>
        <p:spPr>
          <a:xfrm>
            <a:off x="640080" y="868680"/>
            <a:ext cx="7863840" cy="274320"/>
          </a:xfrm>
          <a:prstGeom prst="rect">
            <a:avLst/>
          </a:prstGeom>
          <a:noFill/>
          <a:ln/>
        </p:spPr>
        <p:txBody>
          <a:bodyPr wrap="square" rtlCol="0" anchor="ctr"/>
          <a:lstStyle/>
          <a:p>
            <a:pPr indent="0" marL="0">
              <a:buNone/>
            </a:pPr>
            <a:r>
              <a:rPr lang="en-US" sz="1200" dirty="0">
                <a:solidFill>
                  <a:srgbClr val="9FB4D9"/>
                </a:solidFill>
                <a:latin typeface="Calibri" pitchFamily="34" charset="0"/>
                <a:ea typeface="Calibri" pitchFamily="34" charset="-122"/>
                <a:cs typeface="Calibri" pitchFamily="34" charset="-120"/>
              </a:rPr>
              <a:t>Department of Bioengineering</a:t>
            </a:r>
            <a:endParaRPr lang="en-US" sz="1200" dirty="0"/>
          </a:p>
        </p:txBody>
      </p:sp>
      <p:sp>
        <p:nvSpPr>
          <p:cNvPr id="7" name="Text 5"/>
          <p:cNvSpPr/>
          <p:nvPr/>
        </p:nvSpPr>
        <p:spPr>
          <a:xfrm>
            <a:off x="640080" y="1417320"/>
            <a:ext cx="7863840" cy="2148840"/>
          </a:xfrm>
          <a:prstGeom prst="rect">
            <a:avLst/>
          </a:prstGeom>
          <a:noFill/>
          <a:ln/>
        </p:spPr>
        <p:txBody>
          <a:bodyPr wrap="square" rtlCol="0" anchor="t"/>
          <a:lstStyle/>
          <a:p>
            <a:pPr indent="0" marL="0">
              <a:lnSpc>
                <a:spcPct val="105000"/>
              </a:lnSpc>
              <a:buNone/>
            </a:pPr>
            <a:r>
              <a:rPr lang="en-US" sz="2500" b="1" dirty="0">
                <a:solidFill>
                  <a:srgbClr val="FFFFFF"/>
                </a:solidFill>
                <a:latin typeface="Cambria" pitchFamily="34" charset="0"/>
                <a:ea typeface="Cambria" pitchFamily="34" charset="-122"/>
                <a:cs typeface="Cambria" pitchFamily="34" charset="-120"/>
              </a:rPr>
              <a:t>In Silico Analysis of the Effects of Bennu Asteroid-Derived Non-Canonical Amino Acids on the Structural Stability and Allosteric Function of the DnaK Chaperone Protein</a:t>
            </a:r>
            <a:endParaRPr lang="en-US" sz="2500" dirty="0"/>
          </a:p>
        </p:txBody>
      </p:sp>
      <p:sp>
        <p:nvSpPr>
          <p:cNvPr id="8" name="Text 6"/>
          <p:cNvSpPr/>
          <p:nvPr/>
        </p:nvSpPr>
        <p:spPr>
          <a:xfrm>
            <a:off x="640080" y="4069080"/>
            <a:ext cx="7863840" cy="1005840"/>
          </a:xfrm>
          <a:prstGeom prst="rect">
            <a:avLst/>
          </a:prstGeom>
          <a:noFill/>
          <a:ln/>
        </p:spPr>
        <p:txBody>
          <a:bodyPr wrap="square" rtlCol="0" anchor="ctr"/>
          <a:lstStyle/>
          <a:p>
            <a:pPr indent="0" marL="0">
              <a:lnSpc>
                <a:spcPct val="120000"/>
              </a:lnSpc>
              <a:buNone/>
            </a:pPr>
            <a:r>
              <a:rPr lang="en-US" sz="1600" b="1" dirty="0">
                <a:solidFill>
                  <a:srgbClr val="FFFFFF"/>
                </a:solidFill>
                <a:latin typeface="Calibri" pitchFamily="34" charset="0"/>
                <a:ea typeface="Calibri" pitchFamily="34" charset="-122"/>
                <a:cs typeface="Calibri" pitchFamily="34" charset="-120"/>
              </a:rPr>
              <a:t>Pelinsu Eda Şentürk  ·  22120509009</a:t>
            </a:r>
            <a:endParaRPr lang="en-US" sz="1600" dirty="0"/>
          </a:p>
          <a:p>
            <a:pPr indent="0" marL="0">
              <a:lnSpc>
                <a:spcPct val="120000"/>
              </a:lnSpc>
              <a:buNone/>
            </a:pPr>
            <a:r>
              <a:rPr lang="en-US" sz="1300" dirty="0">
                <a:solidFill>
                  <a:srgbClr val="C5D3EC"/>
                </a:solidFill>
                <a:latin typeface="Calibri" pitchFamily="34" charset="0"/>
                <a:ea typeface="Calibri" pitchFamily="34" charset="-122"/>
                <a:cs typeface="Calibri" pitchFamily="34" charset="-120"/>
              </a:rPr>
              <a:t>Advisor: Asst. Prof. Dr. Saliha Ece Acuner</a:t>
            </a:r>
            <a:endParaRPr lang="en-US" sz="1600" dirty="0"/>
          </a:p>
          <a:p>
            <a:pPr indent="0" marL="0">
              <a:lnSpc>
                <a:spcPct val="120000"/>
              </a:lnSpc>
              <a:buNone/>
            </a:pPr>
            <a:r>
              <a:rPr lang="en-US" sz="1300" dirty="0">
                <a:solidFill>
                  <a:srgbClr val="C5D3EC"/>
                </a:solidFill>
                <a:latin typeface="Calibri" pitchFamily="34" charset="0"/>
                <a:ea typeface="Calibri" pitchFamily="34" charset="-122"/>
                <a:cs typeface="Calibri" pitchFamily="34" charset="-120"/>
              </a:rPr>
              <a:t>Undergraduate Thesis · June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A"/>
        </a:solidFill>
      </p:bgPr>
    </p:bg>
    <p:spTree>
      <p:nvGrpSpPr>
        <p:cNvPr id="1" name=""/>
        <p:cNvGrpSpPr/>
        <p:nvPr/>
      </p:nvGrpSpPr>
      <p:grpSpPr>
        <a:xfrm>
          <a:off x="0" y="0"/>
          <a:ext cx="0" cy="0"/>
          <a:chOff x="0" y="0"/>
          <a:chExt cx="0" cy="0"/>
        </a:xfrm>
      </p:grpSpPr>
      <p:sp>
        <p:nvSpPr>
          <p:cNvPr id="2" name="Text 0"/>
          <p:cNvSpPr/>
          <p:nvPr/>
        </p:nvSpPr>
        <p:spPr>
          <a:xfrm>
            <a:off x="548640" y="274320"/>
            <a:ext cx="7315200" cy="640080"/>
          </a:xfrm>
          <a:prstGeom prst="rect">
            <a:avLst/>
          </a:prstGeom>
          <a:noFill/>
          <a:ln/>
        </p:spPr>
        <p:txBody>
          <a:bodyPr wrap="square" rtlCol="0" anchor="ctr"/>
          <a:lstStyle/>
          <a:p>
            <a:pPr indent="0" marL="0">
              <a:buNone/>
            </a:pPr>
            <a:r>
              <a:rPr lang="en-US" sz="3200" b="1" dirty="0">
                <a:solidFill>
                  <a:srgbClr val="1B2A4A"/>
                </a:solidFill>
                <a:latin typeface="Cambria" pitchFamily="34" charset="0"/>
                <a:ea typeface="Cambria" pitchFamily="34" charset="-122"/>
                <a:cs typeface="Cambria" pitchFamily="34" charset="-120"/>
              </a:rPr>
              <a:t>Presentation Outline</a:t>
            </a:r>
            <a:endParaRPr lang="en-US" sz="3200" dirty="0"/>
          </a:p>
        </p:txBody>
      </p:sp>
      <p:sp>
        <p:nvSpPr>
          <p:cNvPr id="3" name="Shape 1"/>
          <p:cNvSpPr/>
          <p:nvPr/>
        </p:nvSpPr>
        <p:spPr>
          <a:xfrm>
            <a:off x="548640" y="1078992"/>
            <a:ext cx="8046720" cy="566928"/>
          </a:xfrm>
          <a:prstGeom prst="roundRect">
            <a:avLst>
              <a:gd name="adj" fmla="val 9677"/>
            </a:avLst>
          </a:prstGeom>
          <a:solidFill>
            <a:srgbClr val="FFFFFF"/>
          </a:solidFill>
          <a:ln/>
          <a:effectLst>
            <a:outerShdw sx="100000" sy="100000" kx="0" ky="0" algn="bl" rotWithShape="0" blurRad="50800" dist="12700" dir="5400000">
              <a:srgbClr val="000000">
                <a:alpha val="8000"/>
              </a:srgbClr>
            </a:outerShdw>
          </a:effectLst>
        </p:spPr>
      </p:sp>
      <p:sp>
        <p:nvSpPr>
          <p:cNvPr id="4" name="Shape 2"/>
          <p:cNvSpPr/>
          <p:nvPr/>
        </p:nvSpPr>
        <p:spPr>
          <a:xfrm>
            <a:off x="694944" y="1161288"/>
            <a:ext cx="402336" cy="402336"/>
          </a:xfrm>
          <a:prstGeom prst="roundRect">
            <a:avLst>
              <a:gd name="adj" fmla="val 13636"/>
            </a:avLst>
          </a:prstGeom>
          <a:solidFill>
            <a:srgbClr val="2E75D6"/>
          </a:solidFill>
          <a:ln/>
        </p:spPr>
      </p:sp>
      <p:sp>
        <p:nvSpPr>
          <p:cNvPr id="5" name="Text 3"/>
          <p:cNvSpPr/>
          <p:nvPr/>
        </p:nvSpPr>
        <p:spPr>
          <a:xfrm>
            <a:off x="694944" y="116128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6" name="Text 4"/>
          <p:cNvSpPr/>
          <p:nvPr/>
        </p:nvSpPr>
        <p:spPr>
          <a:xfrm>
            <a:off x="1261872" y="1106424"/>
            <a:ext cx="7223760" cy="29260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Research Question &amp; Hypotheses</a:t>
            </a:r>
            <a:endParaRPr lang="en-US" sz="1400" dirty="0"/>
          </a:p>
        </p:txBody>
      </p:sp>
      <p:sp>
        <p:nvSpPr>
          <p:cNvPr id="7" name="Text 5"/>
          <p:cNvSpPr/>
          <p:nvPr/>
        </p:nvSpPr>
        <p:spPr>
          <a:xfrm>
            <a:off x="1261872" y="1380744"/>
            <a:ext cx="7223760" cy="237744"/>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Asteroid Bennu, the DnaK protein, and the astrobiological context</a:t>
            </a:r>
            <a:endParaRPr lang="en-US" sz="1000" dirty="0"/>
          </a:p>
        </p:txBody>
      </p:sp>
      <p:sp>
        <p:nvSpPr>
          <p:cNvPr id="8" name="Shape 6"/>
          <p:cNvSpPr/>
          <p:nvPr/>
        </p:nvSpPr>
        <p:spPr>
          <a:xfrm>
            <a:off x="548640" y="1723644"/>
            <a:ext cx="8046720" cy="566928"/>
          </a:xfrm>
          <a:prstGeom prst="roundRect">
            <a:avLst>
              <a:gd name="adj" fmla="val 9677"/>
            </a:avLst>
          </a:prstGeom>
          <a:solidFill>
            <a:srgbClr val="FFFFFF"/>
          </a:solidFill>
          <a:ln/>
          <a:effectLst>
            <a:outerShdw sx="100000" sy="100000" kx="0" ky="0" algn="bl" rotWithShape="0" blurRad="50800" dist="12700" dir="5400000">
              <a:srgbClr val="000000">
                <a:alpha val="8000"/>
              </a:srgbClr>
            </a:outerShdw>
          </a:effectLst>
        </p:spPr>
      </p:sp>
      <p:sp>
        <p:nvSpPr>
          <p:cNvPr id="9" name="Shape 7"/>
          <p:cNvSpPr/>
          <p:nvPr/>
        </p:nvSpPr>
        <p:spPr>
          <a:xfrm>
            <a:off x="694944" y="1805940"/>
            <a:ext cx="402336" cy="402336"/>
          </a:xfrm>
          <a:prstGeom prst="roundRect">
            <a:avLst>
              <a:gd name="adj" fmla="val 13636"/>
            </a:avLst>
          </a:prstGeom>
          <a:solidFill>
            <a:srgbClr val="2E75D6"/>
          </a:solidFill>
          <a:ln/>
        </p:spPr>
      </p:sp>
      <p:sp>
        <p:nvSpPr>
          <p:cNvPr id="10" name="Text 8"/>
          <p:cNvSpPr/>
          <p:nvPr/>
        </p:nvSpPr>
        <p:spPr>
          <a:xfrm>
            <a:off x="694944" y="18059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1" name="Text 9"/>
          <p:cNvSpPr/>
          <p:nvPr/>
        </p:nvSpPr>
        <p:spPr>
          <a:xfrm>
            <a:off x="1261872" y="1751076"/>
            <a:ext cx="7223760" cy="29260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Methodology</a:t>
            </a:r>
            <a:endParaRPr lang="en-US" sz="1400" dirty="0"/>
          </a:p>
        </p:txBody>
      </p:sp>
      <p:sp>
        <p:nvSpPr>
          <p:cNvPr id="12" name="Text 10"/>
          <p:cNvSpPr/>
          <p:nvPr/>
        </p:nvSpPr>
        <p:spPr>
          <a:xfrm>
            <a:off x="1261872" y="2025396"/>
            <a:ext cx="7223760" cy="237744"/>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PDB: 4B9Q, PyRosetta ΔΔG, Boltz-2 structure prediction, PyMOL visualization</a:t>
            </a:r>
            <a:endParaRPr lang="en-US" sz="1000" dirty="0"/>
          </a:p>
        </p:txBody>
      </p:sp>
      <p:sp>
        <p:nvSpPr>
          <p:cNvPr id="13" name="Shape 11"/>
          <p:cNvSpPr/>
          <p:nvPr/>
        </p:nvSpPr>
        <p:spPr>
          <a:xfrm>
            <a:off x="548640" y="2368296"/>
            <a:ext cx="8046720" cy="566928"/>
          </a:xfrm>
          <a:prstGeom prst="roundRect">
            <a:avLst>
              <a:gd name="adj" fmla="val 9677"/>
            </a:avLst>
          </a:prstGeom>
          <a:solidFill>
            <a:srgbClr val="FFFFFF"/>
          </a:solidFill>
          <a:ln/>
          <a:effectLst>
            <a:outerShdw sx="100000" sy="100000" kx="0" ky="0" algn="bl" rotWithShape="0" blurRad="50800" dist="12700" dir="5400000">
              <a:srgbClr val="000000">
                <a:alpha val="8000"/>
              </a:srgbClr>
            </a:outerShdw>
          </a:effectLst>
        </p:spPr>
      </p:sp>
      <p:sp>
        <p:nvSpPr>
          <p:cNvPr id="14" name="Shape 12"/>
          <p:cNvSpPr/>
          <p:nvPr/>
        </p:nvSpPr>
        <p:spPr>
          <a:xfrm>
            <a:off x="694944" y="2450592"/>
            <a:ext cx="402336" cy="402336"/>
          </a:xfrm>
          <a:prstGeom prst="roundRect">
            <a:avLst>
              <a:gd name="adj" fmla="val 13636"/>
            </a:avLst>
          </a:prstGeom>
          <a:solidFill>
            <a:srgbClr val="2E75D6"/>
          </a:solidFill>
          <a:ln/>
        </p:spPr>
      </p:sp>
      <p:sp>
        <p:nvSpPr>
          <p:cNvPr id="15" name="Text 13"/>
          <p:cNvSpPr/>
          <p:nvPr/>
        </p:nvSpPr>
        <p:spPr>
          <a:xfrm>
            <a:off x="694944" y="245059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6" name="Text 14"/>
          <p:cNvSpPr/>
          <p:nvPr/>
        </p:nvSpPr>
        <p:spPr>
          <a:xfrm>
            <a:off x="1261872" y="2395728"/>
            <a:ext cx="7223760" cy="29260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Linker Region Findings (L390–L391)</a:t>
            </a:r>
            <a:endParaRPr lang="en-US" sz="1400" dirty="0"/>
          </a:p>
        </p:txBody>
      </p:sp>
      <p:sp>
        <p:nvSpPr>
          <p:cNvPr id="17" name="Text 15"/>
          <p:cNvSpPr/>
          <p:nvPr/>
        </p:nvSpPr>
        <p:spPr>
          <a:xfrm>
            <a:off x="1261872" y="2670048"/>
            <a:ext cx="7223760" cy="237744"/>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Energy profiles of NVA, VAL, ILE, and AIB mutations</a:t>
            </a:r>
            <a:endParaRPr lang="en-US" sz="1000" dirty="0"/>
          </a:p>
        </p:txBody>
      </p:sp>
      <p:sp>
        <p:nvSpPr>
          <p:cNvPr id="18" name="Shape 16"/>
          <p:cNvSpPr/>
          <p:nvPr/>
        </p:nvSpPr>
        <p:spPr>
          <a:xfrm>
            <a:off x="548640" y="3012948"/>
            <a:ext cx="8046720" cy="566928"/>
          </a:xfrm>
          <a:prstGeom prst="roundRect">
            <a:avLst>
              <a:gd name="adj" fmla="val 9677"/>
            </a:avLst>
          </a:prstGeom>
          <a:solidFill>
            <a:srgbClr val="FFFFFF"/>
          </a:solidFill>
          <a:ln/>
          <a:effectLst>
            <a:outerShdw sx="100000" sy="100000" kx="0" ky="0" algn="bl" rotWithShape="0" blurRad="50800" dist="12700" dir="5400000">
              <a:srgbClr val="000000">
                <a:alpha val="8000"/>
              </a:srgbClr>
            </a:outerShdw>
          </a:effectLst>
        </p:spPr>
      </p:sp>
      <p:sp>
        <p:nvSpPr>
          <p:cNvPr id="19" name="Shape 17"/>
          <p:cNvSpPr/>
          <p:nvPr/>
        </p:nvSpPr>
        <p:spPr>
          <a:xfrm>
            <a:off x="694944" y="3095244"/>
            <a:ext cx="402336" cy="402336"/>
          </a:xfrm>
          <a:prstGeom prst="roundRect">
            <a:avLst>
              <a:gd name="adj" fmla="val 13636"/>
            </a:avLst>
          </a:prstGeom>
          <a:solidFill>
            <a:srgbClr val="2E75D6"/>
          </a:solidFill>
          <a:ln/>
        </p:spPr>
      </p:sp>
      <p:sp>
        <p:nvSpPr>
          <p:cNvPr id="20" name="Text 18"/>
          <p:cNvSpPr/>
          <p:nvPr/>
        </p:nvSpPr>
        <p:spPr>
          <a:xfrm>
            <a:off x="694944" y="309524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1" name="Text 19"/>
          <p:cNvSpPr/>
          <p:nvPr/>
        </p:nvSpPr>
        <p:spPr>
          <a:xfrm>
            <a:off x="1261872" y="3040380"/>
            <a:ext cx="7223760" cy="29260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SBD Region Findings (A429–A435)</a:t>
            </a:r>
            <a:endParaRPr lang="en-US" sz="1400" dirty="0"/>
          </a:p>
        </p:txBody>
      </p:sp>
      <p:sp>
        <p:nvSpPr>
          <p:cNvPr id="22" name="Text 20"/>
          <p:cNvSpPr/>
          <p:nvPr/>
        </p:nvSpPr>
        <p:spPr>
          <a:xfrm>
            <a:off x="1261872" y="3314700"/>
            <a:ext cx="7223760" cy="237744"/>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Effects of NVA and ILE mutations on the SBD</a:t>
            </a:r>
            <a:endParaRPr lang="en-US" sz="1000" dirty="0"/>
          </a:p>
        </p:txBody>
      </p:sp>
      <p:sp>
        <p:nvSpPr>
          <p:cNvPr id="23" name="Shape 21"/>
          <p:cNvSpPr/>
          <p:nvPr/>
        </p:nvSpPr>
        <p:spPr>
          <a:xfrm>
            <a:off x="548640" y="3657600"/>
            <a:ext cx="8046720" cy="566928"/>
          </a:xfrm>
          <a:prstGeom prst="roundRect">
            <a:avLst>
              <a:gd name="adj" fmla="val 9677"/>
            </a:avLst>
          </a:prstGeom>
          <a:solidFill>
            <a:srgbClr val="FFFFFF"/>
          </a:solidFill>
          <a:ln/>
          <a:effectLst>
            <a:outerShdw sx="100000" sy="100000" kx="0" ky="0" algn="bl" rotWithShape="0" blurRad="50800" dist="12700" dir="5400000">
              <a:srgbClr val="000000">
                <a:alpha val="8000"/>
              </a:srgbClr>
            </a:outerShdw>
          </a:effectLst>
        </p:spPr>
      </p:sp>
      <p:sp>
        <p:nvSpPr>
          <p:cNvPr id="24" name="Shape 22"/>
          <p:cNvSpPr/>
          <p:nvPr/>
        </p:nvSpPr>
        <p:spPr>
          <a:xfrm>
            <a:off x="694944" y="3739896"/>
            <a:ext cx="402336" cy="402336"/>
          </a:xfrm>
          <a:prstGeom prst="roundRect">
            <a:avLst>
              <a:gd name="adj" fmla="val 13636"/>
            </a:avLst>
          </a:prstGeom>
          <a:solidFill>
            <a:srgbClr val="2E75D6"/>
          </a:solidFill>
          <a:ln/>
        </p:spPr>
      </p:sp>
      <p:sp>
        <p:nvSpPr>
          <p:cNvPr id="25" name="Text 23"/>
          <p:cNvSpPr/>
          <p:nvPr/>
        </p:nvSpPr>
        <p:spPr>
          <a:xfrm>
            <a:off x="694944" y="373989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6" name="Text 24"/>
          <p:cNvSpPr/>
          <p:nvPr/>
        </p:nvSpPr>
        <p:spPr>
          <a:xfrm>
            <a:off x="1261872" y="3685032"/>
            <a:ext cx="7223760" cy="29260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Discussion &amp; Astrobiological Interpretation</a:t>
            </a:r>
            <a:endParaRPr lang="en-US" sz="1400" dirty="0"/>
          </a:p>
        </p:txBody>
      </p:sp>
      <p:sp>
        <p:nvSpPr>
          <p:cNvPr id="27" name="Text 25"/>
          <p:cNvSpPr/>
          <p:nvPr/>
        </p:nvSpPr>
        <p:spPr>
          <a:xfrm>
            <a:off x="1261872" y="3959352"/>
            <a:ext cx="7223760" cy="237744"/>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Findings, limitations, and future work</a:t>
            </a:r>
            <a:endParaRPr lang="en-US" sz="1000" dirty="0"/>
          </a:p>
        </p:txBody>
      </p:sp>
      <p:sp>
        <p:nvSpPr>
          <p:cNvPr id="28" name="Shape 26"/>
          <p:cNvSpPr/>
          <p:nvPr/>
        </p:nvSpPr>
        <p:spPr>
          <a:xfrm>
            <a:off x="548640" y="4302252"/>
            <a:ext cx="8046720" cy="566928"/>
          </a:xfrm>
          <a:prstGeom prst="roundRect">
            <a:avLst>
              <a:gd name="adj" fmla="val 9677"/>
            </a:avLst>
          </a:prstGeom>
          <a:solidFill>
            <a:srgbClr val="FFFFFF"/>
          </a:solidFill>
          <a:ln/>
          <a:effectLst>
            <a:outerShdw sx="100000" sy="100000" kx="0" ky="0" algn="bl" rotWithShape="0" blurRad="50800" dist="12700" dir="5400000">
              <a:srgbClr val="000000">
                <a:alpha val="8000"/>
              </a:srgbClr>
            </a:outerShdw>
          </a:effectLst>
        </p:spPr>
      </p:sp>
      <p:sp>
        <p:nvSpPr>
          <p:cNvPr id="29" name="Shape 27"/>
          <p:cNvSpPr/>
          <p:nvPr/>
        </p:nvSpPr>
        <p:spPr>
          <a:xfrm>
            <a:off x="694944" y="4384548"/>
            <a:ext cx="402336" cy="402336"/>
          </a:xfrm>
          <a:prstGeom prst="roundRect">
            <a:avLst>
              <a:gd name="adj" fmla="val 13636"/>
            </a:avLst>
          </a:prstGeom>
          <a:solidFill>
            <a:srgbClr val="2E75D6"/>
          </a:solidFill>
          <a:ln/>
        </p:spPr>
      </p:sp>
      <p:sp>
        <p:nvSpPr>
          <p:cNvPr id="30" name="Text 28"/>
          <p:cNvSpPr/>
          <p:nvPr/>
        </p:nvSpPr>
        <p:spPr>
          <a:xfrm>
            <a:off x="694944" y="43845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31" name="Text 29"/>
          <p:cNvSpPr/>
          <p:nvPr/>
        </p:nvSpPr>
        <p:spPr>
          <a:xfrm>
            <a:off x="1261872" y="4329684"/>
            <a:ext cx="7223760" cy="29260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Conclusion</a:t>
            </a:r>
            <a:endParaRPr lang="en-US" sz="1400" dirty="0"/>
          </a:p>
        </p:txBody>
      </p:sp>
      <p:sp>
        <p:nvSpPr>
          <p:cNvPr id="32" name="Text 30"/>
          <p:cNvSpPr/>
          <p:nvPr/>
        </p:nvSpPr>
        <p:spPr>
          <a:xfrm>
            <a:off x="1261872" y="4604004"/>
            <a:ext cx="7223760" cy="237744"/>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Key takeaways</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A"/>
        </a:solidFill>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indent="0" marL="0">
              <a:buNone/>
            </a:pPr>
            <a:r>
              <a:rPr lang="en-US" sz="2800" b="1" dirty="0">
                <a:solidFill>
                  <a:srgbClr val="1B2A4A"/>
                </a:solidFill>
                <a:latin typeface="Cambria" pitchFamily="34" charset="0"/>
                <a:ea typeface="Cambria" pitchFamily="34" charset="-122"/>
                <a:cs typeface="Cambria" pitchFamily="34" charset="-120"/>
              </a:rPr>
              <a:t>Research Question &amp; Context</a:t>
            </a:r>
            <a:endParaRPr lang="en-US" sz="2800" dirty="0"/>
          </a:p>
        </p:txBody>
      </p:sp>
      <p:sp>
        <p:nvSpPr>
          <p:cNvPr id="3" name="Shape 1"/>
          <p:cNvSpPr/>
          <p:nvPr/>
        </p:nvSpPr>
        <p:spPr>
          <a:xfrm>
            <a:off x="457200" y="896112"/>
            <a:ext cx="8229600" cy="713232"/>
          </a:xfrm>
          <a:prstGeom prst="roundRect">
            <a:avLst>
              <a:gd name="adj" fmla="val 7692"/>
            </a:avLst>
          </a:prstGeom>
          <a:solidFill>
            <a:srgbClr val="1B2A4A"/>
          </a:solidFill>
          <a:ln/>
        </p:spPr>
      </p:sp>
      <p:sp>
        <p:nvSpPr>
          <p:cNvPr id="4" name="Text 2"/>
          <p:cNvSpPr/>
          <p:nvPr/>
        </p:nvSpPr>
        <p:spPr>
          <a:xfrm>
            <a:off x="640080" y="896112"/>
            <a:ext cx="7863840" cy="713232"/>
          </a:xfrm>
          <a:prstGeom prst="rect">
            <a:avLst/>
          </a:prstGeom>
          <a:noFill/>
          <a:ln/>
        </p:spPr>
        <p:txBody>
          <a:bodyPr wrap="square" rtlCol="0" anchor="ctr"/>
          <a:lstStyle/>
          <a:p>
            <a:pPr indent="0" marL="0">
              <a:lnSpc>
                <a:spcPct val="110000"/>
              </a:lnSpc>
              <a:buNone/>
            </a:pPr>
            <a:r>
              <a:rPr lang="en-US" sz="1300" b="1" dirty="0">
                <a:solidFill>
                  <a:srgbClr val="9FB4D9"/>
                </a:solidFill>
                <a:latin typeface="Calibri" pitchFamily="34" charset="0"/>
                <a:ea typeface="Calibri" pitchFamily="34" charset="-122"/>
                <a:cs typeface="Calibri" pitchFamily="34" charset="-120"/>
              </a:rPr>
              <a:t>Research Question:  </a:t>
            </a:r>
            <a:pPr indent="0" marL="0">
              <a:lnSpc>
                <a:spcPct val="110000"/>
              </a:lnSpc>
              <a:buNone/>
            </a:pPr>
            <a:r>
              <a:rPr lang="en-US" sz="1300" dirty="0">
                <a:solidFill>
                  <a:srgbClr val="FFFFFF"/>
                </a:solidFill>
                <a:latin typeface="Calibri" pitchFamily="34" charset="0"/>
                <a:ea typeface="Calibri" pitchFamily="34" charset="-122"/>
                <a:cs typeface="Calibri" pitchFamily="34" charset="-120"/>
              </a:rPr>
              <a:t>How do non-canonical amino acids derived from asteroid Bennu affect the structural stability and allosteric mechanism of the DnaK chaperone?</a:t>
            </a:r>
            <a:endParaRPr lang="en-US" sz="1300" dirty="0"/>
          </a:p>
        </p:txBody>
      </p:sp>
      <p:sp>
        <p:nvSpPr>
          <p:cNvPr id="5" name="Shape 3"/>
          <p:cNvSpPr/>
          <p:nvPr/>
        </p:nvSpPr>
        <p:spPr>
          <a:xfrm>
            <a:off x="457200" y="1755648"/>
            <a:ext cx="2679192" cy="1325880"/>
          </a:xfrm>
          <a:prstGeom prst="roundRect">
            <a:avLst>
              <a:gd name="adj" fmla="val 4138"/>
            </a:avLst>
          </a:prstGeom>
          <a:solidFill>
            <a:srgbClr val="FFFFFF"/>
          </a:solidFill>
          <a:ln/>
          <a:effectLst>
            <a:outerShdw sx="100000" sy="100000" kx="0" ky="0" algn="bl" rotWithShape="0" blurRad="50800" dist="12700" dir="5400000">
              <a:srgbClr val="000000">
                <a:alpha val="8000"/>
              </a:srgbClr>
            </a:outerShdw>
          </a:effectLst>
        </p:spPr>
      </p:sp>
      <p:sp>
        <p:nvSpPr>
          <p:cNvPr id="6" name="Shape 4"/>
          <p:cNvSpPr/>
          <p:nvPr/>
        </p:nvSpPr>
        <p:spPr>
          <a:xfrm>
            <a:off x="621792" y="1892808"/>
            <a:ext cx="201168" cy="201168"/>
          </a:xfrm>
          <a:prstGeom prst="ellipse">
            <a:avLst/>
          </a:prstGeom>
          <a:solidFill>
            <a:srgbClr val="2E75D6"/>
          </a:solidFill>
          <a:ln/>
        </p:spPr>
      </p:sp>
      <p:sp>
        <p:nvSpPr>
          <p:cNvPr id="7" name="Text 5"/>
          <p:cNvSpPr/>
          <p:nvPr/>
        </p:nvSpPr>
        <p:spPr>
          <a:xfrm>
            <a:off x="914400" y="1847088"/>
            <a:ext cx="2103120" cy="274320"/>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Asteroid Bennu</a:t>
            </a:r>
            <a:endParaRPr lang="en-US" sz="1250" dirty="0"/>
          </a:p>
        </p:txBody>
      </p:sp>
      <p:sp>
        <p:nvSpPr>
          <p:cNvPr id="8" name="Text 6"/>
          <p:cNvSpPr/>
          <p:nvPr/>
        </p:nvSpPr>
        <p:spPr>
          <a:xfrm>
            <a:off x="621792" y="2194560"/>
            <a:ext cx="2377440" cy="841248"/>
          </a:xfrm>
          <a:prstGeom prst="rect">
            <a:avLst/>
          </a:prstGeom>
          <a:noFill/>
          <a:ln/>
        </p:spPr>
        <p:txBody>
          <a:bodyPr wrap="square" lIns="0" tIns="0" rIns="0" bIns="0" rtlCol="0" anchor="t"/>
          <a:lstStyle/>
          <a:p>
            <a:pPr indent="0" marL="0">
              <a:lnSpc>
                <a:spcPct val="105000"/>
              </a:lnSpc>
              <a:buNone/>
            </a:pPr>
            <a:r>
              <a:rPr lang="en-US" sz="950" dirty="0">
                <a:solidFill>
                  <a:srgbClr val="5B6472"/>
                </a:solidFill>
                <a:latin typeface="Calibri" pitchFamily="34" charset="0"/>
                <a:ea typeface="Calibri" pitchFamily="34" charset="-122"/>
                <a:cs typeface="Calibri" pitchFamily="34" charset="-120"/>
              </a:rPr>
              <a:t>Non-canonical amino acids such as NVA, NLE, AIB, and ABA were detected in samples from JAXA’s Hayabusa2 mission (2023).</a:t>
            </a:r>
            <a:endParaRPr lang="en-US" sz="950" dirty="0"/>
          </a:p>
        </p:txBody>
      </p:sp>
      <p:sp>
        <p:nvSpPr>
          <p:cNvPr id="9" name="Shape 7"/>
          <p:cNvSpPr/>
          <p:nvPr/>
        </p:nvSpPr>
        <p:spPr>
          <a:xfrm>
            <a:off x="3264408" y="1755648"/>
            <a:ext cx="2679192" cy="1325880"/>
          </a:xfrm>
          <a:prstGeom prst="roundRect">
            <a:avLst>
              <a:gd name="adj" fmla="val 4138"/>
            </a:avLst>
          </a:prstGeom>
          <a:solidFill>
            <a:srgbClr val="FFFFFF"/>
          </a:solidFill>
          <a:ln/>
          <a:effectLst>
            <a:outerShdw sx="100000" sy="100000" kx="0" ky="0" algn="bl" rotWithShape="0" blurRad="50800" dist="12700" dir="5400000">
              <a:srgbClr val="000000">
                <a:alpha val="8000"/>
              </a:srgbClr>
            </a:outerShdw>
          </a:effectLst>
        </p:spPr>
      </p:sp>
      <p:sp>
        <p:nvSpPr>
          <p:cNvPr id="10" name="Shape 8"/>
          <p:cNvSpPr/>
          <p:nvPr/>
        </p:nvSpPr>
        <p:spPr>
          <a:xfrm>
            <a:off x="3429000" y="1892808"/>
            <a:ext cx="201168" cy="201168"/>
          </a:xfrm>
          <a:prstGeom prst="ellipse">
            <a:avLst/>
          </a:prstGeom>
          <a:solidFill>
            <a:srgbClr val="1C7293"/>
          </a:solidFill>
          <a:ln/>
        </p:spPr>
      </p:sp>
      <p:sp>
        <p:nvSpPr>
          <p:cNvPr id="11" name="Text 9"/>
          <p:cNvSpPr/>
          <p:nvPr/>
        </p:nvSpPr>
        <p:spPr>
          <a:xfrm>
            <a:off x="3721608" y="1847088"/>
            <a:ext cx="2103120" cy="274320"/>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DnaK (HSP70)</a:t>
            </a:r>
            <a:endParaRPr lang="en-US" sz="1250" dirty="0"/>
          </a:p>
        </p:txBody>
      </p:sp>
      <p:sp>
        <p:nvSpPr>
          <p:cNvPr id="12" name="Text 10"/>
          <p:cNvSpPr/>
          <p:nvPr/>
        </p:nvSpPr>
        <p:spPr>
          <a:xfrm>
            <a:off x="3429000" y="2194560"/>
            <a:ext cx="2377440" cy="841248"/>
          </a:xfrm>
          <a:prstGeom prst="rect">
            <a:avLst/>
          </a:prstGeom>
          <a:noFill/>
          <a:ln/>
        </p:spPr>
        <p:txBody>
          <a:bodyPr wrap="square" lIns="0" tIns="0" rIns="0" bIns="0" rtlCol="0" anchor="t"/>
          <a:lstStyle/>
          <a:p>
            <a:pPr indent="0" marL="0">
              <a:lnSpc>
                <a:spcPct val="105000"/>
              </a:lnSpc>
              <a:buNone/>
            </a:pPr>
            <a:r>
              <a:rPr lang="en-US" sz="950" dirty="0">
                <a:solidFill>
                  <a:srgbClr val="5B6472"/>
                </a:solidFill>
                <a:latin typeface="Calibri" pitchFamily="34" charset="0"/>
                <a:ea typeface="Calibri" pitchFamily="34" charset="-122"/>
                <a:cs typeface="Calibri" pitchFamily="34" charset="-120"/>
              </a:rPr>
              <a:t>An E. coli molecular chaperone; plays a critical role in proteostasis via the NBD-SBD allosteric mechanism.</a:t>
            </a:r>
            <a:endParaRPr lang="en-US" sz="950" dirty="0"/>
          </a:p>
        </p:txBody>
      </p:sp>
      <p:sp>
        <p:nvSpPr>
          <p:cNvPr id="13" name="Shape 11"/>
          <p:cNvSpPr/>
          <p:nvPr/>
        </p:nvSpPr>
        <p:spPr>
          <a:xfrm>
            <a:off x="6071616" y="1755648"/>
            <a:ext cx="2679192" cy="1325880"/>
          </a:xfrm>
          <a:prstGeom prst="roundRect">
            <a:avLst>
              <a:gd name="adj" fmla="val 4138"/>
            </a:avLst>
          </a:prstGeom>
          <a:solidFill>
            <a:srgbClr val="FFFFFF"/>
          </a:solidFill>
          <a:ln/>
          <a:effectLst>
            <a:outerShdw sx="100000" sy="100000" kx="0" ky="0" algn="bl" rotWithShape="0" blurRad="50800" dist="12700" dir="5400000">
              <a:srgbClr val="000000">
                <a:alpha val="8000"/>
              </a:srgbClr>
            </a:outerShdw>
          </a:effectLst>
        </p:spPr>
      </p:sp>
      <p:sp>
        <p:nvSpPr>
          <p:cNvPr id="14" name="Shape 12"/>
          <p:cNvSpPr/>
          <p:nvPr/>
        </p:nvSpPr>
        <p:spPr>
          <a:xfrm>
            <a:off x="6236208" y="1892808"/>
            <a:ext cx="201168" cy="201168"/>
          </a:xfrm>
          <a:prstGeom prst="ellipse">
            <a:avLst/>
          </a:prstGeom>
          <a:solidFill>
            <a:srgbClr val="1E8449"/>
          </a:solidFill>
          <a:ln/>
        </p:spPr>
      </p:sp>
      <p:sp>
        <p:nvSpPr>
          <p:cNvPr id="15" name="Text 13"/>
          <p:cNvSpPr/>
          <p:nvPr/>
        </p:nvSpPr>
        <p:spPr>
          <a:xfrm>
            <a:off x="6528816" y="1847088"/>
            <a:ext cx="2103120" cy="274320"/>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In Silico Approach</a:t>
            </a:r>
            <a:endParaRPr lang="en-US" sz="1250" dirty="0"/>
          </a:p>
        </p:txBody>
      </p:sp>
      <p:sp>
        <p:nvSpPr>
          <p:cNvPr id="16" name="Text 14"/>
          <p:cNvSpPr/>
          <p:nvPr/>
        </p:nvSpPr>
        <p:spPr>
          <a:xfrm>
            <a:off x="6236208" y="2194560"/>
            <a:ext cx="2377440" cy="841248"/>
          </a:xfrm>
          <a:prstGeom prst="rect">
            <a:avLst/>
          </a:prstGeom>
          <a:noFill/>
          <a:ln/>
        </p:spPr>
        <p:txBody>
          <a:bodyPr wrap="square" lIns="0" tIns="0" rIns="0" bIns="0" rtlCol="0" anchor="t"/>
          <a:lstStyle/>
          <a:p>
            <a:pPr indent="0" marL="0">
              <a:lnSpc>
                <a:spcPct val="105000"/>
              </a:lnSpc>
              <a:buNone/>
            </a:pPr>
            <a:r>
              <a:rPr lang="en-US" sz="950" dirty="0">
                <a:solidFill>
                  <a:srgbClr val="5B6472"/>
                </a:solidFill>
                <a:latin typeface="Calibri" pitchFamily="34" charset="0"/>
                <a:ea typeface="Calibri" pitchFamily="34" charset="-122"/>
                <a:cs typeface="Calibri" pitchFamily="34" charset="-120"/>
              </a:rPr>
              <a:t>PyRosetta (ΔΔG calculation) + Boltz-2 (structure prediction) + PyMOL (visualization).</a:t>
            </a:r>
            <a:endParaRPr lang="en-US" sz="950" dirty="0"/>
          </a:p>
        </p:txBody>
      </p:sp>
      <p:sp>
        <p:nvSpPr>
          <p:cNvPr id="17" name="Shape 15"/>
          <p:cNvSpPr/>
          <p:nvPr/>
        </p:nvSpPr>
        <p:spPr>
          <a:xfrm>
            <a:off x="457200" y="3200400"/>
            <a:ext cx="4069080" cy="786384"/>
          </a:xfrm>
          <a:prstGeom prst="roundRect">
            <a:avLst>
              <a:gd name="adj" fmla="val 6977"/>
            </a:avLst>
          </a:prstGeom>
          <a:solidFill>
            <a:srgbClr val="FFFFFF"/>
          </a:solidFill>
          <a:ln/>
          <a:effectLst>
            <a:outerShdw sx="100000" sy="100000" kx="0" ky="0" algn="bl" rotWithShape="0" blurRad="50800" dist="12700" dir="5400000">
              <a:srgbClr val="000000">
                <a:alpha val="8000"/>
              </a:srgbClr>
            </a:outerShdw>
          </a:effectLst>
        </p:spPr>
      </p:sp>
      <p:sp>
        <p:nvSpPr>
          <p:cNvPr id="18" name="Shape 16"/>
          <p:cNvSpPr/>
          <p:nvPr/>
        </p:nvSpPr>
        <p:spPr>
          <a:xfrm>
            <a:off x="594360" y="3364992"/>
            <a:ext cx="457200" cy="457200"/>
          </a:xfrm>
          <a:prstGeom prst="ellipse">
            <a:avLst/>
          </a:prstGeom>
          <a:solidFill>
            <a:srgbClr val="2E75D6"/>
          </a:solidFill>
          <a:ln/>
        </p:spPr>
      </p:sp>
      <p:sp>
        <p:nvSpPr>
          <p:cNvPr id="19" name="Text 17"/>
          <p:cNvSpPr/>
          <p:nvPr/>
        </p:nvSpPr>
        <p:spPr>
          <a:xfrm>
            <a:off x="594360" y="33649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H1</a:t>
            </a:r>
            <a:endParaRPr lang="en-US" sz="1300" dirty="0"/>
          </a:p>
        </p:txBody>
      </p:sp>
      <p:sp>
        <p:nvSpPr>
          <p:cNvPr id="20" name="Text 18"/>
          <p:cNvSpPr/>
          <p:nvPr/>
        </p:nvSpPr>
        <p:spPr>
          <a:xfrm>
            <a:off x="1170432" y="3273552"/>
            <a:ext cx="3246120" cy="640080"/>
          </a:xfrm>
          <a:prstGeom prst="rect">
            <a:avLst/>
          </a:prstGeom>
          <a:noFill/>
          <a:ln/>
        </p:spPr>
        <p:txBody>
          <a:bodyPr wrap="square" lIns="0" tIns="0" rIns="0" bIns="0" rtlCol="0" anchor="ctr"/>
          <a:lstStyle/>
          <a:p>
            <a:pPr indent="0" marL="0">
              <a:lnSpc>
                <a:spcPct val="105000"/>
              </a:lnSpc>
              <a:buNone/>
            </a:pPr>
            <a:r>
              <a:rPr lang="en-US" sz="1000" dirty="0">
                <a:solidFill>
                  <a:srgbClr val="1A1A2E"/>
                </a:solidFill>
                <a:latin typeface="Calibri" pitchFamily="34" charset="0"/>
                <a:ea typeface="Calibri" pitchFamily="34" charset="-122"/>
                <a:cs typeface="Calibri" pitchFamily="34" charset="-120"/>
              </a:rPr>
              <a:t>NVA and NLE may be tolerated in the linker region due to structural similarity to leucine.</a:t>
            </a:r>
            <a:endParaRPr lang="en-US" sz="1000" dirty="0"/>
          </a:p>
        </p:txBody>
      </p:sp>
      <p:sp>
        <p:nvSpPr>
          <p:cNvPr id="21" name="Shape 19"/>
          <p:cNvSpPr/>
          <p:nvPr/>
        </p:nvSpPr>
        <p:spPr>
          <a:xfrm>
            <a:off x="4617720" y="3200400"/>
            <a:ext cx="4069080" cy="786384"/>
          </a:xfrm>
          <a:prstGeom prst="roundRect">
            <a:avLst>
              <a:gd name="adj" fmla="val 6977"/>
            </a:avLst>
          </a:prstGeom>
          <a:solidFill>
            <a:srgbClr val="FFFFFF"/>
          </a:solidFill>
          <a:ln/>
          <a:effectLst>
            <a:outerShdw sx="100000" sy="100000" kx="0" ky="0" algn="bl" rotWithShape="0" blurRad="50800" dist="12700" dir="5400000">
              <a:srgbClr val="000000">
                <a:alpha val="8000"/>
              </a:srgbClr>
            </a:outerShdw>
          </a:effectLst>
        </p:spPr>
      </p:sp>
      <p:sp>
        <p:nvSpPr>
          <p:cNvPr id="22" name="Shape 20"/>
          <p:cNvSpPr/>
          <p:nvPr/>
        </p:nvSpPr>
        <p:spPr>
          <a:xfrm>
            <a:off x="4754880" y="3364992"/>
            <a:ext cx="457200" cy="457200"/>
          </a:xfrm>
          <a:prstGeom prst="ellipse">
            <a:avLst/>
          </a:prstGeom>
          <a:solidFill>
            <a:srgbClr val="C0392B"/>
          </a:solidFill>
          <a:ln/>
        </p:spPr>
      </p:sp>
      <p:sp>
        <p:nvSpPr>
          <p:cNvPr id="23" name="Text 21"/>
          <p:cNvSpPr/>
          <p:nvPr/>
        </p:nvSpPr>
        <p:spPr>
          <a:xfrm>
            <a:off x="4754880" y="33649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H2</a:t>
            </a:r>
            <a:endParaRPr lang="en-US" sz="1300" dirty="0"/>
          </a:p>
        </p:txBody>
      </p:sp>
      <p:sp>
        <p:nvSpPr>
          <p:cNvPr id="24" name="Text 22"/>
          <p:cNvSpPr/>
          <p:nvPr/>
        </p:nvSpPr>
        <p:spPr>
          <a:xfrm>
            <a:off x="5330952" y="3273552"/>
            <a:ext cx="3246120" cy="640080"/>
          </a:xfrm>
          <a:prstGeom prst="rect">
            <a:avLst/>
          </a:prstGeom>
          <a:noFill/>
          <a:ln/>
        </p:spPr>
        <p:txBody>
          <a:bodyPr wrap="square" lIns="0" tIns="0" rIns="0" bIns="0" rtlCol="0" anchor="ctr"/>
          <a:lstStyle/>
          <a:p>
            <a:pPr indent="0" marL="0">
              <a:lnSpc>
                <a:spcPct val="105000"/>
              </a:lnSpc>
              <a:buNone/>
            </a:pPr>
            <a:r>
              <a:rPr lang="en-US" sz="1000" dirty="0">
                <a:solidFill>
                  <a:srgbClr val="1A1A2E"/>
                </a:solidFill>
                <a:latin typeface="Calibri" pitchFamily="34" charset="0"/>
                <a:ea typeface="Calibri" pitchFamily="34" charset="-122"/>
                <a:cs typeface="Calibri" pitchFamily="34" charset="-120"/>
              </a:rPr>
              <a:t>β-branched ILE and α,α-dialkyl AIB conflict with linker geometry, causing destabilization.</a:t>
            </a:r>
            <a:endParaRPr lang="en-US" sz="1000" dirty="0"/>
          </a:p>
        </p:txBody>
      </p:sp>
      <p:sp>
        <p:nvSpPr>
          <p:cNvPr id="25" name="Shape 23"/>
          <p:cNvSpPr/>
          <p:nvPr/>
        </p:nvSpPr>
        <p:spPr>
          <a:xfrm>
            <a:off x="457200" y="4078224"/>
            <a:ext cx="4069080" cy="786384"/>
          </a:xfrm>
          <a:prstGeom prst="roundRect">
            <a:avLst>
              <a:gd name="adj" fmla="val 6977"/>
            </a:avLst>
          </a:prstGeom>
          <a:solidFill>
            <a:srgbClr val="FFFFFF"/>
          </a:solidFill>
          <a:ln/>
          <a:effectLst>
            <a:outerShdw sx="100000" sy="100000" kx="0" ky="0" algn="bl" rotWithShape="0" blurRad="50800" dist="12700" dir="5400000">
              <a:srgbClr val="000000">
                <a:alpha val="8000"/>
              </a:srgbClr>
            </a:outerShdw>
          </a:effectLst>
        </p:spPr>
      </p:sp>
      <p:sp>
        <p:nvSpPr>
          <p:cNvPr id="26" name="Shape 24"/>
          <p:cNvSpPr/>
          <p:nvPr/>
        </p:nvSpPr>
        <p:spPr>
          <a:xfrm>
            <a:off x="594360" y="4242816"/>
            <a:ext cx="457200" cy="457200"/>
          </a:xfrm>
          <a:prstGeom prst="ellipse">
            <a:avLst/>
          </a:prstGeom>
          <a:solidFill>
            <a:srgbClr val="C9881A"/>
          </a:solidFill>
          <a:ln/>
        </p:spPr>
      </p:sp>
      <p:sp>
        <p:nvSpPr>
          <p:cNvPr id="27" name="Text 25"/>
          <p:cNvSpPr/>
          <p:nvPr/>
        </p:nvSpPr>
        <p:spPr>
          <a:xfrm>
            <a:off x="594360" y="424281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H3</a:t>
            </a:r>
            <a:endParaRPr lang="en-US" sz="1300" dirty="0"/>
          </a:p>
        </p:txBody>
      </p:sp>
      <p:sp>
        <p:nvSpPr>
          <p:cNvPr id="28" name="Text 26"/>
          <p:cNvSpPr/>
          <p:nvPr/>
        </p:nvSpPr>
        <p:spPr>
          <a:xfrm>
            <a:off x="1170432" y="4151376"/>
            <a:ext cx="3246120" cy="640080"/>
          </a:xfrm>
          <a:prstGeom prst="rect">
            <a:avLst/>
          </a:prstGeom>
          <a:noFill/>
          <a:ln/>
        </p:spPr>
        <p:txBody>
          <a:bodyPr wrap="square" lIns="0" tIns="0" rIns="0" bIns="0" rtlCol="0" anchor="ctr"/>
          <a:lstStyle/>
          <a:p>
            <a:pPr indent="0" marL="0">
              <a:lnSpc>
                <a:spcPct val="105000"/>
              </a:lnSpc>
              <a:buNone/>
            </a:pPr>
            <a:r>
              <a:rPr lang="en-US" sz="1000" dirty="0">
                <a:solidFill>
                  <a:srgbClr val="1A1A2E"/>
                </a:solidFill>
                <a:latin typeface="Calibri" pitchFamily="34" charset="0"/>
                <a:ea typeface="Calibri" pitchFamily="34" charset="-122"/>
                <a:cs typeface="Calibri" pitchFamily="34" charset="-120"/>
              </a:rPr>
              <a:t>SBD alanine positions are highly sensitive to increases in side-chain volume.</a:t>
            </a:r>
            <a:endParaRPr lang="en-US" sz="1000" dirty="0"/>
          </a:p>
        </p:txBody>
      </p:sp>
      <p:sp>
        <p:nvSpPr>
          <p:cNvPr id="29" name="Shape 27"/>
          <p:cNvSpPr/>
          <p:nvPr/>
        </p:nvSpPr>
        <p:spPr>
          <a:xfrm>
            <a:off x="4617720" y="4078224"/>
            <a:ext cx="4069080" cy="786384"/>
          </a:xfrm>
          <a:prstGeom prst="roundRect">
            <a:avLst>
              <a:gd name="adj" fmla="val 6977"/>
            </a:avLst>
          </a:prstGeom>
          <a:solidFill>
            <a:srgbClr val="FFFFFF"/>
          </a:solidFill>
          <a:ln/>
          <a:effectLst>
            <a:outerShdw sx="100000" sy="100000" kx="0" ky="0" algn="bl" rotWithShape="0" blurRad="50800" dist="12700" dir="5400000">
              <a:srgbClr val="000000">
                <a:alpha val="8000"/>
              </a:srgbClr>
            </a:outerShdw>
          </a:effectLst>
        </p:spPr>
      </p:sp>
      <p:sp>
        <p:nvSpPr>
          <p:cNvPr id="30" name="Shape 28"/>
          <p:cNvSpPr/>
          <p:nvPr/>
        </p:nvSpPr>
        <p:spPr>
          <a:xfrm>
            <a:off x="4754880" y="4242816"/>
            <a:ext cx="457200" cy="457200"/>
          </a:xfrm>
          <a:prstGeom prst="ellipse">
            <a:avLst/>
          </a:prstGeom>
          <a:solidFill>
            <a:srgbClr val="5B6472"/>
          </a:solidFill>
          <a:ln/>
        </p:spPr>
      </p:sp>
      <p:sp>
        <p:nvSpPr>
          <p:cNvPr id="31" name="Text 29"/>
          <p:cNvSpPr/>
          <p:nvPr/>
        </p:nvSpPr>
        <p:spPr>
          <a:xfrm>
            <a:off x="4754880" y="424281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H4</a:t>
            </a:r>
            <a:endParaRPr lang="en-US" sz="1300" dirty="0"/>
          </a:p>
        </p:txBody>
      </p:sp>
      <p:sp>
        <p:nvSpPr>
          <p:cNvPr id="32" name="Text 30"/>
          <p:cNvSpPr/>
          <p:nvPr/>
        </p:nvSpPr>
        <p:spPr>
          <a:xfrm>
            <a:off x="5330952" y="4151376"/>
            <a:ext cx="3246120" cy="640080"/>
          </a:xfrm>
          <a:prstGeom prst="rect">
            <a:avLst/>
          </a:prstGeom>
          <a:noFill/>
          <a:ln/>
        </p:spPr>
        <p:txBody>
          <a:bodyPr wrap="square" lIns="0" tIns="0" rIns="0" bIns="0" rtlCol="0" anchor="ctr"/>
          <a:lstStyle/>
          <a:p>
            <a:pPr indent="0" marL="0">
              <a:lnSpc>
                <a:spcPct val="105000"/>
              </a:lnSpc>
              <a:buNone/>
            </a:pPr>
            <a:r>
              <a:rPr lang="en-US" sz="1000" dirty="0">
                <a:solidFill>
                  <a:srgbClr val="1A1A2E"/>
                </a:solidFill>
                <a:latin typeface="Calibri" pitchFamily="34" charset="0"/>
                <a:ea typeface="Calibri" pitchFamily="34" charset="-122"/>
                <a:cs typeface="Calibri" pitchFamily="34" charset="-120"/>
              </a:rPr>
              <a:t>β-Alanine (B3A) cannot be calculated due to backbone incompatibility.</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E33"/>
        </a:solidFill>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Methodology</a:t>
            </a:r>
            <a:endParaRPr lang="en-US" sz="2800" dirty="0"/>
          </a:p>
        </p:txBody>
      </p:sp>
      <p:sp>
        <p:nvSpPr>
          <p:cNvPr id="3" name="Shape 1"/>
          <p:cNvSpPr/>
          <p:nvPr/>
        </p:nvSpPr>
        <p:spPr>
          <a:xfrm>
            <a:off x="1106424" y="868680"/>
            <a:ext cx="640080" cy="640080"/>
          </a:xfrm>
          <a:prstGeom prst="ellipse">
            <a:avLst/>
          </a:prstGeom>
          <a:solidFill>
            <a:srgbClr val="2E75D6"/>
          </a:solidFill>
          <a:ln/>
        </p:spPr>
      </p:sp>
      <p:sp>
        <p:nvSpPr>
          <p:cNvPr id="4" name="Text 2"/>
          <p:cNvSpPr/>
          <p:nvPr/>
        </p:nvSpPr>
        <p:spPr>
          <a:xfrm>
            <a:off x="1106424" y="8686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5" name="Text 3"/>
          <p:cNvSpPr/>
          <p:nvPr/>
        </p:nvSpPr>
        <p:spPr>
          <a:xfrm>
            <a:off x="2414016" y="868680"/>
            <a:ext cx="128016" cy="640080"/>
          </a:xfrm>
          <a:prstGeom prst="rect">
            <a:avLst/>
          </a:prstGeom>
          <a:noFill/>
          <a:ln/>
        </p:spPr>
        <p:txBody>
          <a:bodyPr wrap="square" lIns="0" tIns="0" rIns="0" bIns="0" rtlCol="0" anchor="ctr"/>
          <a:lstStyle/>
          <a:p>
            <a:pPr algn="ctr" indent="0" marL="0">
              <a:buNone/>
            </a:pPr>
            <a:r>
              <a:rPr lang="en-US" sz="1800" dirty="0">
                <a:solidFill>
                  <a:srgbClr val="8FA3C8"/>
                </a:solidFill>
              </a:rPr>
              <a:t>→</a:t>
            </a:r>
            <a:endParaRPr lang="en-US" sz="1800" dirty="0"/>
          </a:p>
        </p:txBody>
      </p:sp>
      <p:sp>
        <p:nvSpPr>
          <p:cNvPr id="6" name="Shape 4"/>
          <p:cNvSpPr/>
          <p:nvPr/>
        </p:nvSpPr>
        <p:spPr>
          <a:xfrm>
            <a:off x="457200" y="1691640"/>
            <a:ext cx="1938528" cy="3108960"/>
          </a:xfrm>
          <a:prstGeom prst="roundRect">
            <a:avLst>
              <a:gd name="adj" fmla="val 2830"/>
            </a:avLst>
          </a:prstGeom>
          <a:solidFill>
            <a:srgbClr val="243453"/>
          </a:solidFill>
          <a:ln/>
        </p:spPr>
      </p:sp>
      <p:sp>
        <p:nvSpPr>
          <p:cNvPr id="7" name="Text 5"/>
          <p:cNvSpPr/>
          <p:nvPr/>
        </p:nvSpPr>
        <p:spPr>
          <a:xfrm>
            <a:off x="566928" y="1810512"/>
            <a:ext cx="1719072" cy="45720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Protein Structure</a:t>
            </a:r>
            <a:endParaRPr lang="en-US" sz="1250" dirty="0"/>
          </a:p>
        </p:txBody>
      </p:sp>
      <p:sp>
        <p:nvSpPr>
          <p:cNvPr id="8" name="Text 6"/>
          <p:cNvSpPr/>
          <p:nvPr/>
        </p:nvSpPr>
        <p:spPr>
          <a:xfrm>
            <a:off x="594360" y="2331720"/>
            <a:ext cx="1664208" cy="2377440"/>
          </a:xfrm>
          <a:prstGeom prst="rect">
            <a:avLst/>
          </a:prstGeom>
          <a:noFill/>
          <a:ln/>
        </p:spPr>
        <p:txBody>
          <a:bodyPr wrap="square" lIns="0" tIns="0" rIns="0" bIns="0" rtlCol="0" anchor="t"/>
          <a:lstStyle/>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E. coli DnaK</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PDB: 4B9Q (2.0 Å)</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Chain A: 587 aa</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Target: L390–L391 (Linker)</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A429–A435 (SBD β-sandwich)</a:t>
            </a:r>
            <a:endParaRPr lang="en-US" sz="1000" dirty="0"/>
          </a:p>
        </p:txBody>
      </p:sp>
      <p:sp>
        <p:nvSpPr>
          <p:cNvPr id="9" name="Shape 7"/>
          <p:cNvSpPr/>
          <p:nvPr/>
        </p:nvSpPr>
        <p:spPr>
          <a:xfrm>
            <a:off x="3209544" y="868680"/>
            <a:ext cx="640080" cy="640080"/>
          </a:xfrm>
          <a:prstGeom prst="ellipse">
            <a:avLst/>
          </a:prstGeom>
          <a:solidFill>
            <a:srgbClr val="1E8449"/>
          </a:solidFill>
          <a:ln/>
        </p:spPr>
      </p:sp>
      <p:sp>
        <p:nvSpPr>
          <p:cNvPr id="10" name="Text 8"/>
          <p:cNvSpPr/>
          <p:nvPr/>
        </p:nvSpPr>
        <p:spPr>
          <a:xfrm>
            <a:off x="3209544" y="8686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1" name="Text 9"/>
          <p:cNvSpPr/>
          <p:nvPr/>
        </p:nvSpPr>
        <p:spPr>
          <a:xfrm>
            <a:off x="4517136" y="868680"/>
            <a:ext cx="128016" cy="640080"/>
          </a:xfrm>
          <a:prstGeom prst="rect">
            <a:avLst/>
          </a:prstGeom>
          <a:noFill/>
          <a:ln/>
        </p:spPr>
        <p:txBody>
          <a:bodyPr wrap="square" lIns="0" tIns="0" rIns="0" bIns="0" rtlCol="0" anchor="ctr"/>
          <a:lstStyle/>
          <a:p>
            <a:pPr algn="ctr" indent="0" marL="0">
              <a:buNone/>
            </a:pPr>
            <a:r>
              <a:rPr lang="en-US" sz="1800" dirty="0">
                <a:solidFill>
                  <a:srgbClr val="8FA3C8"/>
                </a:solidFill>
              </a:rPr>
              <a:t>→</a:t>
            </a:r>
            <a:endParaRPr lang="en-US" sz="1800" dirty="0"/>
          </a:p>
        </p:txBody>
      </p:sp>
      <p:sp>
        <p:nvSpPr>
          <p:cNvPr id="12" name="Shape 10"/>
          <p:cNvSpPr/>
          <p:nvPr/>
        </p:nvSpPr>
        <p:spPr>
          <a:xfrm>
            <a:off x="2560320" y="1691640"/>
            <a:ext cx="1938528" cy="3108960"/>
          </a:xfrm>
          <a:prstGeom prst="roundRect">
            <a:avLst>
              <a:gd name="adj" fmla="val 2830"/>
            </a:avLst>
          </a:prstGeom>
          <a:solidFill>
            <a:srgbClr val="243453"/>
          </a:solidFill>
          <a:ln/>
        </p:spPr>
      </p:sp>
      <p:sp>
        <p:nvSpPr>
          <p:cNvPr id="13" name="Text 11"/>
          <p:cNvSpPr/>
          <p:nvPr/>
        </p:nvSpPr>
        <p:spPr>
          <a:xfrm>
            <a:off x="2670048" y="1810512"/>
            <a:ext cx="1719072" cy="45720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PyRosetta ΔΔG</a:t>
            </a:r>
            <a:endParaRPr lang="en-US" sz="1250" dirty="0"/>
          </a:p>
        </p:txBody>
      </p:sp>
      <p:sp>
        <p:nvSpPr>
          <p:cNvPr id="14" name="Text 12"/>
          <p:cNvSpPr/>
          <p:nvPr/>
        </p:nvSpPr>
        <p:spPr>
          <a:xfrm>
            <a:off x="2697480" y="2331720"/>
            <a:ext cx="1664208" cy="2377440"/>
          </a:xfrm>
          <a:prstGeom prst="rect">
            <a:avLst/>
          </a:prstGeom>
          <a:noFill/>
          <a:ln/>
        </p:spPr>
        <p:txBody>
          <a:bodyPr wrap="square" lIns="0" tIns="0" rIns="0" bIns="0" rtlCol="0" anchor="t"/>
          <a:lstStyle/>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ref2015 energy function</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ΔΔG = E_mutant − E_WT</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Rigid-backbone approach</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NVL CCD code for NVA</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11 mutant structures</a:t>
            </a:r>
            <a:endParaRPr lang="en-US" sz="1000" dirty="0"/>
          </a:p>
        </p:txBody>
      </p:sp>
      <p:sp>
        <p:nvSpPr>
          <p:cNvPr id="15" name="Shape 13"/>
          <p:cNvSpPr/>
          <p:nvPr/>
        </p:nvSpPr>
        <p:spPr>
          <a:xfrm>
            <a:off x="5312664" y="868680"/>
            <a:ext cx="640080" cy="640080"/>
          </a:xfrm>
          <a:prstGeom prst="ellipse">
            <a:avLst/>
          </a:prstGeom>
          <a:solidFill>
            <a:srgbClr val="D4690A"/>
          </a:solidFill>
          <a:ln/>
        </p:spPr>
      </p:sp>
      <p:sp>
        <p:nvSpPr>
          <p:cNvPr id="16" name="Text 14"/>
          <p:cNvSpPr/>
          <p:nvPr/>
        </p:nvSpPr>
        <p:spPr>
          <a:xfrm>
            <a:off x="5312664" y="8686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5"/>
          <p:cNvSpPr/>
          <p:nvPr/>
        </p:nvSpPr>
        <p:spPr>
          <a:xfrm>
            <a:off x="6620256" y="868680"/>
            <a:ext cx="128016" cy="640080"/>
          </a:xfrm>
          <a:prstGeom prst="rect">
            <a:avLst/>
          </a:prstGeom>
          <a:noFill/>
          <a:ln/>
        </p:spPr>
        <p:txBody>
          <a:bodyPr wrap="square" lIns="0" tIns="0" rIns="0" bIns="0" rtlCol="0" anchor="ctr"/>
          <a:lstStyle/>
          <a:p>
            <a:pPr algn="ctr" indent="0" marL="0">
              <a:buNone/>
            </a:pPr>
            <a:r>
              <a:rPr lang="en-US" sz="1800" dirty="0">
                <a:solidFill>
                  <a:srgbClr val="8FA3C8"/>
                </a:solidFill>
              </a:rPr>
              <a:t>→</a:t>
            </a:r>
            <a:endParaRPr lang="en-US" sz="1800" dirty="0"/>
          </a:p>
        </p:txBody>
      </p:sp>
      <p:sp>
        <p:nvSpPr>
          <p:cNvPr id="18" name="Shape 16"/>
          <p:cNvSpPr/>
          <p:nvPr/>
        </p:nvSpPr>
        <p:spPr>
          <a:xfrm>
            <a:off x="4663440" y="1691640"/>
            <a:ext cx="1938528" cy="3108960"/>
          </a:xfrm>
          <a:prstGeom prst="roundRect">
            <a:avLst>
              <a:gd name="adj" fmla="val 2830"/>
            </a:avLst>
          </a:prstGeom>
          <a:solidFill>
            <a:srgbClr val="243453"/>
          </a:solidFill>
          <a:ln/>
        </p:spPr>
      </p:sp>
      <p:sp>
        <p:nvSpPr>
          <p:cNvPr id="19" name="Text 17"/>
          <p:cNvSpPr/>
          <p:nvPr/>
        </p:nvSpPr>
        <p:spPr>
          <a:xfrm>
            <a:off x="4773168" y="1810512"/>
            <a:ext cx="1719072" cy="45720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Boltz-2 Structure Prediction</a:t>
            </a:r>
            <a:endParaRPr lang="en-US" sz="1250" dirty="0"/>
          </a:p>
        </p:txBody>
      </p:sp>
      <p:sp>
        <p:nvSpPr>
          <p:cNvPr id="20" name="Text 18"/>
          <p:cNvSpPr/>
          <p:nvPr/>
        </p:nvSpPr>
        <p:spPr>
          <a:xfrm>
            <a:off x="4800600" y="2331720"/>
            <a:ext cx="1664208" cy="2377440"/>
          </a:xfrm>
          <a:prstGeom prst="rect">
            <a:avLst/>
          </a:prstGeom>
          <a:noFill/>
          <a:ln/>
        </p:spPr>
        <p:txBody>
          <a:bodyPr wrap="square" lIns="0" tIns="0" rIns="0" bIns="0" rtlCol="0" anchor="t"/>
          <a:lstStyle/>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tamarind.bio platform</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Mutant–WT superposition</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CCD code + position input</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11 structure predictions completed</a:t>
            </a:r>
            <a:endParaRPr lang="en-US" sz="1000" dirty="0"/>
          </a:p>
        </p:txBody>
      </p:sp>
      <p:sp>
        <p:nvSpPr>
          <p:cNvPr id="21" name="Shape 19"/>
          <p:cNvSpPr/>
          <p:nvPr/>
        </p:nvSpPr>
        <p:spPr>
          <a:xfrm>
            <a:off x="7415784" y="868680"/>
            <a:ext cx="640080" cy="640080"/>
          </a:xfrm>
          <a:prstGeom prst="ellipse">
            <a:avLst/>
          </a:prstGeom>
          <a:solidFill>
            <a:srgbClr val="1C7293"/>
          </a:solidFill>
          <a:ln/>
        </p:spPr>
      </p:sp>
      <p:sp>
        <p:nvSpPr>
          <p:cNvPr id="22" name="Text 20"/>
          <p:cNvSpPr/>
          <p:nvPr/>
        </p:nvSpPr>
        <p:spPr>
          <a:xfrm>
            <a:off x="7415784" y="8686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3" name="Shape 21"/>
          <p:cNvSpPr/>
          <p:nvPr/>
        </p:nvSpPr>
        <p:spPr>
          <a:xfrm>
            <a:off x="6766560" y="1691640"/>
            <a:ext cx="1938528" cy="3108960"/>
          </a:xfrm>
          <a:prstGeom prst="roundRect">
            <a:avLst>
              <a:gd name="adj" fmla="val 2830"/>
            </a:avLst>
          </a:prstGeom>
          <a:solidFill>
            <a:srgbClr val="243453"/>
          </a:solidFill>
          <a:ln/>
        </p:spPr>
      </p:sp>
      <p:sp>
        <p:nvSpPr>
          <p:cNvPr id="24" name="Text 22"/>
          <p:cNvSpPr/>
          <p:nvPr/>
        </p:nvSpPr>
        <p:spPr>
          <a:xfrm>
            <a:off x="6876288" y="1810512"/>
            <a:ext cx="1719072" cy="45720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PyMOL Visualization</a:t>
            </a:r>
            <a:endParaRPr lang="en-US" sz="1250" dirty="0"/>
          </a:p>
        </p:txBody>
      </p:sp>
      <p:sp>
        <p:nvSpPr>
          <p:cNvPr id="25" name="Text 23"/>
          <p:cNvSpPr/>
          <p:nvPr/>
        </p:nvSpPr>
        <p:spPr>
          <a:xfrm>
            <a:off x="6903720" y="2331720"/>
            <a:ext cx="1664208" cy="2377440"/>
          </a:xfrm>
          <a:prstGeom prst="rect">
            <a:avLst/>
          </a:prstGeom>
          <a:noFill/>
          <a:ln/>
        </p:spPr>
        <p:txBody>
          <a:bodyPr wrap="square" lIns="0" tIns="0" rIns="0" bIns="0" rtlCol="0" anchor="t"/>
          <a:lstStyle/>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3 angles/mutant (close, mid, wide)</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Blue=WT, Green=NVA</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Orange=ILE, Cyan=VAL</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Magenta=AIB</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Linker Region (L390–L391) — ΔΔG Results</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8229600" cy="914400"/>
        </p:xfrm>
        <a:graphic>
          <a:graphicData uri="http://schemas.openxmlformats.org/drawingml/2006/table">
            <a:tbl>
              <a:tblPr/>
              <a:tblGrid>
                <a:gridCol w="1280160"/>
                <a:gridCol w="1645920"/>
                <a:gridCol w="1371600"/>
                <a:gridCol w="3931920"/>
              </a:tblGrid>
              <a:tr h="22402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Amino Acid</a:t>
                      </a:r>
                      <a:endParaRPr lang="en-US" sz="100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1B2A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Position</a:t>
                      </a:r>
                      <a:endParaRPr lang="en-US" sz="100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1B2A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ΔΔG (REU)</a:t>
                      </a:r>
                      <a:endParaRPr lang="en-US" sz="100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Effect</a:t>
                      </a:r>
                      <a:endParaRPr lang="en-US" sz="100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1B2A4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NVA</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L390</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−3.951</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Stabilizing</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NVA</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L391</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−3.751</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Stabilizing</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NVA</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L390+L391</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−6.090</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Stabilizing</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VAL</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L390</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−4.905</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Stabilizing</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VAL</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3CD"/>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L391</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3CD"/>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+2.418</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3CD"/>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Mildly destabilizing</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3CD"/>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VAL</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L390+L391</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−2.403</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Stabilizing</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ILE</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L390</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+65.519</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Severe destabilization</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ILE</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L391</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+7.318</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Destabilizing</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ILE</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L390+L391</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+72.800</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Severe destabilization</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AIB</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L390</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+5.700</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Destabilizing</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AIB</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L391</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+18.573</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Destabilizing</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AIB</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L390+L391</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+25.364</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Destabilizing</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NLE / ABA / B3A</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ERROR</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Rotamer/backbone incompatibility</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Norvaline (NVA) — Linker Region (L390–L391)</a:t>
            </a:r>
            <a:endParaRPr lang="en-US" sz="2600" dirty="0"/>
          </a:p>
        </p:txBody>
      </p:sp>
      <p:sp>
        <p:nvSpPr>
          <p:cNvPr id="3" name="Shape 1"/>
          <p:cNvSpPr/>
          <p:nvPr/>
        </p:nvSpPr>
        <p:spPr>
          <a:xfrm>
            <a:off x="457200" y="1005840"/>
            <a:ext cx="2697480" cy="548640"/>
          </a:xfrm>
          <a:prstGeom prst="roundRect">
            <a:avLst>
              <a:gd name="adj" fmla="val 10000"/>
            </a:avLst>
          </a:prstGeom>
          <a:solidFill>
            <a:srgbClr val="2E75D6"/>
          </a:solidFill>
          <a:ln/>
          <a:effectLst>
            <a:outerShdw sx="100000" sy="100000" kx="0" ky="0" algn="bl" rotWithShape="0" blurRad="38100" dist="12700" dir="5400000">
              <a:srgbClr val="000000">
                <a:alpha val="12000"/>
              </a:srgbClr>
            </a:outerShdw>
          </a:effectLst>
        </p:spPr>
      </p:sp>
      <p:sp>
        <p:nvSpPr>
          <p:cNvPr id="4" name="Text 2"/>
          <p:cNvSpPr/>
          <p:nvPr/>
        </p:nvSpPr>
        <p:spPr>
          <a:xfrm>
            <a:off x="457200"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L390NVA</a:t>
            </a:r>
            <a:endParaRPr lang="en-US" sz="1100" dirty="0"/>
          </a:p>
        </p:txBody>
      </p:sp>
      <p:sp>
        <p:nvSpPr>
          <p:cNvPr id="5" name="Text 3"/>
          <p:cNvSpPr/>
          <p:nvPr/>
        </p:nvSpPr>
        <p:spPr>
          <a:xfrm>
            <a:off x="457200"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−3.951 REU</a:t>
            </a:r>
            <a:endParaRPr lang="en-US" sz="1400" dirty="0"/>
          </a:p>
        </p:txBody>
      </p:sp>
      <p:sp>
        <p:nvSpPr>
          <p:cNvPr id="6" name="Shape 4"/>
          <p:cNvSpPr/>
          <p:nvPr/>
        </p:nvSpPr>
        <p:spPr>
          <a:xfrm>
            <a:off x="3227832" y="1005840"/>
            <a:ext cx="2697480" cy="548640"/>
          </a:xfrm>
          <a:prstGeom prst="roundRect">
            <a:avLst>
              <a:gd name="adj" fmla="val 10000"/>
            </a:avLst>
          </a:prstGeom>
          <a:solidFill>
            <a:srgbClr val="2E75D6"/>
          </a:solidFill>
          <a:ln/>
          <a:effectLst>
            <a:outerShdw sx="100000" sy="100000" kx="0" ky="0" algn="bl" rotWithShape="0" blurRad="38100" dist="12700" dir="5400000">
              <a:srgbClr val="000000">
                <a:alpha val="12000"/>
              </a:srgbClr>
            </a:outerShdw>
          </a:effectLst>
        </p:spPr>
      </p:sp>
      <p:sp>
        <p:nvSpPr>
          <p:cNvPr id="7" name="Text 5"/>
          <p:cNvSpPr/>
          <p:nvPr/>
        </p:nvSpPr>
        <p:spPr>
          <a:xfrm>
            <a:off x="3227832"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L391NVA</a:t>
            </a:r>
            <a:endParaRPr lang="en-US" sz="1100" dirty="0"/>
          </a:p>
        </p:txBody>
      </p:sp>
      <p:sp>
        <p:nvSpPr>
          <p:cNvPr id="8" name="Text 6"/>
          <p:cNvSpPr/>
          <p:nvPr/>
        </p:nvSpPr>
        <p:spPr>
          <a:xfrm>
            <a:off x="3227832"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−3.751 REU</a:t>
            </a:r>
            <a:endParaRPr lang="en-US" sz="1400" dirty="0"/>
          </a:p>
        </p:txBody>
      </p:sp>
      <p:sp>
        <p:nvSpPr>
          <p:cNvPr id="9" name="Shape 7"/>
          <p:cNvSpPr/>
          <p:nvPr/>
        </p:nvSpPr>
        <p:spPr>
          <a:xfrm>
            <a:off x="5989320" y="1005840"/>
            <a:ext cx="2697480" cy="548640"/>
          </a:xfrm>
          <a:prstGeom prst="roundRect">
            <a:avLst>
              <a:gd name="adj" fmla="val 10000"/>
            </a:avLst>
          </a:prstGeom>
          <a:solidFill>
            <a:srgbClr val="1A4A8C"/>
          </a:solidFill>
          <a:ln/>
          <a:effectLst>
            <a:outerShdw sx="100000" sy="100000" kx="0" ky="0" algn="bl" rotWithShape="0" blurRad="38100" dist="12700" dir="5400000">
              <a:srgbClr val="000000">
                <a:alpha val="12000"/>
              </a:srgbClr>
            </a:outerShdw>
          </a:effectLst>
        </p:spPr>
      </p:sp>
      <p:sp>
        <p:nvSpPr>
          <p:cNvPr id="10" name="Text 8"/>
          <p:cNvSpPr/>
          <p:nvPr/>
        </p:nvSpPr>
        <p:spPr>
          <a:xfrm>
            <a:off x="5989320"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L390+L391NVA</a:t>
            </a:r>
            <a:endParaRPr lang="en-US" sz="1100" dirty="0"/>
          </a:p>
        </p:txBody>
      </p:sp>
      <p:sp>
        <p:nvSpPr>
          <p:cNvPr id="11" name="Text 9"/>
          <p:cNvSpPr/>
          <p:nvPr/>
        </p:nvSpPr>
        <p:spPr>
          <a:xfrm>
            <a:off x="5989320"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−6.090 REU</a:t>
            </a:r>
            <a:endParaRPr lang="en-US" sz="1400" dirty="0"/>
          </a:p>
        </p:txBody>
      </p:sp>
      <p:pic>
        <p:nvPicPr>
          <p:cNvPr id="12" name="Image 0" descr="preencoded.png">    </p:cNvPr>
          <p:cNvPicPr>
            <a:picLocks noChangeAspect="1"/>
          </p:cNvPicPr>
          <p:nvPr/>
        </p:nvPicPr>
        <p:blipFill>
          <a:blip r:embed="rId1"/>
          <a:srcRect l="0" r="0" t="0" b="0"/>
          <a:stretch/>
        </p:blipFill>
        <p:spPr>
          <a:xfrm>
            <a:off x="457200" y="1755648"/>
            <a:ext cx="1993392" cy="1495044"/>
          </a:xfrm>
          <a:prstGeom prst="rect">
            <a:avLst/>
          </a:prstGeom>
        </p:spPr>
      </p:pic>
      <p:sp>
        <p:nvSpPr>
          <p:cNvPr id="13" name="Shape 10"/>
          <p:cNvSpPr/>
          <p:nvPr/>
        </p:nvSpPr>
        <p:spPr>
          <a:xfrm>
            <a:off x="457200" y="1755648"/>
            <a:ext cx="1993392" cy="1495044"/>
          </a:xfrm>
          <a:prstGeom prst="rect">
            <a:avLst/>
          </a:prstGeom>
          <a:ln w="9525">
            <a:solidFill>
              <a:srgbClr val="D0D5DD"/>
            </a:solidFill>
            <a:prstDash val="solid"/>
          </a:ln>
        </p:spPr>
      </p:sp>
      <p:sp>
        <p:nvSpPr>
          <p:cNvPr id="14" name="Text 11"/>
          <p:cNvSpPr/>
          <p:nvPr/>
        </p:nvSpPr>
        <p:spPr>
          <a:xfrm>
            <a:off x="457200" y="3250692"/>
            <a:ext cx="19933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Figure 1: L390NVA close-up view</a:t>
            </a:r>
            <a:endParaRPr lang="en-US" sz="800" dirty="0"/>
          </a:p>
        </p:txBody>
      </p:sp>
      <p:pic>
        <p:nvPicPr>
          <p:cNvPr id="15" name="Image 1" descr="preencoded.png">    </p:cNvPr>
          <p:cNvPicPr>
            <a:picLocks noChangeAspect="1"/>
          </p:cNvPicPr>
          <p:nvPr/>
        </p:nvPicPr>
        <p:blipFill>
          <a:blip r:embed="rId2"/>
          <a:srcRect l="0" r="0" t="0" b="0"/>
          <a:stretch/>
        </p:blipFill>
        <p:spPr>
          <a:xfrm>
            <a:off x="2514600" y="1755648"/>
            <a:ext cx="1993392" cy="1495044"/>
          </a:xfrm>
          <a:prstGeom prst="rect">
            <a:avLst/>
          </a:prstGeom>
        </p:spPr>
      </p:pic>
      <p:sp>
        <p:nvSpPr>
          <p:cNvPr id="16" name="Shape 12"/>
          <p:cNvSpPr/>
          <p:nvPr/>
        </p:nvSpPr>
        <p:spPr>
          <a:xfrm>
            <a:off x="2514600" y="1755648"/>
            <a:ext cx="1993392" cy="1495044"/>
          </a:xfrm>
          <a:prstGeom prst="rect">
            <a:avLst/>
          </a:prstGeom>
          <a:ln w="9525">
            <a:solidFill>
              <a:srgbClr val="D0D5DD"/>
            </a:solidFill>
            <a:prstDash val="solid"/>
          </a:ln>
        </p:spPr>
      </p:sp>
      <p:sp>
        <p:nvSpPr>
          <p:cNvPr id="17" name="Text 13"/>
          <p:cNvSpPr/>
          <p:nvPr/>
        </p:nvSpPr>
        <p:spPr>
          <a:xfrm>
            <a:off x="2514600" y="3250692"/>
            <a:ext cx="19933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Figure 4: L391NVA close-up view</a:t>
            </a:r>
            <a:endParaRPr lang="en-US" sz="800" dirty="0"/>
          </a:p>
        </p:txBody>
      </p:sp>
      <p:pic>
        <p:nvPicPr>
          <p:cNvPr id="18" name="Image 2" descr="preencoded.png">    </p:cNvPr>
          <p:cNvPicPr>
            <a:picLocks noChangeAspect="1"/>
          </p:cNvPicPr>
          <p:nvPr/>
        </p:nvPicPr>
        <p:blipFill>
          <a:blip r:embed="rId3"/>
          <a:srcRect l="0" r="0" t="0" b="0"/>
          <a:stretch/>
        </p:blipFill>
        <p:spPr>
          <a:xfrm>
            <a:off x="4572000" y="1755648"/>
            <a:ext cx="1993392" cy="1495044"/>
          </a:xfrm>
          <a:prstGeom prst="rect">
            <a:avLst/>
          </a:prstGeom>
        </p:spPr>
      </p:pic>
      <p:sp>
        <p:nvSpPr>
          <p:cNvPr id="19" name="Shape 14"/>
          <p:cNvSpPr/>
          <p:nvPr/>
        </p:nvSpPr>
        <p:spPr>
          <a:xfrm>
            <a:off x="4572000" y="1755648"/>
            <a:ext cx="1993392" cy="1495044"/>
          </a:xfrm>
          <a:prstGeom prst="rect">
            <a:avLst/>
          </a:prstGeom>
          <a:ln w="9525">
            <a:solidFill>
              <a:srgbClr val="D0D5DD"/>
            </a:solidFill>
            <a:prstDash val="solid"/>
          </a:ln>
        </p:spPr>
      </p:sp>
      <p:sp>
        <p:nvSpPr>
          <p:cNvPr id="20" name="Text 15"/>
          <p:cNvSpPr/>
          <p:nvPr/>
        </p:nvSpPr>
        <p:spPr>
          <a:xfrm>
            <a:off x="4572000" y="3250692"/>
            <a:ext cx="19933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Figure 7: L390+L391NVA close-up</a:t>
            </a:r>
            <a:endParaRPr lang="en-US" sz="800" dirty="0"/>
          </a:p>
        </p:txBody>
      </p:sp>
      <p:pic>
        <p:nvPicPr>
          <p:cNvPr id="21" name="Image 3" descr="preencoded.png">    </p:cNvPr>
          <p:cNvPicPr>
            <a:picLocks noChangeAspect="1"/>
          </p:cNvPicPr>
          <p:nvPr/>
        </p:nvPicPr>
        <p:blipFill>
          <a:blip r:embed="rId4"/>
          <a:srcRect l="0" r="0" t="0" b="0"/>
          <a:stretch/>
        </p:blipFill>
        <p:spPr>
          <a:xfrm>
            <a:off x="6629400" y="1755648"/>
            <a:ext cx="1993392" cy="1495044"/>
          </a:xfrm>
          <a:prstGeom prst="rect">
            <a:avLst/>
          </a:prstGeom>
        </p:spPr>
      </p:pic>
      <p:sp>
        <p:nvSpPr>
          <p:cNvPr id="22" name="Shape 16"/>
          <p:cNvSpPr/>
          <p:nvPr/>
        </p:nvSpPr>
        <p:spPr>
          <a:xfrm>
            <a:off x="6629400" y="1755648"/>
            <a:ext cx="1993392" cy="1495044"/>
          </a:xfrm>
          <a:prstGeom prst="rect">
            <a:avLst/>
          </a:prstGeom>
          <a:ln w="9525">
            <a:solidFill>
              <a:srgbClr val="D0D5DD"/>
            </a:solidFill>
            <a:prstDash val="solid"/>
          </a:ln>
        </p:spPr>
      </p:sp>
      <p:sp>
        <p:nvSpPr>
          <p:cNvPr id="23" name="Text 17"/>
          <p:cNvSpPr/>
          <p:nvPr/>
        </p:nvSpPr>
        <p:spPr>
          <a:xfrm>
            <a:off x="6629400" y="3250692"/>
            <a:ext cx="19933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Figure 9: L390+L391NVA wide view</a:t>
            </a:r>
            <a:endParaRPr lang="en-US" sz="800" dirty="0"/>
          </a:p>
        </p:txBody>
      </p:sp>
      <p:sp>
        <p:nvSpPr>
          <p:cNvPr id="24" name="Shape 18"/>
          <p:cNvSpPr/>
          <p:nvPr/>
        </p:nvSpPr>
        <p:spPr>
          <a:xfrm>
            <a:off x="457200" y="3657600"/>
            <a:ext cx="8229600" cy="1325880"/>
          </a:xfrm>
          <a:prstGeom prst="roundRect">
            <a:avLst>
              <a:gd name="adj" fmla="val 4138"/>
            </a:avLst>
          </a:prstGeom>
          <a:solidFill>
            <a:srgbClr val="FFFFFF"/>
          </a:solidFill>
          <a:ln w="12700">
            <a:solidFill>
              <a:srgbClr val="E2E5EB"/>
            </a:solidFill>
            <a:prstDash val="solid"/>
          </a:ln>
          <a:effectLst>
            <a:outerShdw sx="100000" sy="100000" kx="0" ky="0" algn="bl" rotWithShape="0" blurRad="50800" dist="12700" dir="5400000">
              <a:srgbClr val="000000">
                <a:alpha val="8000"/>
              </a:srgbClr>
            </a:outerShdw>
          </a:effectLst>
        </p:spPr>
      </p:sp>
      <p:sp>
        <p:nvSpPr>
          <p:cNvPr id="25" name="Text 19"/>
          <p:cNvSpPr/>
          <p:nvPr/>
        </p:nvSpPr>
        <p:spPr>
          <a:xfrm>
            <a:off x="621792" y="3712464"/>
            <a:ext cx="7900416" cy="1216152"/>
          </a:xfrm>
          <a:prstGeom prst="rect">
            <a:avLst/>
          </a:prstGeom>
          <a:noFill/>
          <a:ln/>
        </p:spPr>
        <p:txBody>
          <a:bodyPr wrap="square" rtlCol="0" anchor="ctr"/>
          <a:lstStyle/>
          <a:p>
            <a:pPr indent="0" marL="0">
              <a:lnSpc>
                <a:spcPct val="105000"/>
              </a:lnSpc>
              <a:buNone/>
            </a:pPr>
            <a:r>
              <a:rPr lang="en-US" sz="1050" b="1" dirty="0">
                <a:solidFill>
                  <a:srgbClr val="2E75D6"/>
                </a:solidFill>
                <a:latin typeface="Calibri" pitchFamily="34" charset="0"/>
                <a:ea typeface="Calibri" pitchFamily="34" charset="-122"/>
                <a:cs typeface="Calibri" pitchFamily="34" charset="-120"/>
              </a:rPr>
              <a:t>Key Finding:  </a:t>
            </a:r>
            <a:pPr indent="0" marL="0">
              <a:lnSpc>
                <a:spcPct val="105000"/>
              </a:lnSpc>
              <a:buNone/>
            </a:pPr>
            <a:r>
              <a:rPr lang="en-US" sz="1050" dirty="0">
                <a:solidFill>
                  <a:srgbClr val="1A1A2E"/>
                </a:solidFill>
                <a:latin typeface="Calibri" pitchFamily="34" charset="0"/>
                <a:ea typeface="Calibri" pitchFamily="34" charset="-122"/>
                <a:cs typeface="Calibri" pitchFamily="34" charset="-120"/>
              </a:rPr>
              <a:t>NVA produced marked stabilization at both leucine positions in the linker region. Its straight-chain structure achieves more optimal packing within the linker’s hydrophobic pocket compared to leucine’s branched structure. The near-additive value of the double mutation (−6.090 REU) suggests the two positions contribute independently. Boltz-2 backbone analyses confirm that overall structural integrity is preserved.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Valine (VAL) — Linker Region (L390–L391)</a:t>
            </a:r>
            <a:endParaRPr lang="en-US" sz="2600" dirty="0"/>
          </a:p>
        </p:txBody>
      </p:sp>
      <p:sp>
        <p:nvSpPr>
          <p:cNvPr id="3" name="Shape 1"/>
          <p:cNvSpPr/>
          <p:nvPr/>
        </p:nvSpPr>
        <p:spPr>
          <a:xfrm>
            <a:off x="457200" y="1005840"/>
            <a:ext cx="2697480" cy="548640"/>
          </a:xfrm>
          <a:prstGeom prst="roundRect">
            <a:avLst>
              <a:gd name="adj" fmla="val 10000"/>
            </a:avLst>
          </a:prstGeom>
          <a:solidFill>
            <a:srgbClr val="2E75D6"/>
          </a:solidFill>
          <a:ln/>
          <a:effectLst>
            <a:outerShdw sx="100000" sy="100000" kx="0" ky="0" algn="bl" rotWithShape="0" blurRad="38100" dist="12700" dir="5400000">
              <a:srgbClr val="000000">
                <a:alpha val="12000"/>
              </a:srgbClr>
            </a:outerShdw>
          </a:effectLst>
        </p:spPr>
      </p:sp>
      <p:sp>
        <p:nvSpPr>
          <p:cNvPr id="4" name="Text 2"/>
          <p:cNvSpPr/>
          <p:nvPr/>
        </p:nvSpPr>
        <p:spPr>
          <a:xfrm>
            <a:off x="457200"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L390VAL</a:t>
            </a:r>
            <a:endParaRPr lang="en-US" sz="1100" dirty="0"/>
          </a:p>
        </p:txBody>
      </p:sp>
      <p:sp>
        <p:nvSpPr>
          <p:cNvPr id="5" name="Text 3"/>
          <p:cNvSpPr/>
          <p:nvPr/>
        </p:nvSpPr>
        <p:spPr>
          <a:xfrm>
            <a:off x="457200"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−4.905 REU</a:t>
            </a:r>
            <a:endParaRPr lang="en-US" sz="1400" dirty="0"/>
          </a:p>
        </p:txBody>
      </p:sp>
      <p:sp>
        <p:nvSpPr>
          <p:cNvPr id="6" name="Shape 4"/>
          <p:cNvSpPr/>
          <p:nvPr/>
        </p:nvSpPr>
        <p:spPr>
          <a:xfrm>
            <a:off x="3227832" y="1005840"/>
            <a:ext cx="2697480" cy="548640"/>
          </a:xfrm>
          <a:prstGeom prst="roundRect">
            <a:avLst>
              <a:gd name="adj" fmla="val 10000"/>
            </a:avLst>
          </a:prstGeom>
          <a:solidFill>
            <a:srgbClr val="C9881A"/>
          </a:solidFill>
          <a:ln/>
          <a:effectLst>
            <a:outerShdw sx="100000" sy="100000" kx="0" ky="0" algn="bl" rotWithShape="0" blurRad="38100" dist="12700" dir="5400000">
              <a:srgbClr val="000000">
                <a:alpha val="12000"/>
              </a:srgbClr>
            </a:outerShdw>
          </a:effectLst>
        </p:spPr>
      </p:sp>
      <p:sp>
        <p:nvSpPr>
          <p:cNvPr id="7" name="Text 5"/>
          <p:cNvSpPr/>
          <p:nvPr/>
        </p:nvSpPr>
        <p:spPr>
          <a:xfrm>
            <a:off x="3227832"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L391VAL</a:t>
            </a:r>
            <a:endParaRPr lang="en-US" sz="1100" dirty="0"/>
          </a:p>
        </p:txBody>
      </p:sp>
      <p:sp>
        <p:nvSpPr>
          <p:cNvPr id="8" name="Text 6"/>
          <p:cNvSpPr/>
          <p:nvPr/>
        </p:nvSpPr>
        <p:spPr>
          <a:xfrm>
            <a:off x="3227832"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+2.418 REU</a:t>
            </a:r>
            <a:endParaRPr lang="en-US" sz="1400" dirty="0"/>
          </a:p>
        </p:txBody>
      </p:sp>
      <p:sp>
        <p:nvSpPr>
          <p:cNvPr id="9" name="Shape 7"/>
          <p:cNvSpPr/>
          <p:nvPr/>
        </p:nvSpPr>
        <p:spPr>
          <a:xfrm>
            <a:off x="5989320" y="1005840"/>
            <a:ext cx="2697480" cy="548640"/>
          </a:xfrm>
          <a:prstGeom prst="roundRect">
            <a:avLst>
              <a:gd name="adj" fmla="val 10000"/>
            </a:avLst>
          </a:prstGeom>
          <a:solidFill>
            <a:srgbClr val="2E75D6"/>
          </a:solidFill>
          <a:ln/>
          <a:effectLst>
            <a:outerShdw sx="100000" sy="100000" kx="0" ky="0" algn="bl" rotWithShape="0" blurRad="38100" dist="12700" dir="5400000">
              <a:srgbClr val="000000">
                <a:alpha val="12000"/>
              </a:srgbClr>
            </a:outerShdw>
          </a:effectLst>
        </p:spPr>
      </p:sp>
      <p:sp>
        <p:nvSpPr>
          <p:cNvPr id="10" name="Text 8"/>
          <p:cNvSpPr/>
          <p:nvPr/>
        </p:nvSpPr>
        <p:spPr>
          <a:xfrm>
            <a:off x="5989320"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L390+L391VAL</a:t>
            </a:r>
            <a:endParaRPr lang="en-US" sz="1100" dirty="0"/>
          </a:p>
        </p:txBody>
      </p:sp>
      <p:sp>
        <p:nvSpPr>
          <p:cNvPr id="11" name="Text 9"/>
          <p:cNvSpPr/>
          <p:nvPr/>
        </p:nvSpPr>
        <p:spPr>
          <a:xfrm>
            <a:off x="5989320"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−2.403 REU</a:t>
            </a:r>
            <a:endParaRPr lang="en-US" sz="1400" dirty="0"/>
          </a:p>
        </p:txBody>
      </p:sp>
      <p:pic>
        <p:nvPicPr>
          <p:cNvPr id="12" name="Image 0" descr="preencoded.png">    </p:cNvPr>
          <p:cNvPicPr>
            <a:picLocks noChangeAspect="1"/>
          </p:cNvPicPr>
          <p:nvPr/>
        </p:nvPicPr>
        <p:blipFill>
          <a:blip r:embed="rId1"/>
          <a:srcRect l="0" r="0" t="0" b="0"/>
          <a:stretch/>
        </p:blipFill>
        <p:spPr>
          <a:xfrm>
            <a:off x="457200" y="1755648"/>
            <a:ext cx="2679192" cy="2011680"/>
          </a:xfrm>
          <a:prstGeom prst="rect">
            <a:avLst/>
          </a:prstGeom>
        </p:spPr>
      </p:pic>
      <p:sp>
        <p:nvSpPr>
          <p:cNvPr id="13" name="Shape 10"/>
          <p:cNvSpPr/>
          <p:nvPr/>
        </p:nvSpPr>
        <p:spPr>
          <a:xfrm>
            <a:off x="457200" y="1755648"/>
            <a:ext cx="2679192" cy="2011680"/>
          </a:xfrm>
          <a:prstGeom prst="rect">
            <a:avLst/>
          </a:prstGeom>
          <a:ln w="9525">
            <a:solidFill>
              <a:srgbClr val="D0D5DD"/>
            </a:solidFill>
            <a:prstDash val="solid"/>
          </a:ln>
        </p:spPr>
      </p:sp>
      <p:sp>
        <p:nvSpPr>
          <p:cNvPr id="14" name="Text 11"/>
          <p:cNvSpPr/>
          <p:nvPr/>
        </p:nvSpPr>
        <p:spPr>
          <a:xfrm>
            <a:off x="457200"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Figure 10: L390+L391VAL close-up view</a:t>
            </a:r>
            <a:endParaRPr lang="en-US" sz="800" dirty="0"/>
          </a:p>
        </p:txBody>
      </p:sp>
      <p:pic>
        <p:nvPicPr>
          <p:cNvPr id="15" name="Image 1" descr="preencoded.png">    </p:cNvPr>
          <p:cNvPicPr>
            <a:picLocks noChangeAspect="1"/>
          </p:cNvPicPr>
          <p:nvPr/>
        </p:nvPicPr>
        <p:blipFill>
          <a:blip r:embed="rId2"/>
          <a:srcRect l="0" r="0" t="0" b="0"/>
          <a:stretch/>
        </p:blipFill>
        <p:spPr>
          <a:xfrm>
            <a:off x="3227832" y="1755648"/>
            <a:ext cx="2679192" cy="2011680"/>
          </a:xfrm>
          <a:prstGeom prst="rect">
            <a:avLst/>
          </a:prstGeom>
        </p:spPr>
      </p:pic>
      <p:sp>
        <p:nvSpPr>
          <p:cNvPr id="16" name="Shape 12"/>
          <p:cNvSpPr/>
          <p:nvPr/>
        </p:nvSpPr>
        <p:spPr>
          <a:xfrm>
            <a:off x="3227832" y="1755648"/>
            <a:ext cx="2679192" cy="2011680"/>
          </a:xfrm>
          <a:prstGeom prst="rect">
            <a:avLst/>
          </a:prstGeom>
          <a:ln w="9525">
            <a:solidFill>
              <a:srgbClr val="D0D5DD"/>
            </a:solidFill>
            <a:prstDash val="solid"/>
          </a:ln>
        </p:spPr>
      </p:sp>
      <p:sp>
        <p:nvSpPr>
          <p:cNvPr id="17" name="Text 13"/>
          <p:cNvSpPr/>
          <p:nvPr/>
        </p:nvSpPr>
        <p:spPr>
          <a:xfrm>
            <a:off x="3227832"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Figure 11: L390+L391VAL mid view</a:t>
            </a:r>
            <a:endParaRPr lang="en-US" sz="800" dirty="0"/>
          </a:p>
        </p:txBody>
      </p:sp>
      <p:pic>
        <p:nvPicPr>
          <p:cNvPr id="18" name="Image 2" descr="preencoded.png">    </p:cNvPr>
          <p:cNvPicPr>
            <a:picLocks noChangeAspect="1"/>
          </p:cNvPicPr>
          <p:nvPr/>
        </p:nvPicPr>
        <p:blipFill>
          <a:blip r:embed="rId3"/>
          <a:srcRect l="0" r="0" t="0" b="0"/>
          <a:stretch/>
        </p:blipFill>
        <p:spPr>
          <a:xfrm>
            <a:off x="5998464" y="1755648"/>
            <a:ext cx="2679192" cy="2011680"/>
          </a:xfrm>
          <a:prstGeom prst="rect">
            <a:avLst/>
          </a:prstGeom>
        </p:spPr>
      </p:pic>
      <p:sp>
        <p:nvSpPr>
          <p:cNvPr id="19" name="Shape 14"/>
          <p:cNvSpPr/>
          <p:nvPr/>
        </p:nvSpPr>
        <p:spPr>
          <a:xfrm>
            <a:off x="5998464" y="1755648"/>
            <a:ext cx="2679192" cy="2011680"/>
          </a:xfrm>
          <a:prstGeom prst="rect">
            <a:avLst/>
          </a:prstGeom>
          <a:ln w="9525">
            <a:solidFill>
              <a:srgbClr val="D0D5DD"/>
            </a:solidFill>
            <a:prstDash val="solid"/>
          </a:ln>
        </p:spPr>
      </p:sp>
      <p:sp>
        <p:nvSpPr>
          <p:cNvPr id="20" name="Text 15"/>
          <p:cNvSpPr/>
          <p:nvPr/>
        </p:nvSpPr>
        <p:spPr>
          <a:xfrm>
            <a:off x="5998464"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Figure 12: L390+L391VAL wide view</a:t>
            </a:r>
            <a:endParaRPr lang="en-US" sz="800" dirty="0"/>
          </a:p>
        </p:txBody>
      </p:sp>
      <p:sp>
        <p:nvSpPr>
          <p:cNvPr id="21" name="Shape 16"/>
          <p:cNvSpPr/>
          <p:nvPr/>
        </p:nvSpPr>
        <p:spPr>
          <a:xfrm>
            <a:off x="457200" y="4160520"/>
            <a:ext cx="8229600" cy="822960"/>
          </a:xfrm>
          <a:prstGeom prst="roundRect">
            <a:avLst>
              <a:gd name="adj" fmla="val 6667"/>
            </a:avLst>
          </a:prstGeom>
          <a:solidFill>
            <a:srgbClr val="FFFFFF"/>
          </a:solidFill>
          <a:ln w="12700">
            <a:solidFill>
              <a:srgbClr val="E2E5EB"/>
            </a:solidFill>
            <a:prstDash val="solid"/>
          </a:ln>
          <a:effectLst>
            <a:outerShdw sx="100000" sy="100000" kx="0" ky="0" algn="bl" rotWithShape="0" blurRad="50800" dist="12700" dir="5400000">
              <a:srgbClr val="000000">
                <a:alpha val="8000"/>
              </a:srgbClr>
            </a:outerShdw>
          </a:effectLst>
        </p:spPr>
      </p:sp>
      <p:sp>
        <p:nvSpPr>
          <p:cNvPr id="22" name="Text 17"/>
          <p:cNvSpPr/>
          <p:nvPr/>
        </p:nvSpPr>
        <p:spPr>
          <a:xfrm>
            <a:off x="621792" y="4215384"/>
            <a:ext cx="7900416" cy="713232"/>
          </a:xfrm>
          <a:prstGeom prst="rect">
            <a:avLst/>
          </a:prstGeom>
          <a:noFill/>
          <a:ln/>
        </p:spPr>
        <p:txBody>
          <a:bodyPr wrap="square" rtlCol="0" anchor="ctr"/>
          <a:lstStyle/>
          <a:p>
            <a:pPr indent="0" marL="0">
              <a:lnSpc>
                <a:spcPct val="105000"/>
              </a:lnSpc>
              <a:buNone/>
            </a:pPr>
            <a:r>
              <a:rPr lang="en-US" sz="1050" b="1" dirty="0">
                <a:solidFill>
                  <a:srgbClr val="2E75D6"/>
                </a:solidFill>
                <a:latin typeface="Calibri" pitchFamily="34" charset="0"/>
                <a:ea typeface="Calibri" pitchFamily="34" charset="-122"/>
                <a:cs typeface="Calibri" pitchFamily="34" charset="-120"/>
              </a:rPr>
              <a:t>Position-Dependent Effect:  </a:t>
            </a:r>
            <a:pPr indent="0" marL="0">
              <a:lnSpc>
                <a:spcPct val="105000"/>
              </a:lnSpc>
              <a:buNone/>
            </a:pPr>
            <a:r>
              <a:rPr lang="en-US" sz="1050" dirty="0">
                <a:solidFill>
                  <a:srgbClr val="1A1A2E"/>
                </a:solidFill>
                <a:latin typeface="Calibri" pitchFamily="34" charset="0"/>
                <a:ea typeface="Calibri" pitchFamily="34" charset="-122"/>
                <a:cs typeface="Calibri" pitchFamily="34" charset="-120"/>
              </a:rPr>
              <a:t>VAL provides strong stabilization at L390 (−4.905 REU) while causing mild destabilization at L391 (+2.418 REU). In the double mutant, the L390 contribution dominates, yielding net stabilization (−2.403 REU).</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5B2A75"/>
        </a:solidFill>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Isoleucine (ILE) — Linker Region (L390–L391)</a:t>
            </a:r>
            <a:endParaRPr lang="en-US" sz="2600" dirty="0"/>
          </a:p>
        </p:txBody>
      </p:sp>
      <p:sp>
        <p:nvSpPr>
          <p:cNvPr id="3" name="Shape 1"/>
          <p:cNvSpPr/>
          <p:nvPr/>
        </p:nvSpPr>
        <p:spPr>
          <a:xfrm>
            <a:off x="457200" y="1005840"/>
            <a:ext cx="2697480" cy="548640"/>
          </a:xfrm>
          <a:prstGeom prst="roundRect">
            <a:avLst>
              <a:gd name="adj" fmla="val 10000"/>
            </a:avLst>
          </a:prstGeom>
          <a:solidFill>
            <a:srgbClr val="C0392B"/>
          </a:solidFill>
          <a:ln/>
          <a:effectLst>
            <a:outerShdw sx="100000" sy="100000" kx="0" ky="0" algn="bl" rotWithShape="0" blurRad="38100" dist="12700" dir="5400000">
              <a:srgbClr val="000000">
                <a:alpha val="12000"/>
              </a:srgbClr>
            </a:outerShdw>
          </a:effectLst>
        </p:spPr>
      </p:sp>
      <p:sp>
        <p:nvSpPr>
          <p:cNvPr id="4" name="Text 2"/>
          <p:cNvSpPr/>
          <p:nvPr/>
        </p:nvSpPr>
        <p:spPr>
          <a:xfrm>
            <a:off x="457200"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L390ILE</a:t>
            </a:r>
            <a:endParaRPr lang="en-US" sz="1100" dirty="0"/>
          </a:p>
        </p:txBody>
      </p:sp>
      <p:sp>
        <p:nvSpPr>
          <p:cNvPr id="5" name="Text 3"/>
          <p:cNvSpPr/>
          <p:nvPr/>
        </p:nvSpPr>
        <p:spPr>
          <a:xfrm>
            <a:off x="457200"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+65.519 REU</a:t>
            </a:r>
            <a:endParaRPr lang="en-US" sz="1400" dirty="0"/>
          </a:p>
        </p:txBody>
      </p:sp>
      <p:sp>
        <p:nvSpPr>
          <p:cNvPr id="6" name="Shape 4"/>
          <p:cNvSpPr/>
          <p:nvPr/>
        </p:nvSpPr>
        <p:spPr>
          <a:xfrm>
            <a:off x="3227832" y="1005840"/>
            <a:ext cx="2697480" cy="548640"/>
          </a:xfrm>
          <a:prstGeom prst="roundRect">
            <a:avLst>
              <a:gd name="adj" fmla="val 10000"/>
            </a:avLst>
          </a:prstGeom>
          <a:solidFill>
            <a:srgbClr val="C0392B"/>
          </a:solidFill>
          <a:ln/>
          <a:effectLst>
            <a:outerShdw sx="100000" sy="100000" kx="0" ky="0" algn="bl" rotWithShape="0" blurRad="38100" dist="12700" dir="5400000">
              <a:srgbClr val="000000">
                <a:alpha val="12000"/>
              </a:srgbClr>
            </a:outerShdw>
          </a:effectLst>
        </p:spPr>
      </p:sp>
      <p:sp>
        <p:nvSpPr>
          <p:cNvPr id="7" name="Text 5"/>
          <p:cNvSpPr/>
          <p:nvPr/>
        </p:nvSpPr>
        <p:spPr>
          <a:xfrm>
            <a:off x="3227832"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L391ILE</a:t>
            </a:r>
            <a:endParaRPr lang="en-US" sz="1100" dirty="0"/>
          </a:p>
        </p:txBody>
      </p:sp>
      <p:sp>
        <p:nvSpPr>
          <p:cNvPr id="8" name="Text 6"/>
          <p:cNvSpPr/>
          <p:nvPr/>
        </p:nvSpPr>
        <p:spPr>
          <a:xfrm>
            <a:off x="3227832"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+7.318 REU</a:t>
            </a:r>
            <a:endParaRPr lang="en-US" sz="1400" dirty="0"/>
          </a:p>
        </p:txBody>
      </p:sp>
      <p:sp>
        <p:nvSpPr>
          <p:cNvPr id="9" name="Shape 7"/>
          <p:cNvSpPr/>
          <p:nvPr/>
        </p:nvSpPr>
        <p:spPr>
          <a:xfrm>
            <a:off x="5989320" y="1005840"/>
            <a:ext cx="2697480" cy="548640"/>
          </a:xfrm>
          <a:prstGeom prst="roundRect">
            <a:avLst>
              <a:gd name="adj" fmla="val 10000"/>
            </a:avLst>
          </a:prstGeom>
          <a:solidFill>
            <a:srgbClr val="7D2620"/>
          </a:solidFill>
          <a:ln/>
          <a:effectLst>
            <a:outerShdw sx="100000" sy="100000" kx="0" ky="0" algn="bl" rotWithShape="0" blurRad="38100" dist="12700" dir="5400000">
              <a:srgbClr val="000000">
                <a:alpha val="12000"/>
              </a:srgbClr>
            </a:outerShdw>
          </a:effectLst>
        </p:spPr>
      </p:sp>
      <p:sp>
        <p:nvSpPr>
          <p:cNvPr id="10" name="Text 8"/>
          <p:cNvSpPr/>
          <p:nvPr/>
        </p:nvSpPr>
        <p:spPr>
          <a:xfrm>
            <a:off x="5989320"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L390+L391ILE</a:t>
            </a:r>
            <a:endParaRPr lang="en-US" sz="1100" dirty="0"/>
          </a:p>
        </p:txBody>
      </p:sp>
      <p:sp>
        <p:nvSpPr>
          <p:cNvPr id="11" name="Text 9"/>
          <p:cNvSpPr/>
          <p:nvPr/>
        </p:nvSpPr>
        <p:spPr>
          <a:xfrm>
            <a:off x="5989320"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+72.800 REU</a:t>
            </a:r>
            <a:endParaRPr lang="en-US" sz="1400" dirty="0"/>
          </a:p>
        </p:txBody>
      </p:sp>
      <p:pic>
        <p:nvPicPr>
          <p:cNvPr id="12" name="Image 0" descr="preencoded.png">    </p:cNvPr>
          <p:cNvPicPr>
            <a:picLocks noChangeAspect="1"/>
          </p:cNvPicPr>
          <p:nvPr/>
        </p:nvPicPr>
        <p:blipFill>
          <a:blip r:embed="rId1"/>
          <a:srcRect l="0" r="0" t="0" b="0"/>
          <a:stretch/>
        </p:blipFill>
        <p:spPr>
          <a:xfrm>
            <a:off x="457200" y="1755648"/>
            <a:ext cx="2679192" cy="2011680"/>
          </a:xfrm>
          <a:prstGeom prst="rect">
            <a:avLst/>
          </a:prstGeom>
        </p:spPr>
      </p:pic>
      <p:sp>
        <p:nvSpPr>
          <p:cNvPr id="13" name="Shape 10"/>
          <p:cNvSpPr/>
          <p:nvPr/>
        </p:nvSpPr>
        <p:spPr>
          <a:xfrm>
            <a:off x="457200" y="1755648"/>
            <a:ext cx="2679192" cy="2011680"/>
          </a:xfrm>
          <a:prstGeom prst="rect">
            <a:avLst/>
          </a:prstGeom>
          <a:ln w="9525">
            <a:solidFill>
              <a:srgbClr val="D0D5DD"/>
            </a:solidFill>
            <a:prstDash val="solid"/>
          </a:ln>
        </p:spPr>
      </p:sp>
      <p:sp>
        <p:nvSpPr>
          <p:cNvPr id="14" name="Text 11"/>
          <p:cNvSpPr/>
          <p:nvPr/>
        </p:nvSpPr>
        <p:spPr>
          <a:xfrm>
            <a:off x="457200"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Figure 13: L390+L391ILE close-up — steric clashes</a:t>
            </a:r>
            <a:endParaRPr lang="en-US" sz="800" dirty="0"/>
          </a:p>
        </p:txBody>
      </p:sp>
      <p:pic>
        <p:nvPicPr>
          <p:cNvPr id="15" name="Image 1" descr="preencoded.png">    </p:cNvPr>
          <p:cNvPicPr>
            <a:picLocks noChangeAspect="1"/>
          </p:cNvPicPr>
          <p:nvPr/>
        </p:nvPicPr>
        <p:blipFill>
          <a:blip r:embed="rId2"/>
          <a:srcRect l="0" r="0" t="0" b="0"/>
          <a:stretch/>
        </p:blipFill>
        <p:spPr>
          <a:xfrm>
            <a:off x="3227832" y="1755648"/>
            <a:ext cx="2679192" cy="2011680"/>
          </a:xfrm>
          <a:prstGeom prst="rect">
            <a:avLst/>
          </a:prstGeom>
        </p:spPr>
      </p:pic>
      <p:sp>
        <p:nvSpPr>
          <p:cNvPr id="16" name="Shape 12"/>
          <p:cNvSpPr/>
          <p:nvPr/>
        </p:nvSpPr>
        <p:spPr>
          <a:xfrm>
            <a:off x="3227832" y="1755648"/>
            <a:ext cx="2679192" cy="2011680"/>
          </a:xfrm>
          <a:prstGeom prst="rect">
            <a:avLst/>
          </a:prstGeom>
          <a:ln w="9525">
            <a:solidFill>
              <a:srgbClr val="D0D5DD"/>
            </a:solidFill>
            <a:prstDash val="solid"/>
          </a:ln>
        </p:spPr>
      </p:sp>
      <p:sp>
        <p:nvSpPr>
          <p:cNvPr id="17" name="Text 13"/>
          <p:cNvSpPr/>
          <p:nvPr/>
        </p:nvSpPr>
        <p:spPr>
          <a:xfrm>
            <a:off x="3227832"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Figure 14: L390+L391ILE mid view — backbone deviation</a:t>
            </a:r>
            <a:endParaRPr lang="en-US" sz="800" dirty="0"/>
          </a:p>
        </p:txBody>
      </p:sp>
      <p:pic>
        <p:nvPicPr>
          <p:cNvPr id="18" name="Image 2" descr="preencoded.png">    </p:cNvPr>
          <p:cNvPicPr>
            <a:picLocks noChangeAspect="1"/>
          </p:cNvPicPr>
          <p:nvPr/>
        </p:nvPicPr>
        <p:blipFill>
          <a:blip r:embed="rId3"/>
          <a:srcRect l="0" r="0" t="0" b="0"/>
          <a:stretch/>
        </p:blipFill>
        <p:spPr>
          <a:xfrm>
            <a:off x="5998464" y="1755648"/>
            <a:ext cx="2679192" cy="2011680"/>
          </a:xfrm>
          <a:prstGeom prst="rect">
            <a:avLst/>
          </a:prstGeom>
        </p:spPr>
      </p:pic>
      <p:sp>
        <p:nvSpPr>
          <p:cNvPr id="19" name="Shape 14"/>
          <p:cNvSpPr/>
          <p:nvPr/>
        </p:nvSpPr>
        <p:spPr>
          <a:xfrm>
            <a:off x="5998464" y="1755648"/>
            <a:ext cx="2679192" cy="2011680"/>
          </a:xfrm>
          <a:prstGeom prst="rect">
            <a:avLst/>
          </a:prstGeom>
          <a:ln w="9525">
            <a:solidFill>
              <a:srgbClr val="D0D5DD"/>
            </a:solidFill>
            <a:prstDash val="solid"/>
          </a:ln>
        </p:spPr>
      </p:sp>
      <p:sp>
        <p:nvSpPr>
          <p:cNvPr id="20" name="Text 15"/>
          <p:cNvSpPr/>
          <p:nvPr/>
        </p:nvSpPr>
        <p:spPr>
          <a:xfrm>
            <a:off x="5998464"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Figure 15: L390+L391ILE wide view</a:t>
            </a:r>
            <a:endParaRPr lang="en-US" sz="800" dirty="0"/>
          </a:p>
        </p:txBody>
      </p:sp>
      <p:sp>
        <p:nvSpPr>
          <p:cNvPr id="21" name="Shape 16"/>
          <p:cNvSpPr/>
          <p:nvPr/>
        </p:nvSpPr>
        <p:spPr>
          <a:xfrm>
            <a:off x="457200" y="4160520"/>
            <a:ext cx="8229600" cy="822960"/>
          </a:xfrm>
          <a:prstGeom prst="roundRect">
            <a:avLst>
              <a:gd name="adj" fmla="val 6667"/>
            </a:avLst>
          </a:prstGeom>
          <a:solidFill>
            <a:srgbClr val="FFFFFF"/>
          </a:solidFill>
          <a:ln w="12700">
            <a:solidFill>
              <a:srgbClr val="E2E5EB"/>
            </a:solidFill>
            <a:prstDash val="solid"/>
          </a:ln>
          <a:effectLst>
            <a:outerShdw sx="100000" sy="100000" kx="0" ky="0" algn="bl" rotWithShape="0" blurRad="50800" dist="12700" dir="5400000">
              <a:srgbClr val="000000">
                <a:alpha val="8000"/>
              </a:srgbClr>
            </a:outerShdw>
          </a:effectLst>
        </p:spPr>
      </p:sp>
      <p:sp>
        <p:nvSpPr>
          <p:cNvPr id="22" name="Text 17"/>
          <p:cNvSpPr/>
          <p:nvPr/>
        </p:nvSpPr>
        <p:spPr>
          <a:xfrm>
            <a:off x="621792" y="4215384"/>
            <a:ext cx="7900416" cy="713232"/>
          </a:xfrm>
          <a:prstGeom prst="rect">
            <a:avLst/>
          </a:prstGeom>
          <a:noFill/>
          <a:ln/>
        </p:spPr>
        <p:txBody>
          <a:bodyPr wrap="square" rtlCol="0" anchor="ctr"/>
          <a:lstStyle/>
          <a:p>
            <a:pPr indent="0" marL="0">
              <a:lnSpc>
                <a:spcPct val="105000"/>
              </a:lnSpc>
              <a:buNone/>
            </a:pPr>
            <a:r>
              <a:rPr lang="en-US" sz="1050" b="1" dirty="0">
                <a:solidFill>
                  <a:srgbClr val="C0392B"/>
                </a:solidFill>
                <a:latin typeface="Calibri" pitchFamily="34" charset="0"/>
                <a:ea typeface="Calibri" pitchFamily="34" charset="-122"/>
                <a:cs typeface="Calibri" pitchFamily="34" charset="-120"/>
              </a:rPr>
              <a:t>Severe Destabilization:  </a:t>
            </a:r>
            <a:pPr indent="0" marL="0">
              <a:lnSpc>
                <a:spcPct val="105000"/>
              </a:lnSpc>
              <a:buNone/>
            </a:pPr>
            <a:r>
              <a:rPr lang="en-US" sz="1050" dirty="0">
                <a:solidFill>
                  <a:srgbClr val="1A1A2E"/>
                </a:solidFill>
                <a:latin typeface="Calibri" pitchFamily="34" charset="0"/>
                <a:ea typeface="Calibri" pitchFamily="34" charset="-122"/>
                <a:cs typeface="Calibri" pitchFamily="34" charset="-120"/>
              </a:rPr>
              <a:t>ILE’s β-branched structure (γ-methyl group) creates severe steric clashes with the linker’s narrow hydrophobic geometry. The absence of backbone minimization may have contributed to the unusually high REU values.</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9B2C5E"/>
        </a:solidFill>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α-Aminoisobutyric Acid (AIB) — Linker Region (L390–L391)</a:t>
            </a:r>
            <a:endParaRPr lang="en-US" sz="2200" dirty="0"/>
          </a:p>
        </p:txBody>
      </p:sp>
      <p:sp>
        <p:nvSpPr>
          <p:cNvPr id="3" name="Shape 1"/>
          <p:cNvSpPr/>
          <p:nvPr/>
        </p:nvSpPr>
        <p:spPr>
          <a:xfrm>
            <a:off x="457200" y="1005840"/>
            <a:ext cx="2697480" cy="548640"/>
          </a:xfrm>
          <a:prstGeom prst="roundRect">
            <a:avLst>
              <a:gd name="adj" fmla="val 10000"/>
            </a:avLst>
          </a:prstGeom>
          <a:solidFill>
            <a:srgbClr val="9B2C5E"/>
          </a:solidFill>
          <a:ln/>
          <a:effectLst>
            <a:outerShdw sx="100000" sy="100000" kx="0" ky="0" algn="bl" rotWithShape="0" blurRad="38100" dist="12700" dir="5400000">
              <a:srgbClr val="000000">
                <a:alpha val="12000"/>
              </a:srgbClr>
            </a:outerShdw>
          </a:effectLst>
        </p:spPr>
      </p:sp>
      <p:sp>
        <p:nvSpPr>
          <p:cNvPr id="4" name="Text 2"/>
          <p:cNvSpPr/>
          <p:nvPr/>
        </p:nvSpPr>
        <p:spPr>
          <a:xfrm>
            <a:off x="457200"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L390AIB</a:t>
            </a:r>
            <a:endParaRPr lang="en-US" sz="1100" dirty="0"/>
          </a:p>
        </p:txBody>
      </p:sp>
      <p:sp>
        <p:nvSpPr>
          <p:cNvPr id="5" name="Text 3"/>
          <p:cNvSpPr/>
          <p:nvPr/>
        </p:nvSpPr>
        <p:spPr>
          <a:xfrm>
            <a:off x="457200"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+5.700 REU</a:t>
            </a:r>
            <a:endParaRPr lang="en-US" sz="1400" dirty="0"/>
          </a:p>
        </p:txBody>
      </p:sp>
      <p:sp>
        <p:nvSpPr>
          <p:cNvPr id="6" name="Shape 4"/>
          <p:cNvSpPr/>
          <p:nvPr/>
        </p:nvSpPr>
        <p:spPr>
          <a:xfrm>
            <a:off x="3227832" y="1005840"/>
            <a:ext cx="2697480" cy="548640"/>
          </a:xfrm>
          <a:prstGeom prst="roundRect">
            <a:avLst>
              <a:gd name="adj" fmla="val 10000"/>
            </a:avLst>
          </a:prstGeom>
          <a:solidFill>
            <a:srgbClr val="9B2C5E"/>
          </a:solidFill>
          <a:ln/>
          <a:effectLst>
            <a:outerShdw sx="100000" sy="100000" kx="0" ky="0" algn="bl" rotWithShape="0" blurRad="38100" dist="12700" dir="5400000">
              <a:srgbClr val="000000">
                <a:alpha val="12000"/>
              </a:srgbClr>
            </a:outerShdw>
          </a:effectLst>
        </p:spPr>
      </p:sp>
      <p:sp>
        <p:nvSpPr>
          <p:cNvPr id="7" name="Text 5"/>
          <p:cNvSpPr/>
          <p:nvPr/>
        </p:nvSpPr>
        <p:spPr>
          <a:xfrm>
            <a:off x="3227832"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L391AIB</a:t>
            </a:r>
            <a:endParaRPr lang="en-US" sz="1100" dirty="0"/>
          </a:p>
        </p:txBody>
      </p:sp>
      <p:sp>
        <p:nvSpPr>
          <p:cNvPr id="8" name="Text 6"/>
          <p:cNvSpPr/>
          <p:nvPr/>
        </p:nvSpPr>
        <p:spPr>
          <a:xfrm>
            <a:off x="3227832"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+18.573 REU</a:t>
            </a:r>
            <a:endParaRPr lang="en-US" sz="1400" dirty="0"/>
          </a:p>
        </p:txBody>
      </p:sp>
      <p:sp>
        <p:nvSpPr>
          <p:cNvPr id="9" name="Shape 7"/>
          <p:cNvSpPr/>
          <p:nvPr/>
        </p:nvSpPr>
        <p:spPr>
          <a:xfrm>
            <a:off x="5989320" y="1005840"/>
            <a:ext cx="2697480" cy="548640"/>
          </a:xfrm>
          <a:prstGeom prst="roundRect">
            <a:avLst>
              <a:gd name="adj" fmla="val 10000"/>
            </a:avLst>
          </a:prstGeom>
          <a:solidFill>
            <a:srgbClr val="7A1F46"/>
          </a:solidFill>
          <a:ln/>
          <a:effectLst>
            <a:outerShdw sx="100000" sy="100000" kx="0" ky="0" algn="bl" rotWithShape="0" blurRad="38100" dist="12700" dir="5400000">
              <a:srgbClr val="000000">
                <a:alpha val="12000"/>
              </a:srgbClr>
            </a:outerShdw>
          </a:effectLst>
        </p:spPr>
      </p:sp>
      <p:sp>
        <p:nvSpPr>
          <p:cNvPr id="10" name="Text 8"/>
          <p:cNvSpPr/>
          <p:nvPr/>
        </p:nvSpPr>
        <p:spPr>
          <a:xfrm>
            <a:off x="5989320"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L390+L391AIB</a:t>
            </a:r>
            <a:endParaRPr lang="en-US" sz="1100" dirty="0"/>
          </a:p>
        </p:txBody>
      </p:sp>
      <p:sp>
        <p:nvSpPr>
          <p:cNvPr id="11" name="Text 9"/>
          <p:cNvSpPr/>
          <p:nvPr/>
        </p:nvSpPr>
        <p:spPr>
          <a:xfrm>
            <a:off x="5989320"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+25.364 REU</a:t>
            </a:r>
            <a:endParaRPr lang="en-US" sz="1400" dirty="0"/>
          </a:p>
        </p:txBody>
      </p:sp>
      <p:pic>
        <p:nvPicPr>
          <p:cNvPr id="12" name="Image 0" descr="preencoded.png">    </p:cNvPr>
          <p:cNvPicPr>
            <a:picLocks noChangeAspect="1"/>
          </p:cNvPicPr>
          <p:nvPr/>
        </p:nvPicPr>
        <p:blipFill>
          <a:blip r:embed="rId1"/>
          <a:srcRect l="0" r="0" t="0" b="0"/>
          <a:stretch/>
        </p:blipFill>
        <p:spPr>
          <a:xfrm>
            <a:off x="457200" y="1755648"/>
            <a:ext cx="2679192" cy="2011680"/>
          </a:xfrm>
          <a:prstGeom prst="rect">
            <a:avLst/>
          </a:prstGeom>
        </p:spPr>
      </p:pic>
      <p:sp>
        <p:nvSpPr>
          <p:cNvPr id="13" name="Shape 10"/>
          <p:cNvSpPr/>
          <p:nvPr/>
        </p:nvSpPr>
        <p:spPr>
          <a:xfrm>
            <a:off x="457200" y="1755648"/>
            <a:ext cx="2679192" cy="2011680"/>
          </a:xfrm>
          <a:prstGeom prst="rect">
            <a:avLst/>
          </a:prstGeom>
          <a:ln w="9525">
            <a:solidFill>
              <a:srgbClr val="D0D5DD"/>
            </a:solidFill>
            <a:prstDash val="solid"/>
          </a:ln>
        </p:spPr>
      </p:sp>
      <p:sp>
        <p:nvSpPr>
          <p:cNvPr id="14" name="Text 11"/>
          <p:cNvSpPr/>
          <p:nvPr/>
        </p:nvSpPr>
        <p:spPr>
          <a:xfrm>
            <a:off x="457200"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Figure 16: L390+L391AIB close-up — steric incompatibility</a:t>
            </a:r>
            <a:endParaRPr lang="en-US" sz="800" dirty="0"/>
          </a:p>
        </p:txBody>
      </p:sp>
      <p:pic>
        <p:nvPicPr>
          <p:cNvPr id="15" name="Image 1" descr="preencoded.png">    </p:cNvPr>
          <p:cNvPicPr>
            <a:picLocks noChangeAspect="1"/>
          </p:cNvPicPr>
          <p:nvPr/>
        </p:nvPicPr>
        <p:blipFill>
          <a:blip r:embed="rId2"/>
          <a:srcRect l="0" r="0" t="0" b="0"/>
          <a:stretch/>
        </p:blipFill>
        <p:spPr>
          <a:xfrm>
            <a:off x="3227832" y="1755648"/>
            <a:ext cx="2679192" cy="2011680"/>
          </a:xfrm>
          <a:prstGeom prst="rect">
            <a:avLst/>
          </a:prstGeom>
        </p:spPr>
      </p:pic>
      <p:sp>
        <p:nvSpPr>
          <p:cNvPr id="16" name="Shape 12"/>
          <p:cNvSpPr/>
          <p:nvPr/>
        </p:nvSpPr>
        <p:spPr>
          <a:xfrm>
            <a:off x="3227832" y="1755648"/>
            <a:ext cx="2679192" cy="2011680"/>
          </a:xfrm>
          <a:prstGeom prst="rect">
            <a:avLst/>
          </a:prstGeom>
          <a:ln w="9525">
            <a:solidFill>
              <a:srgbClr val="D0D5DD"/>
            </a:solidFill>
            <a:prstDash val="solid"/>
          </a:ln>
        </p:spPr>
      </p:sp>
      <p:sp>
        <p:nvSpPr>
          <p:cNvPr id="17" name="Text 13"/>
          <p:cNvSpPr/>
          <p:nvPr/>
        </p:nvSpPr>
        <p:spPr>
          <a:xfrm>
            <a:off x="3227832"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Figure 17: L390+L391AIB mid view — backbone deviation</a:t>
            </a:r>
            <a:endParaRPr lang="en-US" sz="800" dirty="0"/>
          </a:p>
        </p:txBody>
      </p:sp>
      <p:pic>
        <p:nvPicPr>
          <p:cNvPr id="18" name="Image 2" descr="preencoded.png">    </p:cNvPr>
          <p:cNvPicPr>
            <a:picLocks noChangeAspect="1"/>
          </p:cNvPicPr>
          <p:nvPr/>
        </p:nvPicPr>
        <p:blipFill>
          <a:blip r:embed="rId3"/>
          <a:srcRect l="0" r="0" t="0" b="0"/>
          <a:stretch/>
        </p:blipFill>
        <p:spPr>
          <a:xfrm>
            <a:off x="5998464" y="1755648"/>
            <a:ext cx="2679192" cy="2011680"/>
          </a:xfrm>
          <a:prstGeom prst="rect">
            <a:avLst/>
          </a:prstGeom>
        </p:spPr>
      </p:pic>
      <p:sp>
        <p:nvSpPr>
          <p:cNvPr id="19" name="Shape 14"/>
          <p:cNvSpPr/>
          <p:nvPr/>
        </p:nvSpPr>
        <p:spPr>
          <a:xfrm>
            <a:off x="5998464" y="1755648"/>
            <a:ext cx="2679192" cy="2011680"/>
          </a:xfrm>
          <a:prstGeom prst="rect">
            <a:avLst/>
          </a:prstGeom>
          <a:ln w="9525">
            <a:solidFill>
              <a:srgbClr val="D0D5DD"/>
            </a:solidFill>
            <a:prstDash val="solid"/>
          </a:ln>
        </p:spPr>
      </p:sp>
      <p:sp>
        <p:nvSpPr>
          <p:cNvPr id="20" name="Text 15"/>
          <p:cNvSpPr/>
          <p:nvPr/>
        </p:nvSpPr>
        <p:spPr>
          <a:xfrm>
            <a:off x="5998464"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Figure 18: L390+L391AIB wide view</a:t>
            </a:r>
            <a:endParaRPr lang="en-US" sz="800" dirty="0"/>
          </a:p>
        </p:txBody>
      </p:sp>
      <p:sp>
        <p:nvSpPr>
          <p:cNvPr id="21" name="Shape 16"/>
          <p:cNvSpPr/>
          <p:nvPr/>
        </p:nvSpPr>
        <p:spPr>
          <a:xfrm>
            <a:off x="457200" y="4160520"/>
            <a:ext cx="8229600" cy="822960"/>
          </a:xfrm>
          <a:prstGeom prst="roundRect">
            <a:avLst>
              <a:gd name="adj" fmla="val 6667"/>
            </a:avLst>
          </a:prstGeom>
          <a:solidFill>
            <a:srgbClr val="FFFFFF"/>
          </a:solidFill>
          <a:ln w="12700">
            <a:solidFill>
              <a:srgbClr val="E2E5EB"/>
            </a:solidFill>
            <a:prstDash val="solid"/>
          </a:ln>
          <a:effectLst>
            <a:outerShdw sx="100000" sy="100000" kx="0" ky="0" algn="bl" rotWithShape="0" blurRad="50800" dist="12700" dir="5400000">
              <a:srgbClr val="000000">
                <a:alpha val="8000"/>
              </a:srgbClr>
            </a:outerShdw>
          </a:effectLst>
        </p:spPr>
      </p:sp>
      <p:sp>
        <p:nvSpPr>
          <p:cNvPr id="22" name="Text 17"/>
          <p:cNvSpPr/>
          <p:nvPr/>
        </p:nvSpPr>
        <p:spPr>
          <a:xfrm>
            <a:off x="621792" y="4215384"/>
            <a:ext cx="7900416" cy="713232"/>
          </a:xfrm>
          <a:prstGeom prst="rect">
            <a:avLst/>
          </a:prstGeom>
          <a:noFill/>
          <a:ln/>
        </p:spPr>
        <p:txBody>
          <a:bodyPr wrap="square" rtlCol="0" anchor="ctr"/>
          <a:lstStyle/>
          <a:p>
            <a:pPr indent="0" marL="0">
              <a:lnSpc>
                <a:spcPct val="105000"/>
              </a:lnSpc>
              <a:buNone/>
            </a:pPr>
            <a:r>
              <a:rPr lang="en-US" sz="1050" b="1" dirty="0">
                <a:solidFill>
                  <a:srgbClr val="9B2C5E"/>
                </a:solidFill>
                <a:latin typeface="Calibri" pitchFamily="34" charset="0"/>
                <a:ea typeface="Calibri" pitchFamily="34" charset="-122"/>
                <a:cs typeface="Calibri" pitchFamily="34" charset="-120"/>
              </a:rPr>
              <a:t>Helical Incompatibility:  </a:t>
            </a:r>
            <a:pPr indent="0" marL="0">
              <a:lnSpc>
                <a:spcPct val="105000"/>
              </a:lnSpc>
              <a:buNone/>
            </a:pPr>
            <a:r>
              <a:rPr lang="en-US" sz="1050" dirty="0">
                <a:solidFill>
                  <a:srgbClr val="1A1A2E"/>
                </a:solidFill>
                <a:latin typeface="Calibri" pitchFamily="34" charset="0"/>
                <a:ea typeface="Calibri" pitchFamily="34" charset="-122"/>
                <a:cs typeface="Calibri" pitchFamily="34" charset="-120"/>
              </a:rPr>
              <a:t>Because AIB’s α,α-dialkyl structure strongly favors α-helical conformation, it is biophysically incompatible with the flexible linker region. Boltz-2 analyses show that β-strand elements are rearranged as a result.</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45C3B"/>
        </a:solidFill>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SBD Region (A429–A435) — ΔΔG Results</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8229600" cy="914400"/>
        </p:xfrm>
        <a:graphic>
          <a:graphicData uri="http://schemas.openxmlformats.org/drawingml/2006/table">
            <a:tbl>
              <a:tblPr/>
              <a:tblGrid>
                <a:gridCol w="1280160"/>
                <a:gridCol w="1645920"/>
                <a:gridCol w="1371600"/>
                <a:gridCol w="3931920"/>
              </a:tblGrid>
              <a:tr h="22402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Amino Acid</a:t>
                      </a:r>
                      <a:endParaRPr lang="en-US" sz="100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1B2A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Position</a:t>
                      </a:r>
                      <a:endParaRPr lang="en-US" sz="100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1B2A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ΔΔG (REU)</a:t>
                      </a:r>
                      <a:endParaRPr lang="en-US" sz="100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Effect</a:t>
                      </a:r>
                      <a:endParaRPr lang="en-US" sz="100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1B2A4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NVA</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A429</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−2.578</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Stabilizing</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NVA</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A435</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+5.354</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Destabilizing</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NVA</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3CD"/>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A429+A435</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3CD"/>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+2.776</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3CD"/>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Mildly destabilizing</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3CD"/>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VAL</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A429</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+52.115</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Severe destabilization</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VAL</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A435</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+27.256</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Severe destabilization</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VAL</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A429+A435</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+79.372</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Severe destabilization</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ILE</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A429</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+108.675</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Extreme destabilization</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ILE</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A435</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+409.291</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Extreme destabilization</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ILE</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A429+A435</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+517.966</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Highest value</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AIB</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A429</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+7.899</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Destabilizing</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AIB</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A435</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+113.746</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Severe destabilization</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AIB</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A429+A435</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+121.645</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Severe destabilization</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NLE / ABA / B3A</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ERROR</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Rotamer/backbone incompatibility</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Norvaline (NVA) — SBD Region (A429–A435)</a:t>
            </a:r>
            <a:endParaRPr lang="en-US" sz="2600" dirty="0"/>
          </a:p>
        </p:txBody>
      </p:sp>
      <p:sp>
        <p:nvSpPr>
          <p:cNvPr id="3" name="Shape 1"/>
          <p:cNvSpPr/>
          <p:nvPr/>
        </p:nvSpPr>
        <p:spPr>
          <a:xfrm>
            <a:off x="457200" y="1005840"/>
            <a:ext cx="2697480" cy="548640"/>
          </a:xfrm>
          <a:prstGeom prst="roundRect">
            <a:avLst>
              <a:gd name="adj" fmla="val 10000"/>
            </a:avLst>
          </a:prstGeom>
          <a:solidFill>
            <a:srgbClr val="2E75D6"/>
          </a:solidFill>
          <a:ln/>
          <a:effectLst>
            <a:outerShdw sx="100000" sy="100000" kx="0" ky="0" algn="bl" rotWithShape="0" blurRad="38100" dist="12700" dir="5400000">
              <a:srgbClr val="000000">
                <a:alpha val="12000"/>
              </a:srgbClr>
            </a:outerShdw>
          </a:effectLst>
        </p:spPr>
      </p:sp>
      <p:sp>
        <p:nvSpPr>
          <p:cNvPr id="4" name="Text 2"/>
          <p:cNvSpPr/>
          <p:nvPr/>
        </p:nvSpPr>
        <p:spPr>
          <a:xfrm>
            <a:off x="457200"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A429NVA</a:t>
            </a:r>
            <a:endParaRPr lang="en-US" sz="1100" dirty="0"/>
          </a:p>
        </p:txBody>
      </p:sp>
      <p:sp>
        <p:nvSpPr>
          <p:cNvPr id="5" name="Text 3"/>
          <p:cNvSpPr/>
          <p:nvPr/>
        </p:nvSpPr>
        <p:spPr>
          <a:xfrm>
            <a:off x="457200"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−2.578 REU</a:t>
            </a:r>
            <a:endParaRPr lang="en-US" sz="1400" dirty="0"/>
          </a:p>
        </p:txBody>
      </p:sp>
      <p:sp>
        <p:nvSpPr>
          <p:cNvPr id="6" name="Shape 4"/>
          <p:cNvSpPr/>
          <p:nvPr/>
        </p:nvSpPr>
        <p:spPr>
          <a:xfrm>
            <a:off x="3227832" y="1005840"/>
            <a:ext cx="2697480" cy="548640"/>
          </a:xfrm>
          <a:prstGeom prst="roundRect">
            <a:avLst>
              <a:gd name="adj" fmla="val 10000"/>
            </a:avLst>
          </a:prstGeom>
          <a:solidFill>
            <a:srgbClr val="C0392B"/>
          </a:solidFill>
          <a:ln/>
          <a:effectLst>
            <a:outerShdw sx="100000" sy="100000" kx="0" ky="0" algn="bl" rotWithShape="0" blurRad="38100" dist="12700" dir="5400000">
              <a:srgbClr val="000000">
                <a:alpha val="12000"/>
              </a:srgbClr>
            </a:outerShdw>
          </a:effectLst>
        </p:spPr>
      </p:sp>
      <p:sp>
        <p:nvSpPr>
          <p:cNvPr id="7" name="Text 5"/>
          <p:cNvSpPr/>
          <p:nvPr/>
        </p:nvSpPr>
        <p:spPr>
          <a:xfrm>
            <a:off x="3227832"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A435NVA</a:t>
            </a:r>
            <a:endParaRPr lang="en-US" sz="1100" dirty="0"/>
          </a:p>
        </p:txBody>
      </p:sp>
      <p:sp>
        <p:nvSpPr>
          <p:cNvPr id="8" name="Text 6"/>
          <p:cNvSpPr/>
          <p:nvPr/>
        </p:nvSpPr>
        <p:spPr>
          <a:xfrm>
            <a:off x="3227832"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+5.354 REU</a:t>
            </a:r>
            <a:endParaRPr lang="en-US" sz="1400" dirty="0"/>
          </a:p>
        </p:txBody>
      </p:sp>
      <p:sp>
        <p:nvSpPr>
          <p:cNvPr id="9" name="Shape 7"/>
          <p:cNvSpPr/>
          <p:nvPr/>
        </p:nvSpPr>
        <p:spPr>
          <a:xfrm>
            <a:off x="5989320" y="1005840"/>
            <a:ext cx="2697480" cy="548640"/>
          </a:xfrm>
          <a:prstGeom prst="roundRect">
            <a:avLst>
              <a:gd name="adj" fmla="val 10000"/>
            </a:avLst>
          </a:prstGeom>
          <a:solidFill>
            <a:srgbClr val="C9881A"/>
          </a:solidFill>
          <a:ln/>
          <a:effectLst>
            <a:outerShdw sx="100000" sy="100000" kx="0" ky="0" algn="bl" rotWithShape="0" blurRad="38100" dist="12700" dir="5400000">
              <a:srgbClr val="000000">
                <a:alpha val="12000"/>
              </a:srgbClr>
            </a:outerShdw>
          </a:effectLst>
        </p:spPr>
      </p:sp>
      <p:sp>
        <p:nvSpPr>
          <p:cNvPr id="10" name="Text 8"/>
          <p:cNvSpPr/>
          <p:nvPr/>
        </p:nvSpPr>
        <p:spPr>
          <a:xfrm>
            <a:off x="5989320"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A429+A435NVA</a:t>
            </a:r>
            <a:endParaRPr lang="en-US" sz="1100" dirty="0"/>
          </a:p>
        </p:txBody>
      </p:sp>
      <p:sp>
        <p:nvSpPr>
          <p:cNvPr id="11" name="Text 9"/>
          <p:cNvSpPr/>
          <p:nvPr/>
        </p:nvSpPr>
        <p:spPr>
          <a:xfrm>
            <a:off x="5989320"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+2.776 REU</a:t>
            </a:r>
            <a:endParaRPr lang="en-US" sz="1400" dirty="0"/>
          </a:p>
        </p:txBody>
      </p:sp>
      <p:pic>
        <p:nvPicPr>
          <p:cNvPr id="12" name="Image 0" descr="preencoded.png">    </p:cNvPr>
          <p:cNvPicPr>
            <a:picLocks noChangeAspect="1"/>
          </p:cNvPicPr>
          <p:nvPr/>
        </p:nvPicPr>
        <p:blipFill>
          <a:blip r:embed="rId1"/>
          <a:srcRect l="0" r="0" t="0" b="0"/>
          <a:stretch/>
        </p:blipFill>
        <p:spPr>
          <a:xfrm>
            <a:off x="457200" y="1755648"/>
            <a:ext cx="2679192" cy="2011680"/>
          </a:xfrm>
          <a:prstGeom prst="rect">
            <a:avLst/>
          </a:prstGeom>
        </p:spPr>
      </p:pic>
      <p:sp>
        <p:nvSpPr>
          <p:cNvPr id="13" name="Shape 10"/>
          <p:cNvSpPr/>
          <p:nvPr/>
        </p:nvSpPr>
        <p:spPr>
          <a:xfrm>
            <a:off x="457200" y="1755648"/>
            <a:ext cx="2679192" cy="2011680"/>
          </a:xfrm>
          <a:prstGeom prst="rect">
            <a:avLst/>
          </a:prstGeom>
          <a:ln w="9525">
            <a:solidFill>
              <a:srgbClr val="D0D5DD"/>
            </a:solidFill>
            <a:prstDash val="solid"/>
          </a:ln>
        </p:spPr>
      </p:sp>
      <p:sp>
        <p:nvSpPr>
          <p:cNvPr id="14" name="Text 11"/>
          <p:cNvSpPr/>
          <p:nvPr/>
        </p:nvSpPr>
        <p:spPr>
          <a:xfrm>
            <a:off x="457200"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Figure 19: A429NVA close-up — hydrophobic pocket</a:t>
            </a:r>
            <a:endParaRPr lang="en-US" sz="800" dirty="0"/>
          </a:p>
        </p:txBody>
      </p:sp>
      <p:pic>
        <p:nvPicPr>
          <p:cNvPr id="15" name="Image 1" descr="preencoded.png">    </p:cNvPr>
          <p:cNvPicPr>
            <a:picLocks noChangeAspect="1"/>
          </p:cNvPicPr>
          <p:nvPr/>
        </p:nvPicPr>
        <p:blipFill>
          <a:blip r:embed="rId2"/>
          <a:srcRect l="0" r="0" t="0" b="0"/>
          <a:stretch/>
        </p:blipFill>
        <p:spPr>
          <a:xfrm>
            <a:off x="3227832" y="1755648"/>
            <a:ext cx="2679192" cy="2011680"/>
          </a:xfrm>
          <a:prstGeom prst="rect">
            <a:avLst/>
          </a:prstGeom>
        </p:spPr>
      </p:pic>
      <p:sp>
        <p:nvSpPr>
          <p:cNvPr id="16" name="Shape 12"/>
          <p:cNvSpPr/>
          <p:nvPr/>
        </p:nvSpPr>
        <p:spPr>
          <a:xfrm>
            <a:off x="3227832" y="1755648"/>
            <a:ext cx="2679192" cy="2011680"/>
          </a:xfrm>
          <a:prstGeom prst="rect">
            <a:avLst/>
          </a:prstGeom>
          <a:ln w="9525">
            <a:solidFill>
              <a:srgbClr val="D0D5DD"/>
            </a:solidFill>
            <a:prstDash val="solid"/>
          </a:ln>
        </p:spPr>
      </p:sp>
      <p:sp>
        <p:nvSpPr>
          <p:cNvPr id="17" name="Text 13"/>
          <p:cNvSpPr/>
          <p:nvPr/>
        </p:nvSpPr>
        <p:spPr>
          <a:xfrm>
            <a:off x="3227832"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Figure 20: A429NVA mid view — backbone conservation</a:t>
            </a:r>
            <a:endParaRPr lang="en-US" sz="800" dirty="0"/>
          </a:p>
        </p:txBody>
      </p:sp>
      <p:pic>
        <p:nvPicPr>
          <p:cNvPr id="18" name="Image 2" descr="preencoded.png">    </p:cNvPr>
          <p:cNvPicPr>
            <a:picLocks noChangeAspect="1"/>
          </p:cNvPicPr>
          <p:nvPr/>
        </p:nvPicPr>
        <p:blipFill>
          <a:blip r:embed="rId3"/>
          <a:srcRect l="0" r="0" t="0" b="0"/>
          <a:stretch/>
        </p:blipFill>
        <p:spPr>
          <a:xfrm>
            <a:off x="5998464" y="1755648"/>
            <a:ext cx="2679192" cy="2011680"/>
          </a:xfrm>
          <a:prstGeom prst="rect">
            <a:avLst/>
          </a:prstGeom>
        </p:spPr>
      </p:pic>
      <p:sp>
        <p:nvSpPr>
          <p:cNvPr id="19" name="Shape 14"/>
          <p:cNvSpPr/>
          <p:nvPr/>
        </p:nvSpPr>
        <p:spPr>
          <a:xfrm>
            <a:off x="5998464" y="1755648"/>
            <a:ext cx="2679192" cy="2011680"/>
          </a:xfrm>
          <a:prstGeom prst="rect">
            <a:avLst/>
          </a:prstGeom>
          <a:ln w="9525">
            <a:solidFill>
              <a:srgbClr val="D0D5DD"/>
            </a:solidFill>
            <a:prstDash val="solid"/>
          </a:ln>
        </p:spPr>
      </p:sp>
      <p:sp>
        <p:nvSpPr>
          <p:cNvPr id="20" name="Text 15"/>
          <p:cNvSpPr/>
          <p:nvPr/>
        </p:nvSpPr>
        <p:spPr>
          <a:xfrm>
            <a:off x="5998464"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Figure 21: A429NVA wide view</a:t>
            </a:r>
            <a:endParaRPr lang="en-US" sz="800" dirty="0"/>
          </a:p>
        </p:txBody>
      </p:sp>
      <p:sp>
        <p:nvSpPr>
          <p:cNvPr id="21" name="Shape 16"/>
          <p:cNvSpPr/>
          <p:nvPr/>
        </p:nvSpPr>
        <p:spPr>
          <a:xfrm>
            <a:off x="457200" y="4160520"/>
            <a:ext cx="8229600" cy="822960"/>
          </a:xfrm>
          <a:prstGeom prst="roundRect">
            <a:avLst>
              <a:gd name="adj" fmla="val 6667"/>
            </a:avLst>
          </a:prstGeom>
          <a:solidFill>
            <a:srgbClr val="FFFFFF"/>
          </a:solidFill>
          <a:ln w="12700">
            <a:solidFill>
              <a:srgbClr val="E2E5EB"/>
            </a:solidFill>
            <a:prstDash val="solid"/>
          </a:ln>
          <a:effectLst>
            <a:outerShdw sx="100000" sy="100000" kx="0" ky="0" algn="bl" rotWithShape="0" blurRad="50800" dist="12700" dir="5400000">
              <a:srgbClr val="000000">
                <a:alpha val="8000"/>
              </a:srgbClr>
            </a:outerShdw>
          </a:effectLst>
        </p:spPr>
      </p:sp>
      <p:sp>
        <p:nvSpPr>
          <p:cNvPr id="22" name="Text 17"/>
          <p:cNvSpPr/>
          <p:nvPr/>
        </p:nvSpPr>
        <p:spPr>
          <a:xfrm>
            <a:off x="621792" y="4215384"/>
            <a:ext cx="7900416" cy="713232"/>
          </a:xfrm>
          <a:prstGeom prst="rect">
            <a:avLst/>
          </a:prstGeom>
          <a:noFill/>
          <a:ln/>
        </p:spPr>
        <p:txBody>
          <a:bodyPr wrap="square" rtlCol="0" anchor="ctr"/>
          <a:lstStyle/>
          <a:p>
            <a:pPr indent="0" marL="0">
              <a:lnSpc>
                <a:spcPct val="105000"/>
              </a:lnSpc>
              <a:buNone/>
            </a:pPr>
            <a:r>
              <a:rPr lang="en-US" sz="1050" b="1" dirty="0">
                <a:solidFill>
                  <a:srgbClr val="2E75D6"/>
                </a:solidFill>
                <a:latin typeface="Calibri" pitchFamily="34" charset="0"/>
                <a:ea typeface="Calibri" pitchFamily="34" charset="-122"/>
                <a:cs typeface="Calibri" pitchFamily="34" charset="-120"/>
              </a:rPr>
              <a:t>Position-Dependent Asymmetry:  </a:t>
            </a:r>
            <a:pPr indent="0" marL="0">
              <a:lnSpc>
                <a:spcPct val="105000"/>
              </a:lnSpc>
              <a:buNone/>
            </a:pPr>
            <a:r>
              <a:rPr lang="en-US" sz="1050" dirty="0">
                <a:solidFill>
                  <a:srgbClr val="1A1A2E"/>
                </a:solidFill>
                <a:latin typeface="Calibri" pitchFamily="34" charset="0"/>
                <a:ea typeface="Calibri" pitchFamily="34" charset="-122"/>
                <a:cs typeface="Calibri" pitchFamily="34" charset="-120"/>
              </a:rPr>
              <a:t>NVA provides stabilization at A429 (−2.578 REU) while causing destabilization at A435 (+5.354 REU). This indicates that the two positions occupy markedly different steric microenvironments around the SBD substrate-binding pocket.</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E33"/>
        </a:solidFill>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Isoleucine (ILE) — SBD Region I: A429</a:t>
            </a:r>
            <a:endParaRPr lang="en-US" sz="2600" dirty="0"/>
          </a:p>
        </p:txBody>
      </p:sp>
      <p:sp>
        <p:nvSpPr>
          <p:cNvPr id="3" name="Shape 1"/>
          <p:cNvSpPr/>
          <p:nvPr/>
        </p:nvSpPr>
        <p:spPr>
          <a:xfrm>
            <a:off x="457200" y="1005840"/>
            <a:ext cx="2697480" cy="548640"/>
          </a:xfrm>
          <a:prstGeom prst="roundRect">
            <a:avLst>
              <a:gd name="adj" fmla="val 10000"/>
            </a:avLst>
          </a:prstGeom>
          <a:solidFill>
            <a:srgbClr val="C0392B"/>
          </a:solidFill>
          <a:ln/>
          <a:effectLst>
            <a:outerShdw sx="100000" sy="100000" kx="0" ky="0" algn="bl" rotWithShape="0" blurRad="38100" dist="12700" dir="5400000">
              <a:srgbClr val="000000">
                <a:alpha val="12000"/>
              </a:srgbClr>
            </a:outerShdw>
          </a:effectLst>
        </p:spPr>
      </p:sp>
      <p:sp>
        <p:nvSpPr>
          <p:cNvPr id="4" name="Text 2"/>
          <p:cNvSpPr/>
          <p:nvPr/>
        </p:nvSpPr>
        <p:spPr>
          <a:xfrm>
            <a:off x="457200"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A429ILE</a:t>
            </a:r>
            <a:endParaRPr lang="en-US" sz="1100" dirty="0"/>
          </a:p>
        </p:txBody>
      </p:sp>
      <p:sp>
        <p:nvSpPr>
          <p:cNvPr id="5" name="Text 3"/>
          <p:cNvSpPr/>
          <p:nvPr/>
        </p:nvSpPr>
        <p:spPr>
          <a:xfrm>
            <a:off x="457200"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+108.675 REU</a:t>
            </a:r>
            <a:endParaRPr lang="en-US" sz="1400" dirty="0"/>
          </a:p>
        </p:txBody>
      </p:sp>
      <p:sp>
        <p:nvSpPr>
          <p:cNvPr id="6" name="Shape 4"/>
          <p:cNvSpPr/>
          <p:nvPr/>
        </p:nvSpPr>
        <p:spPr>
          <a:xfrm>
            <a:off x="3227832" y="1005840"/>
            <a:ext cx="2697480" cy="548640"/>
          </a:xfrm>
          <a:prstGeom prst="roundRect">
            <a:avLst>
              <a:gd name="adj" fmla="val 10000"/>
            </a:avLst>
          </a:prstGeom>
          <a:solidFill>
            <a:srgbClr val="7D2620"/>
          </a:solidFill>
          <a:ln/>
          <a:effectLst>
            <a:outerShdw sx="100000" sy="100000" kx="0" ky="0" algn="bl" rotWithShape="0" blurRad="38100" dist="12700" dir="5400000">
              <a:srgbClr val="000000">
                <a:alpha val="12000"/>
              </a:srgbClr>
            </a:outerShdw>
          </a:effectLst>
        </p:spPr>
      </p:sp>
      <p:sp>
        <p:nvSpPr>
          <p:cNvPr id="7" name="Text 5"/>
          <p:cNvSpPr/>
          <p:nvPr/>
        </p:nvSpPr>
        <p:spPr>
          <a:xfrm>
            <a:off x="3227832"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A435ILE</a:t>
            </a:r>
            <a:endParaRPr lang="en-US" sz="1100" dirty="0"/>
          </a:p>
        </p:txBody>
      </p:sp>
      <p:sp>
        <p:nvSpPr>
          <p:cNvPr id="8" name="Text 6"/>
          <p:cNvSpPr/>
          <p:nvPr/>
        </p:nvSpPr>
        <p:spPr>
          <a:xfrm>
            <a:off x="3227832"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+409.291 REU</a:t>
            </a:r>
            <a:endParaRPr lang="en-US" sz="1400" dirty="0"/>
          </a:p>
        </p:txBody>
      </p:sp>
      <p:sp>
        <p:nvSpPr>
          <p:cNvPr id="9" name="Shape 7"/>
          <p:cNvSpPr/>
          <p:nvPr/>
        </p:nvSpPr>
        <p:spPr>
          <a:xfrm>
            <a:off x="5989320" y="1005840"/>
            <a:ext cx="2697480" cy="548640"/>
          </a:xfrm>
          <a:prstGeom prst="roundRect">
            <a:avLst>
              <a:gd name="adj" fmla="val 10000"/>
            </a:avLst>
          </a:prstGeom>
          <a:solidFill>
            <a:srgbClr val="5C1410"/>
          </a:solidFill>
          <a:ln/>
          <a:effectLst>
            <a:outerShdw sx="100000" sy="100000" kx="0" ky="0" algn="bl" rotWithShape="0" blurRad="38100" dist="12700" dir="5400000">
              <a:srgbClr val="000000">
                <a:alpha val="12000"/>
              </a:srgbClr>
            </a:outerShdw>
          </a:effectLst>
        </p:spPr>
      </p:sp>
      <p:sp>
        <p:nvSpPr>
          <p:cNvPr id="10" name="Text 8"/>
          <p:cNvSpPr/>
          <p:nvPr/>
        </p:nvSpPr>
        <p:spPr>
          <a:xfrm>
            <a:off x="5989320"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A429+A435ILE</a:t>
            </a:r>
            <a:endParaRPr lang="en-US" sz="1100" dirty="0"/>
          </a:p>
        </p:txBody>
      </p:sp>
      <p:sp>
        <p:nvSpPr>
          <p:cNvPr id="11" name="Text 9"/>
          <p:cNvSpPr/>
          <p:nvPr/>
        </p:nvSpPr>
        <p:spPr>
          <a:xfrm>
            <a:off x="5989320"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+517.966 REU</a:t>
            </a:r>
            <a:endParaRPr lang="en-US" sz="1400" dirty="0"/>
          </a:p>
        </p:txBody>
      </p:sp>
      <p:pic>
        <p:nvPicPr>
          <p:cNvPr id="12" name="Image 0" descr="preencoded.png">    </p:cNvPr>
          <p:cNvPicPr>
            <a:picLocks noChangeAspect="1"/>
          </p:cNvPicPr>
          <p:nvPr/>
        </p:nvPicPr>
        <p:blipFill>
          <a:blip r:embed="rId1"/>
          <a:srcRect l="0" r="0" t="0" b="0"/>
          <a:stretch/>
        </p:blipFill>
        <p:spPr>
          <a:xfrm>
            <a:off x="457200" y="1755648"/>
            <a:ext cx="2679192" cy="2011680"/>
          </a:xfrm>
          <a:prstGeom prst="rect">
            <a:avLst/>
          </a:prstGeom>
        </p:spPr>
      </p:pic>
      <p:sp>
        <p:nvSpPr>
          <p:cNvPr id="13" name="Shape 10"/>
          <p:cNvSpPr/>
          <p:nvPr/>
        </p:nvSpPr>
        <p:spPr>
          <a:xfrm>
            <a:off x="457200" y="1755648"/>
            <a:ext cx="2679192" cy="2011680"/>
          </a:xfrm>
          <a:prstGeom prst="rect">
            <a:avLst/>
          </a:prstGeom>
          <a:ln w="9525">
            <a:solidFill>
              <a:srgbClr val="D0D5DD"/>
            </a:solidFill>
            <a:prstDash val="solid"/>
          </a:ln>
        </p:spPr>
      </p:sp>
      <p:sp>
        <p:nvSpPr>
          <p:cNvPr id="14" name="Text 11"/>
          <p:cNvSpPr/>
          <p:nvPr/>
        </p:nvSpPr>
        <p:spPr>
          <a:xfrm>
            <a:off x="457200"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Figure 22: A429ILE close-up — steric clashes</a:t>
            </a:r>
            <a:endParaRPr lang="en-US" sz="800" dirty="0"/>
          </a:p>
        </p:txBody>
      </p:sp>
      <p:pic>
        <p:nvPicPr>
          <p:cNvPr id="15" name="Image 1" descr="preencoded.png">    </p:cNvPr>
          <p:cNvPicPr>
            <a:picLocks noChangeAspect="1"/>
          </p:cNvPicPr>
          <p:nvPr/>
        </p:nvPicPr>
        <p:blipFill>
          <a:blip r:embed="rId2"/>
          <a:srcRect l="0" r="0" t="0" b="0"/>
          <a:stretch/>
        </p:blipFill>
        <p:spPr>
          <a:xfrm>
            <a:off x="3227832" y="1755648"/>
            <a:ext cx="2679192" cy="2011680"/>
          </a:xfrm>
          <a:prstGeom prst="rect">
            <a:avLst/>
          </a:prstGeom>
        </p:spPr>
      </p:pic>
      <p:sp>
        <p:nvSpPr>
          <p:cNvPr id="16" name="Shape 12"/>
          <p:cNvSpPr/>
          <p:nvPr/>
        </p:nvSpPr>
        <p:spPr>
          <a:xfrm>
            <a:off x="3227832" y="1755648"/>
            <a:ext cx="2679192" cy="2011680"/>
          </a:xfrm>
          <a:prstGeom prst="rect">
            <a:avLst/>
          </a:prstGeom>
          <a:ln w="9525">
            <a:solidFill>
              <a:srgbClr val="D0D5DD"/>
            </a:solidFill>
            <a:prstDash val="solid"/>
          </a:ln>
        </p:spPr>
      </p:sp>
      <p:sp>
        <p:nvSpPr>
          <p:cNvPr id="17" name="Text 13"/>
          <p:cNvSpPr/>
          <p:nvPr/>
        </p:nvSpPr>
        <p:spPr>
          <a:xfrm>
            <a:off x="3227832"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Figure 23: A429ILE mid view — backbone distortion</a:t>
            </a:r>
            <a:endParaRPr lang="en-US" sz="800" dirty="0"/>
          </a:p>
        </p:txBody>
      </p:sp>
      <p:pic>
        <p:nvPicPr>
          <p:cNvPr id="18" name="Image 2" descr="preencoded.png">    </p:cNvPr>
          <p:cNvPicPr>
            <a:picLocks noChangeAspect="1"/>
          </p:cNvPicPr>
          <p:nvPr/>
        </p:nvPicPr>
        <p:blipFill>
          <a:blip r:embed="rId3"/>
          <a:srcRect l="0" r="0" t="0" b="0"/>
          <a:stretch/>
        </p:blipFill>
        <p:spPr>
          <a:xfrm>
            <a:off x="5998464" y="1755648"/>
            <a:ext cx="2679192" cy="2011680"/>
          </a:xfrm>
          <a:prstGeom prst="rect">
            <a:avLst/>
          </a:prstGeom>
        </p:spPr>
      </p:pic>
      <p:sp>
        <p:nvSpPr>
          <p:cNvPr id="19" name="Shape 14"/>
          <p:cNvSpPr/>
          <p:nvPr/>
        </p:nvSpPr>
        <p:spPr>
          <a:xfrm>
            <a:off x="5998464" y="1755648"/>
            <a:ext cx="2679192" cy="2011680"/>
          </a:xfrm>
          <a:prstGeom prst="rect">
            <a:avLst/>
          </a:prstGeom>
          <a:ln w="9525">
            <a:solidFill>
              <a:srgbClr val="D0D5DD"/>
            </a:solidFill>
            <a:prstDash val="solid"/>
          </a:ln>
        </p:spPr>
      </p:sp>
      <p:sp>
        <p:nvSpPr>
          <p:cNvPr id="20" name="Text 15"/>
          <p:cNvSpPr/>
          <p:nvPr/>
        </p:nvSpPr>
        <p:spPr>
          <a:xfrm>
            <a:off x="5998464"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Figure 24: A429ILE wide view</a:t>
            </a:r>
            <a:endParaRPr lang="en-US" sz="800" dirty="0"/>
          </a:p>
        </p:txBody>
      </p:sp>
      <p:sp>
        <p:nvSpPr>
          <p:cNvPr id="21" name="Shape 16"/>
          <p:cNvSpPr/>
          <p:nvPr/>
        </p:nvSpPr>
        <p:spPr>
          <a:xfrm>
            <a:off x="457200" y="4160520"/>
            <a:ext cx="8229600" cy="822960"/>
          </a:xfrm>
          <a:prstGeom prst="roundRect">
            <a:avLst>
              <a:gd name="adj" fmla="val 6667"/>
            </a:avLst>
          </a:prstGeom>
          <a:solidFill>
            <a:srgbClr val="FFFFFF"/>
          </a:solidFill>
          <a:ln w="12700">
            <a:solidFill>
              <a:srgbClr val="E2E5EB"/>
            </a:solidFill>
            <a:prstDash val="solid"/>
          </a:ln>
          <a:effectLst>
            <a:outerShdw sx="100000" sy="100000" kx="0" ky="0" algn="bl" rotWithShape="0" blurRad="50800" dist="12700" dir="5400000">
              <a:srgbClr val="000000">
                <a:alpha val="8000"/>
              </a:srgbClr>
            </a:outerShdw>
          </a:effectLst>
        </p:spPr>
      </p:sp>
      <p:sp>
        <p:nvSpPr>
          <p:cNvPr id="22" name="Text 17"/>
          <p:cNvSpPr/>
          <p:nvPr/>
        </p:nvSpPr>
        <p:spPr>
          <a:xfrm>
            <a:off x="621792" y="4215384"/>
            <a:ext cx="7900416" cy="713232"/>
          </a:xfrm>
          <a:prstGeom prst="rect">
            <a:avLst/>
          </a:prstGeom>
          <a:noFill/>
          <a:ln/>
        </p:spPr>
        <p:txBody>
          <a:bodyPr wrap="square" rtlCol="0" anchor="ctr"/>
          <a:lstStyle/>
          <a:p>
            <a:pPr indent="0" marL="0">
              <a:lnSpc>
                <a:spcPct val="105000"/>
              </a:lnSpc>
              <a:buNone/>
            </a:pPr>
            <a:r>
              <a:rPr lang="en-US" sz="1050" b="1" dirty="0">
                <a:solidFill>
                  <a:srgbClr val="C0392B"/>
                </a:solidFill>
                <a:latin typeface="Calibri" pitchFamily="34" charset="0"/>
                <a:ea typeface="Calibri" pitchFamily="34" charset="-122"/>
                <a:cs typeface="Calibri" pitchFamily="34" charset="-120"/>
              </a:rPr>
              <a:t>Evolutionary Constraint:  </a:t>
            </a:r>
            <a:pPr indent="0" marL="0">
              <a:lnSpc>
                <a:spcPct val="105000"/>
              </a:lnSpc>
              <a:buNone/>
            </a:pPr>
            <a:r>
              <a:rPr lang="en-US" sz="1050" dirty="0">
                <a:solidFill>
                  <a:srgbClr val="1A1A2E"/>
                </a:solidFill>
                <a:latin typeface="Calibri" pitchFamily="34" charset="0"/>
                <a:ea typeface="Calibri" pitchFamily="34" charset="-122"/>
                <a:cs typeface="Calibri" pitchFamily="34" charset="-120"/>
              </a:rPr>
              <a:t>The alanine residues in the SBD β-sandwich appear evolutionarily selected for substrate-binding geometry and are highly sensitive to volume increases. Even at A429, a substantial destabilization of +108.675 REU is observed.</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E33"/>
        </a:solidFill>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Isoleucine (ILE) — SBD Region II: A435 and Double Mutation</a:t>
            </a:r>
            <a:endParaRPr lang="en-US" sz="2200" dirty="0"/>
          </a:p>
        </p:txBody>
      </p:sp>
      <p:sp>
        <p:nvSpPr>
          <p:cNvPr id="3" name="Shape 1"/>
          <p:cNvSpPr/>
          <p:nvPr/>
        </p:nvSpPr>
        <p:spPr>
          <a:xfrm>
            <a:off x="1600200" y="1005840"/>
            <a:ext cx="2926080" cy="548640"/>
          </a:xfrm>
          <a:prstGeom prst="roundRect">
            <a:avLst>
              <a:gd name="adj" fmla="val 10000"/>
            </a:avLst>
          </a:prstGeom>
          <a:solidFill>
            <a:srgbClr val="7D2620"/>
          </a:solidFill>
          <a:ln/>
          <a:effectLst>
            <a:outerShdw sx="100000" sy="100000" kx="0" ky="0" algn="bl" rotWithShape="0" blurRad="38100" dist="12700" dir="5400000">
              <a:srgbClr val="000000">
                <a:alpha val="12000"/>
              </a:srgbClr>
            </a:outerShdw>
          </a:effectLst>
        </p:spPr>
      </p:sp>
      <p:sp>
        <p:nvSpPr>
          <p:cNvPr id="4" name="Text 2"/>
          <p:cNvSpPr/>
          <p:nvPr/>
        </p:nvSpPr>
        <p:spPr>
          <a:xfrm>
            <a:off x="1600200" y="1051560"/>
            <a:ext cx="29260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A435ILE</a:t>
            </a:r>
            <a:endParaRPr lang="en-US" sz="1100" dirty="0"/>
          </a:p>
        </p:txBody>
      </p:sp>
      <p:sp>
        <p:nvSpPr>
          <p:cNvPr id="5" name="Text 3"/>
          <p:cNvSpPr/>
          <p:nvPr/>
        </p:nvSpPr>
        <p:spPr>
          <a:xfrm>
            <a:off x="1600200" y="1252728"/>
            <a:ext cx="29260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+409.291 REU</a:t>
            </a:r>
            <a:endParaRPr lang="en-US" sz="1400" dirty="0"/>
          </a:p>
        </p:txBody>
      </p:sp>
      <p:sp>
        <p:nvSpPr>
          <p:cNvPr id="6" name="Shape 4"/>
          <p:cNvSpPr/>
          <p:nvPr/>
        </p:nvSpPr>
        <p:spPr>
          <a:xfrm>
            <a:off x="4617720" y="1005840"/>
            <a:ext cx="2926080" cy="548640"/>
          </a:xfrm>
          <a:prstGeom prst="roundRect">
            <a:avLst>
              <a:gd name="adj" fmla="val 10000"/>
            </a:avLst>
          </a:prstGeom>
          <a:solidFill>
            <a:srgbClr val="5C1410"/>
          </a:solidFill>
          <a:ln/>
          <a:effectLst>
            <a:outerShdw sx="100000" sy="100000" kx="0" ky="0" algn="bl" rotWithShape="0" blurRad="38100" dist="12700" dir="5400000">
              <a:srgbClr val="000000">
                <a:alpha val="12000"/>
              </a:srgbClr>
            </a:outerShdw>
          </a:effectLst>
        </p:spPr>
      </p:sp>
      <p:sp>
        <p:nvSpPr>
          <p:cNvPr id="7" name="Text 5"/>
          <p:cNvSpPr/>
          <p:nvPr/>
        </p:nvSpPr>
        <p:spPr>
          <a:xfrm>
            <a:off x="4617720" y="1051560"/>
            <a:ext cx="29260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A429+A435ILE</a:t>
            </a:r>
            <a:endParaRPr lang="en-US" sz="1100" dirty="0"/>
          </a:p>
        </p:txBody>
      </p:sp>
      <p:sp>
        <p:nvSpPr>
          <p:cNvPr id="8" name="Text 6"/>
          <p:cNvSpPr/>
          <p:nvPr/>
        </p:nvSpPr>
        <p:spPr>
          <a:xfrm>
            <a:off x="4617720" y="1252728"/>
            <a:ext cx="29260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+517.966 REU</a:t>
            </a:r>
            <a:endParaRPr lang="en-US" sz="1400" dirty="0"/>
          </a:p>
        </p:txBody>
      </p:sp>
      <p:pic>
        <p:nvPicPr>
          <p:cNvPr id="9" name="Image 0" descr="preencoded.png">    </p:cNvPr>
          <p:cNvPicPr>
            <a:picLocks noChangeAspect="1"/>
          </p:cNvPicPr>
          <p:nvPr/>
        </p:nvPicPr>
        <p:blipFill>
          <a:blip r:embed="rId1"/>
          <a:srcRect l="0" r="0" t="0" b="0"/>
          <a:stretch/>
        </p:blipFill>
        <p:spPr>
          <a:xfrm>
            <a:off x="457200" y="1755648"/>
            <a:ext cx="2679192" cy="2011680"/>
          </a:xfrm>
          <a:prstGeom prst="rect">
            <a:avLst/>
          </a:prstGeom>
        </p:spPr>
      </p:pic>
      <p:sp>
        <p:nvSpPr>
          <p:cNvPr id="10" name="Shape 7"/>
          <p:cNvSpPr/>
          <p:nvPr/>
        </p:nvSpPr>
        <p:spPr>
          <a:xfrm>
            <a:off x="457200" y="1755648"/>
            <a:ext cx="2679192" cy="2011680"/>
          </a:xfrm>
          <a:prstGeom prst="rect">
            <a:avLst/>
          </a:prstGeom>
          <a:ln w="9525">
            <a:solidFill>
              <a:srgbClr val="D0D5DD"/>
            </a:solidFill>
            <a:prstDash val="solid"/>
          </a:ln>
        </p:spPr>
      </p:sp>
      <p:sp>
        <p:nvSpPr>
          <p:cNvPr id="11" name="Text 8"/>
          <p:cNvSpPr/>
          <p:nvPr/>
        </p:nvSpPr>
        <p:spPr>
          <a:xfrm>
            <a:off x="457200"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Figure 25: A435ILE close-up — steric incompatibility</a:t>
            </a:r>
            <a:endParaRPr lang="en-US" sz="800" dirty="0"/>
          </a:p>
        </p:txBody>
      </p:sp>
      <p:pic>
        <p:nvPicPr>
          <p:cNvPr id="12" name="Image 1" descr="preencoded.png">    </p:cNvPr>
          <p:cNvPicPr>
            <a:picLocks noChangeAspect="1"/>
          </p:cNvPicPr>
          <p:nvPr/>
        </p:nvPicPr>
        <p:blipFill>
          <a:blip r:embed="rId2"/>
          <a:srcRect l="0" r="0" t="0" b="0"/>
          <a:stretch/>
        </p:blipFill>
        <p:spPr>
          <a:xfrm>
            <a:off x="3227832" y="1755648"/>
            <a:ext cx="2679192" cy="2011680"/>
          </a:xfrm>
          <a:prstGeom prst="rect">
            <a:avLst/>
          </a:prstGeom>
        </p:spPr>
      </p:pic>
      <p:sp>
        <p:nvSpPr>
          <p:cNvPr id="13" name="Shape 9"/>
          <p:cNvSpPr/>
          <p:nvPr/>
        </p:nvSpPr>
        <p:spPr>
          <a:xfrm>
            <a:off x="3227832" y="1755648"/>
            <a:ext cx="2679192" cy="2011680"/>
          </a:xfrm>
          <a:prstGeom prst="rect">
            <a:avLst/>
          </a:prstGeom>
          <a:ln w="9525">
            <a:solidFill>
              <a:srgbClr val="D0D5DD"/>
            </a:solidFill>
            <a:prstDash val="solid"/>
          </a:ln>
        </p:spPr>
      </p:sp>
      <p:sp>
        <p:nvSpPr>
          <p:cNvPr id="14" name="Text 10"/>
          <p:cNvSpPr/>
          <p:nvPr/>
        </p:nvSpPr>
        <p:spPr>
          <a:xfrm>
            <a:off x="3227832"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Figure 27: A435ILE wide view</a:t>
            </a:r>
            <a:endParaRPr lang="en-US" sz="800" dirty="0"/>
          </a:p>
        </p:txBody>
      </p:sp>
      <p:pic>
        <p:nvPicPr>
          <p:cNvPr id="15" name="Image 2" descr="preencoded.png">    </p:cNvPr>
          <p:cNvPicPr>
            <a:picLocks noChangeAspect="1"/>
          </p:cNvPicPr>
          <p:nvPr/>
        </p:nvPicPr>
        <p:blipFill>
          <a:blip r:embed="rId3"/>
          <a:srcRect l="0" r="0" t="0" b="0"/>
          <a:stretch/>
        </p:blipFill>
        <p:spPr>
          <a:xfrm>
            <a:off x="5998464" y="1755648"/>
            <a:ext cx="2679192" cy="2011680"/>
          </a:xfrm>
          <a:prstGeom prst="rect">
            <a:avLst/>
          </a:prstGeom>
        </p:spPr>
      </p:pic>
      <p:sp>
        <p:nvSpPr>
          <p:cNvPr id="16" name="Shape 11"/>
          <p:cNvSpPr/>
          <p:nvPr/>
        </p:nvSpPr>
        <p:spPr>
          <a:xfrm>
            <a:off x="5998464" y="1755648"/>
            <a:ext cx="2679192" cy="2011680"/>
          </a:xfrm>
          <a:prstGeom prst="rect">
            <a:avLst/>
          </a:prstGeom>
          <a:ln w="9525">
            <a:solidFill>
              <a:srgbClr val="D0D5DD"/>
            </a:solidFill>
            <a:prstDash val="solid"/>
          </a:ln>
        </p:spPr>
      </p:sp>
      <p:sp>
        <p:nvSpPr>
          <p:cNvPr id="17" name="Text 12"/>
          <p:cNvSpPr/>
          <p:nvPr/>
        </p:nvSpPr>
        <p:spPr>
          <a:xfrm>
            <a:off x="5998464"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Figure 28: A429+A435ILE close-up — cumulative clash</a:t>
            </a:r>
            <a:endParaRPr lang="en-US" sz="800" dirty="0"/>
          </a:p>
        </p:txBody>
      </p:sp>
      <p:sp>
        <p:nvSpPr>
          <p:cNvPr id="18" name="Shape 13"/>
          <p:cNvSpPr/>
          <p:nvPr/>
        </p:nvSpPr>
        <p:spPr>
          <a:xfrm>
            <a:off x="457200" y="4160520"/>
            <a:ext cx="8229600" cy="822960"/>
          </a:xfrm>
          <a:prstGeom prst="roundRect">
            <a:avLst>
              <a:gd name="adj" fmla="val 6667"/>
            </a:avLst>
          </a:prstGeom>
          <a:solidFill>
            <a:srgbClr val="FFFFFF"/>
          </a:solidFill>
          <a:ln w="12700">
            <a:solidFill>
              <a:srgbClr val="E2E5EB"/>
            </a:solidFill>
            <a:prstDash val="solid"/>
          </a:ln>
          <a:effectLst>
            <a:outerShdw sx="100000" sy="100000" kx="0" ky="0" algn="bl" rotWithShape="0" blurRad="50800" dist="12700" dir="5400000">
              <a:srgbClr val="000000">
                <a:alpha val="8000"/>
              </a:srgbClr>
            </a:outerShdw>
          </a:effectLst>
        </p:spPr>
      </p:sp>
      <p:sp>
        <p:nvSpPr>
          <p:cNvPr id="19" name="Text 14"/>
          <p:cNvSpPr/>
          <p:nvPr/>
        </p:nvSpPr>
        <p:spPr>
          <a:xfrm>
            <a:off x="621792" y="4215384"/>
            <a:ext cx="7900416" cy="713232"/>
          </a:xfrm>
          <a:prstGeom prst="rect">
            <a:avLst/>
          </a:prstGeom>
          <a:noFill/>
          <a:ln/>
        </p:spPr>
        <p:txBody>
          <a:bodyPr wrap="square" rtlCol="0" anchor="ctr"/>
          <a:lstStyle/>
          <a:p>
            <a:pPr indent="0" marL="0">
              <a:lnSpc>
                <a:spcPct val="105000"/>
              </a:lnSpc>
              <a:buNone/>
            </a:pPr>
            <a:r>
              <a:rPr lang="en-US" sz="1050" b="1" dirty="0">
                <a:solidFill>
                  <a:srgbClr val="7D2620"/>
                </a:solidFill>
                <a:latin typeface="Calibri" pitchFamily="34" charset="0"/>
                <a:ea typeface="Calibri" pitchFamily="34" charset="-122"/>
                <a:cs typeface="Calibri" pitchFamily="34" charset="-120"/>
              </a:rPr>
              <a:t>Highest ΔΔG:  </a:t>
            </a:r>
            <a:pPr indent="0" marL="0">
              <a:lnSpc>
                <a:spcPct val="105000"/>
              </a:lnSpc>
              <a:buNone/>
            </a:pPr>
            <a:r>
              <a:rPr lang="en-US" sz="1050" dirty="0">
                <a:solidFill>
                  <a:srgbClr val="1A1A2E"/>
                </a:solidFill>
                <a:latin typeface="Calibri" pitchFamily="34" charset="0"/>
                <a:ea typeface="Calibri" pitchFamily="34" charset="-122"/>
                <a:cs typeface="Calibri" pitchFamily="34" charset="-120"/>
              </a:rPr>
              <a:t>Position A435 is even more sensitive to ILE’s volume than A429 (+409.291 REU). The combined double mutation produced the highest total ΔΔG value of the study (+517.966 REU), demonstrating that the SBD β-sandwich region has extremely limited tolerance for bulky amino acids.</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45C3B"/>
        </a:solidFill>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Discussion &amp; Astrobiological Interpretation</a:t>
            </a:r>
            <a:endParaRPr lang="en-US" sz="2600" dirty="0"/>
          </a:p>
        </p:txBody>
      </p:sp>
      <p:sp>
        <p:nvSpPr>
          <p:cNvPr id="3" name="Shape 1"/>
          <p:cNvSpPr/>
          <p:nvPr/>
        </p:nvSpPr>
        <p:spPr>
          <a:xfrm>
            <a:off x="457200" y="1005840"/>
            <a:ext cx="4069080" cy="1920240"/>
          </a:xfrm>
          <a:prstGeom prst="roundRect">
            <a:avLst>
              <a:gd name="adj" fmla="val 2857"/>
            </a:avLst>
          </a:prstGeom>
          <a:solidFill>
            <a:srgbClr val="FFFFFF"/>
          </a:solidFill>
          <a:ln/>
          <a:effectLst>
            <a:outerShdw sx="100000" sy="100000" kx="0" ky="0" algn="bl" rotWithShape="0" blurRad="50800" dist="12700" dir="5400000">
              <a:srgbClr val="000000">
                <a:alpha val="8000"/>
              </a:srgbClr>
            </a:outerShdw>
          </a:effectLst>
        </p:spPr>
      </p:sp>
      <p:sp>
        <p:nvSpPr>
          <p:cNvPr id="4" name="Shape 2"/>
          <p:cNvSpPr/>
          <p:nvPr/>
        </p:nvSpPr>
        <p:spPr>
          <a:xfrm>
            <a:off x="457200" y="1005840"/>
            <a:ext cx="4069080" cy="457200"/>
          </a:xfrm>
          <a:prstGeom prst="roundRect">
            <a:avLst>
              <a:gd name="adj" fmla="val 12000"/>
            </a:avLst>
          </a:prstGeom>
          <a:solidFill>
            <a:srgbClr val="2E75D6"/>
          </a:solidFill>
          <a:ln/>
        </p:spPr>
      </p:sp>
      <p:sp>
        <p:nvSpPr>
          <p:cNvPr id="5" name="Text 3"/>
          <p:cNvSpPr/>
          <p:nvPr/>
        </p:nvSpPr>
        <p:spPr>
          <a:xfrm>
            <a:off x="457200" y="1005840"/>
            <a:ext cx="40690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NVA’s Linker Stability</a:t>
            </a:r>
            <a:endParaRPr lang="en-US" sz="1300" dirty="0"/>
          </a:p>
        </p:txBody>
      </p:sp>
      <p:sp>
        <p:nvSpPr>
          <p:cNvPr id="6" name="Text 4"/>
          <p:cNvSpPr/>
          <p:nvPr/>
        </p:nvSpPr>
        <p:spPr>
          <a:xfrm>
            <a:off x="621792" y="1554480"/>
            <a:ext cx="3739896" cy="1298448"/>
          </a:xfrm>
          <a:prstGeom prst="rect">
            <a:avLst/>
          </a:prstGeom>
          <a:noFill/>
          <a:ln/>
        </p:spPr>
        <p:txBody>
          <a:bodyPr wrap="square" lIns="0" tIns="0" rIns="0" bIns="0" rtlCol="0" anchor="t"/>
          <a:lstStyle/>
          <a:p>
            <a:pPr indent="0" marL="0">
              <a:lnSpc>
                <a:spcPct val="108000"/>
              </a:lnSpc>
              <a:buNone/>
            </a:pPr>
            <a:r>
              <a:rPr lang="en-US" sz="1000" dirty="0">
                <a:solidFill>
                  <a:srgbClr val="1A1A2E"/>
                </a:solidFill>
                <a:latin typeface="Calibri" pitchFamily="34" charset="0"/>
                <a:ea typeface="Calibri" pitchFamily="34" charset="-122"/>
                <a:cs typeface="Calibri" pitchFamily="34" charset="-120"/>
              </a:rPr>
              <a:t>NVA’s straight-chain structure enables optimal packing within the linker’s hydrophobic pocket. The backbone conservation observed in Boltz-2 indicates that the linker conformational dynamics required for allosteric signaling are largely preserved.</a:t>
            </a:r>
            <a:endParaRPr lang="en-US" sz="1000" dirty="0"/>
          </a:p>
        </p:txBody>
      </p:sp>
      <p:sp>
        <p:nvSpPr>
          <p:cNvPr id="7" name="Shape 5"/>
          <p:cNvSpPr/>
          <p:nvPr/>
        </p:nvSpPr>
        <p:spPr>
          <a:xfrm>
            <a:off x="4617720" y="1005840"/>
            <a:ext cx="4069080" cy="1920240"/>
          </a:xfrm>
          <a:prstGeom prst="roundRect">
            <a:avLst>
              <a:gd name="adj" fmla="val 2857"/>
            </a:avLst>
          </a:prstGeom>
          <a:solidFill>
            <a:srgbClr val="FFFFFF"/>
          </a:solidFill>
          <a:ln/>
          <a:effectLst>
            <a:outerShdw sx="100000" sy="100000" kx="0" ky="0" algn="bl" rotWithShape="0" blurRad="50800" dist="12700" dir="5400000">
              <a:srgbClr val="000000">
                <a:alpha val="8000"/>
              </a:srgbClr>
            </a:outerShdw>
          </a:effectLst>
        </p:spPr>
      </p:sp>
      <p:sp>
        <p:nvSpPr>
          <p:cNvPr id="8" name="Shape 6"/>
          <p:cNvSpPr/>
          <p:nvPr/>
        </p:nvSpPr>
        <p:spPr>
          <a:xfrm>
            <a:off x="4617720" y="1005840"/>
            <a:ext cx="4069080" cy="457200"/>
          </a:xfrm>
          <a:prstGeom prst="roundRect">
            <a:avLst>
              <a:gd name="adj" fmla="val 12000"/>
            </a:avLst>
          </a:prstGeom>
          <a:solidFill>
            <a:srgbClr val="1C7293"/>
          </a:solidFill>
          <a:ln/>
        </p:spPr>
      </p:sp>
      <p:sp>
        <p:nvSpPr>
          <p:cNvPr id="9" name="Text 7"/>
          <p:cNvSpPr/>
          <p:nvPr/>
        </p:nvSpPr>
        <p:spPr>
          <a:xfrm>
            <a:off x="4617720" y="1005840"/>
            <a:ext cx="40690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SBD Position-Dependent Asymmetry</a:t>
            </a:r>
            <a:endParaRPr lang="en-US" sz="1300" dirty="0"/>
          </a:p>
        </p:txBody>
      </p:sp>
      <p:sp>
        <p:nvSpPr>
          <p:cNvPr id="10" name="Text 8"/>
          <p:cNvSpPr/>
          <p:nvPr/>
        </p:nvSpPr>
        <p:spPr>
          <a:xfrm>
            <a:off x="4782312" y="1554480"/>
            <a:ext cx="3739896" cy="1298448"/>
          </a:xfrm>
          <a:prstGeom prst="rect">
            <a:avLst/>
          </a:prstGeom>
          <a:noFill/>
          <a:ln/>
        </p:spPr>
        <p:txBody>
          <a:bodyPr wrap="square" lIns="0" tIns="0" rIns="0" bIns="0" rtlCol="0" anchor="t"/>
          <a:lstStyle/>
          <a:p>
            <a:pPr indent="0" marL="0">
              <a:lnSpc>
                <a:spcPct val="108000"/>
              </a:lnSpc>
              <a:buNone/>
            </a:pPr>
            <a:r>
              <a:rPr lang="en-US" sz="1000" dirty="0">
                <a:solidFill>
                  <a:srgbClr val="1A1A2E"/>
                </a:solidFill>
                <a:latin typeface="Calibri" pitchFamily="34" charset="0"/>
                <a:ea typeface="Calibri" pitchFamily="34" charset="-122"/>
                <a:cs typeface="Calibri" pitchFamily="34" charset="-120"/>
              </a:rPr>
              <a:t>The differing NVA results at A429 and A435 show that these positions occupy markedly different steric microenvironments. The extremely high SBD values for VAL and ILE indicate that this region has been evolutionarily optimized.</a:t>
            </a:r>
            <a:endParaRPr lang="en-US" sz="1000" dirty="0"/>
          </a:p>
        </p:txBody>
      </p:sp>
      <p:sp>
        <p:nvSpPr>
          <p:cNvPr id="11" name="Shape 9"/>
          <p:cNvSpPr/>
          <p:nvPr/>
        </p:nvSpPr>
        <p:spPr>
          <a:xfrm>
            <a:off x="457200" y="3035808"/>
            <a:ext cx="4069080" cy="1920240"/>
          </a:xfrm>
          <a:prstGeom prst="roundRect">
            <a:avLst>
              <a:gd name="adj" fmla="val 2857"/>
            </a:avLst>
          </a:prstGeom>
          <a:solidFill>
            <a:srgbClr val="FFFFFF"/>
          </a:solidFill>
          <a:ln/>
          <a:effectLst>
            <a:outerShdw sx="100000" sy="100000" kx="0" ky="0" algn="bl" rotWithShape="0" blurRad="50800" dist="12700" dir="5400000">
              <a:srgbClr val="000000">
                <a:alpha val="8000"/>
              </a:srgbClr>
            </a:outerShdw>
          </a:effectLst>
        </p:spPr>
      </p:sp>
      <p:sp>
        <p:nvSpPr>
          <p:cNvPr id="12" name="Shape 10"/>
          <p:cNvSpPr/>
          <p:nvPr/>
        </p:nvSpPr>
        <p:spPr>
          <a:xfrm>
            <a:off x="457200" y="3035808"/>
            <a:ext cx="4069080" cy="457200"/>
          </a:xfrm>
          <a:prstGeom prst="roundRect">
            <a:avLst>
              <a:gd name="adj" fmla="val 12000"/>
            </a:avLst>
          </a:prstGeom>
          <a:solidFill>
            <a:srgbClr val="1E8449"/>
          </a:solidFill>
          <a:ln/>
        </p:spPr>
      </p:sp>
      <p:sp>
        <p:nvSpPr>
          <p:cNvPr id="13" name="Text 11"/>
          <p:cNvSpPr/>
          <p:nvPr/>
        </p:nvSpPr>
        <p:spPr>
          <a:xfrm>
            <a:off x="457200" y="3035808"/>
            <a:ext cx="40690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Astrobiological Inference</a:t>
            </a:r>
            <a:endParaRPr lang="en-US" sz="1300" dirty="0"/>
          </a:p>
        </p:txBody>
      </p:sp>
      <p:sp>
        <p:nvSpPr>
          <p:cNvPr id="14" name="Text 12"/>
          <p:cNvSpPr/>
          <p:nvPr/>
        </p:nvSpPr>
        <p:spPr>
          <a:xfrm>
            <a:off x="621792" y="3584448"/>
            <a:ext cx="3739896" cy="1298448"/>
          </a:xfrm>
          <a:prstGeom prst="rect">
            <a:avLst/>
          </a:prstGeom>
          <a:noFill/>
          <a:ln/>
        </p:spPr>
        <p:txBody>
          <a:bodyPr wrap="square" lIns="0" tIns="0" rIns="0" bIns="0" rtlCol="0" anchor="t"/>
          <a:lstStyle/>
          <a:p>
            <a:pPr indent="0" marL="0">
              <a:lnSpc>
                <a:spcPct val="108000"/>
              </a:lnSpc>
              <a:buNone/>
            </a:pPr>
            <a:r>
              <a:rPr lang="en-US" sz="1000" dirty="0">
                <a:solidFill>
                  <a:srgbClr val="1A1A2E"/>
                </a:solidFill>
                <a:latin typeface="Calibri" pitchFamily="34" charset="0"/>
                <a:ea typeface="Calibri" pitchFamily="34" charset="-122"/>
                <a:cs typeface="Calibri" pitchFamily="34" charset="-120"/>
              </a:rPr>
              <a:t>NVA’s compatibility with the linker region and its stabilizing effect support the possibility that, if delivered to early Earth via asteroid impact, this amino acid could have been incorporated into primordial chaperone precursors.</a:t>
            </a:r>
            <a:endParaRPr lang="en-US" sz="1000" dirty="0"/>
          </a:p>
        </p:txBody>
      </p:sp>
      <p:sp>
        <p:nvSpPr>
          <p:cNvPr id="15" name="Shape 13"/>
          <p:cNvSpPr/>
          <p:nvPr/>
        </p:nvSpPr>
        <p:spPr>
          <a:xfrm>
            <a:off x="4617720" y="3035808"/>
            <a:ext cx="4069080" cy="1920240"/>
          </a:xfrm>
          <a:prstGeom prst="roundRect">
            <a:avLst>
              <a:gd name="adj" fmla="val 2857"/>
            </a:avLst>
          </a:prstGeom>
          <a:solidFill>
            <a:srgbClr val="FFFFFF"/>
          </a:solidFill>
          <a:ln/>
          <a:effectLst>
            <a:outerShdw sx="100000" sy="100000" kx="0" ky="0" algn="bl" rotWithShape="0" blurRad="50800" dist="12700" dir="5400000">
              <a:srgbClr val="000000">
                <a:alpha val="8000"/>
              </a:srgbClr>
            </a:outerShdw>
          </a:effectLst>
        </p:spPr>
      </p:sp>
      <p:sp>
        <p:nvSpPr>
          <p:cNvPr id="16" name="Shape 14"/>
          <p:cNvSpPr/>
          <p:nvPr/>
        </p:nvSpPr>
        <p:spPr>
          <a:xfrm>
            <a:off x="4617720" y="3035808"/>
            <a:ext cx="4069080" cy="457200"/>
          </a:xfrm>
          <a:prstGeom prst="roundRect">
            <a:avLst>
              <a:gd name="adj" fmla="val 12000"/>
            </a:avLst>
          </a:prstGeom>
          <a:solidFill>
            <a:srgbClr val="6B4226"/>
          </a:solidFill>
          <a:ln/>
        </p:spPr>
      </p:sp>
      <p:sp>
        <p:nvSpPr>
          <p:cNvPr id="17" name="Text 15"/>
          <p:cNvSpPr/>
          <p:nvPr/>
        </p:nvSpPr>
        <p:spPr>
          <a:xfrm>
            <a:off x="4617720" y="3035808"/>
            <a:ext cx="40690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Methodological Limitations</a:t>
            </a:r>
            <a:endParaRPr lang="en-US" sz="1300" dirty="0"/>
          </a:p>
        </p:txBody>
      </p:sp>
      <p:sp>
        <p:nvSpPr>
          <p:cNvPr id="18" name="Text 16"/>
          <p:cNvSpPr/>
          <p:nvPr/>
        </p:nvSpPr>
        <p:spPr>
          <a:xfrm>
            <a:off x="4782312" y="3584448"/>
            <a:ext cx="3739896" cy="1298448"/>
          </a:xfrm>
          <a:prstGeom prst="rect">
            <a:avLst/>
          </a:prstGeom>
          <a:noFill/>
          <a:ln/>
        </p:spPr>
        <p:txBody>
          <a:bodyPr wrap="square" lIns="0" tIns="0" rIns="0" bIns="0" rtlCol="0" anchor="t"/>
          <a:lstStyle/>
          <a:p>
            <a:pPr indent="0" marL="0">
              <a:lnSpc>
                <a:spcPct val="108000"/>
              </a:lnSpc>
              <a:buNone/>
            </a:pPr>
            <a:r>
              <a:rPr lang="en-US" sz="1000" dirty="0">
                <a:solidFill>
                  <a:srgbClr val="1A1A2E"/>
                </a:solidFill>
                <a:latin typeface="Calibri" pitchFamily="34" charset="0"/>
                <a:ea typeface="Calibri" pitchFamily="34" charset="-122"/>
                <a:cs typeface="Calibri" pitchFamily="34" charset="-120"/>
              </a:rPr>
              <a:t>The absence of backbone minimization may lead to overestimated REU values. Missing rotamer libraries for NLE, ABA, and B3A prevented their calculation. Boltz-2’s static predictions do not capture allosteric dynamics.</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A"/>
        </a:solidFill>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Conclusion</a:t>
            </a:r>
            <a:endParaRPr lang="en-US" sz="3000" dirty="0"/>
          </a:p>
        </p:txBody>
      </p:sp>
      <p:sp>
        <p:nvSpPr>
          <p:cNvPr id="3" name="Shape 1"/>
          <p:cNvSpPr/>
          <p:nvPr/>
        </p:nvSpPr>
        <p:spPr>
          <a:xfrm>
            <a:off x="457200" y="914400"/>
            <a:ext cx="8229600" cy="713232"/>
          </a:xfrm>
          <a:prstGeom prst="roundRect">
            <a:avLst>
              <a:gd name="adj" fmla="val 7692"/>
            </a:avLst>
          </a:prstGeom>
          <a:solidFill>
            <a:srgbClr val="FFFFFF"/>
          </a:solidFill>
          <a:ln/>
          <a:effectLst>
            <a:outerShdw sx="100000" sy="100000" kx="0" ky="0" algn="bl" rotWithShape="0" blurRad="50800" dist="12700" dir="5400000">
              <a:srgbClr val="000000">
                <a:alpha val="8000"/>
              </a:srgbClr>
            </a:outerShdw>
          </a:effectLst>
        </p:spPr>
      </p:sp>
      <p:sp>
        <p:nvSpPr>
          <p:cNvPr id="4" name="Shape 2"/>
          <p:cNvSpPr/>
          <p:nvPr/>
        </p:nvSpPr>
        <p:spPr>
          <a:xfrm>
            <a:off x="566928" y="1042416"/>
            <a:ext cx="777240" cy="457200"/>
          </a:xfrm>
          <a:prstGeom prst="roundRect">
            <a:avLst>
              <a:gd name="adj" fmla="val 12000"/>
            </a:avLst>
          </a:prstGeom>
          <a:solidFill>
            <a:srgbClr val="2E75D6"/>
          </a:solidFill>
          <a:ln/>
        </p:spPr>
      </p:sp>
      <p:sp>
        <p:nvSpPr>
          <p:cNvPr id="5" name="Text 3"/>
          <p:cNvSpPr/>
          <p:nvPr/>
        </p:nvSpPr>
        <p:spPr>
          <a:xfrm>
            <a:off x="566928" y="1042416"/>
            <a:ext cx="7772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NVA</a:t>
            </a:r>
            <a:endParaRPr lang="en-US" sz="1300" dirty="0"/>
          </a:p>
        </p:txBody>
      </p:sp>
      <p:sp>
        <p:nvSpPr>
          <p:cNvPr id="6" name="Text 4"/>
          <p:cNvSpPr/>
          <p:nvPr/>
        </p:nvSpPr>
        <p:spPr>
          <a:xfrm>
            <a:off x="1481328" y="969264"/>
            <a:ext cx="7114032" cy="603504"/>
          </a:xfrm>
          <a:prstGeom prst="rect">
            <a:avLst/>
          </a:prstGeom>
          <a:noFill/>
          <a:ln/>
        </p:spPr>
        <p:txBody>
          <a:bodyPr wrap="square" lIns="0" tIns="0" rIns="0" bIns="0" rtlCol="0" anchor="ctr"/>
          <a:lstStyle/>
          <a:p>
            <a:pPr indent="0" marL="0">
              <a:lnSpc>
                <a:spcPct val="105000"/>
              </a:lnSpc>
              <a:buNone/>
            </a:pPr>
            <a:r>
              <a:rPr lang="en-US" sz="1050" dirty="0">
                <a:solidFill>
                  <a:srgbClr val="1A1A2E"/>
                </a:solidFill>
                <a:latin typeface="Calibri" pitchFamily="34" charset="0"/>
                <a:ea typeface="Calibri" pitchFamily="34" charset="-122"/>
                <a:cs typeface="Calibri" pitchFamily="34" charset="-120"/>
              </a:rPr>
              <a:t>NVA exhibited a strong stabilizing effect in the linker region (ΔΔG = −6.090 REU, double mutation). The overall backbone geometry was preserved — supporting continuity of allosteric signaling.</a:t>
            </a:r>
            <a:endParaRPr lang="en-US" sz="1050" dirty="0"/>
          </a:p>
        </p:txBody>
      </p:sp>
      <p:sp>
        <p:nvSpPr>
          <p:cNvPr id="7" name="Shape 5"/>
          <p:cNvSpPr/>
          <p:nvPr/>
        </p:nvSpPr>
        <p:spPr>
          <a:xfrm>
            <a:off x="457200" y="1737360"/>
            <a:ext cx="8229600" cy="713232"/>
          </a:xfrm>
          <a:prstGeom prst="roundRect">
            <a:avLst>
              <a:gd name="adj" fmla="val 7692"/>
            </a:avLst>
          </a:prstGeom>
          <a:solidFill>
            <a:srgbClr val="FFFFFF"/>
          </a:solidFill>
          <a:ln/>
          <a:effectLst>
            <a:outerShdw sx="100000" sy="100000" kx="0" ky="0" algn="bl" rotWithShape="0" blurRad="50800" dist="12700" dir="5400000">
              <a:srgbClr val="000000">
                <a:alpha val="8000"/>
              </a:srgbClr>
            </a:outerShdw>
          </a:effectLst>
        </p:spPr>
      </p:sp>
      <p:sp>
        <p:nvSpPr>
          <p:cNvPr id="8" name="Shape 6"/>
          <p:cNvSpPr/>
          <p:nvPr/>
        </p:nvSpPr>
        <p:spPr>
          <a:xfrm>
            <a:off x="566928" y="1865376"/>
            <a:ext cx="777240" cy="457200"/>
          </a:xfrm>
          <a:prstGeom prst="roundRect">
            <a:avLst>
              <a:gd name="adj" fmla="val 12000"/>
            </a:avLst>
          </a:prstGeom>
          <a:solidFill>
            <a:srgbClr val="1C7293"/>
          </a:solidFill>
          <a:ln/>
        </p:spPr>
      </p:sp>
      <p:sp>
        <p:nvSpPr>
          <p:cNvPr id="9" name="Text 7"/>
          <p:cNvSpPr/>
          <p:nvPr/>
        </p:nvSpPr>
        <p:spPr>
          <a:xfrm>
            <a:off x="566928" y="1865376"/>
            <a:ext cx="7772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VAL</a:t>
            </a:r>
            <a:endParaRPr lang="en-US" sz="1300" dirty="0"/>
          </a:p>
        </p:txBody>
      </p:sp>
      <p:sp>
        <p:nvSpPr>
          <p:cNvPr id="10" name="Text 8"/>
          <p:cNvSpPr/>
          <p:nvPr/>
        </p:nvSpPr>
        <p:spPr>
          <a:xfrm>
            <a:off x="1481328" y="1792224"/>
            <a:ext cx="7114032" cy="603504"/>
          </a:xfrm>
          <a:prstGeom prst="rect">
            <a:avLst/>
          </a:prstGeom>
          <a:noFill/>
          <a:ln/>
        </p:spPr>
        <p:txBody>
          <a:bodyPr wrap="square" lIns="0" tIns="0" rIns="0" bIns="0" rtlCol="0" anchor="ctr"/>
          <a:lstStyle/>
          <a:p>
            <a:pPr indent="0" marL="0">
              <a:lnSpc>
                <a:spcPct val="105000"/>
              </a:lnSpc>
              <a:buNone/>
            </a:pPr>
            <a:r>
              <a:rPr lang="en-US" sz="1050" dirty="0">
                <a:solidFill>
                  <a:srgbClr val="1A1A2E"/>
                </a:solidFill>
                <a:latin typeface="Calibri" pitchFamily="34" charset="0"/>
                <a:ea typeface="Calibri" pitchFamily="34" charset="-122"/>
                <a:cs typeface="Calibri" pitchFamily="34" charset="-120"/>
              </a:rPr>
              <a:t>VAL provided stabilization at linker L390 but produced position-dependent differences elsewhere — the steric effect of β-branching is decisive.</a:t>
            </a:r>
            <a:endParaRPr lang="en-US" sz="1050" dirty="0"/>
          </a:p>
        </p:txBody>
      </p:sp>
      <p:sp>
        <p:nvSpPr>
          <p:cNvPr id="11" name="Shape 9"/>
          <p:cNvSpPr/>
          <p:nvPr/>
        </p:nvSpPr>
        <p:spPr>
          <a:xfrm>
            <a:off x="457200" y="2560320"/>
            <a:ext cx="8229600" cy="713232"/>
          </a:xfrm>
          <a:prstGeom prst="roundRect">
            <a:avLst>
              <a:gd name="adj" fmla="val 7692"/>
            </a:avLst>
          </a:prstGeom>
          <a:solidFill>
            <a:srgbClr val="FFFFFF"/>
          </a:solidFill>
          <a:ln/>
          <a:effectLst>
            <a:outerShdw sx="100000" sy="100000" kx="0" ky="0" algn="bl" rotWithShape="0" blurRad="50800" dist="12700" dir="5400000">
              <a:srgbClr val="000000">
                <a:alpha val="8000"/>
              </a:srgbClr>
            </a:outerShdw>
          </a:effectLst>
        </p:spPr>
      </p:sp>
      <p:sp>
        <p:nvSpPr>
          <p:cNvPr id="12" name="Shape 10"/>
          <p:cNvSpPr/>
          <p:nvPr/>
        </p:nvSpPr>
        <p:spPr>
          <a:xfrm>
            <a:off x="566928" y="2688336"/>
            <a:ext cx="777240" cy="457200"/>
          </a:xfrm>
          <a:prstGeom prst="roundRect">
            <a:avLst>
              <a:gd name="adj" fmla="val 12000"/>
            </a:avLst>
          </a:prstGeom>
          <a:solidFill>
            <a:srgbClr val="C0392B"/>
          </a:solidFill>
          <a:ln/>
        </p:spPr>
      </p:sp>
      <p:sp>
        <p:nvSpPr>
          <p:cNvPr id="13" name="Text 11"/>
          <p:cNvSpPr/>
          <p:nvPr/>
        </p:nvSpPr>
        <p:spPr>
          <a:xfrm>
            <a:off x="566928" y="2688336"/>
            <a:ext cx="7772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ILE</a:t>
            </a:r>
            <a:endParaRPr lang="en-US" sz="1300" dirty="0"/>
          </a:p>
        </p:txBody>
      </p:sp>
      <p:sp>
        <p:nvSpPr>
          <p:cNvPr id="14" name="Text 12"/>
          <p:cNvSpPr/>
          <p:nvPr/>
        </p:nvSpPr>
        <p:spPr>
          <a:xfrm>
            <a:off x="1481328" y="2615184"/>
            <a:ext cx="7114032" cy="603504"/>
          </a:xfrm>
          <a:prstGeom prst="rect">
            <a:avLst/>
          </a:prstGeom>
          <a:noFill/>
          <a:ln/>
        </p:spPr>
        <p:txBody>
          <a:bodyPr wrap="square" lIns="0" tIns="0" rIns="0" bIns="0" rtlCol="0" anchor="ctr"/>
          <a:lstStyle/>
          <a:p>
            <a:pPr indent="0" marL="0">
              <a:lnSpc>
                <a:spcPct val="105000"/>
              </a:lnSpc>
              <a:buNone/>
            </a:pPr>
            <a:r>
              <a:rPr lang="en-US" sz="1050" dirty="0">
                <a:solidFill>
                  <a:srgbClr val="1A1A2E"/>
                </a:solidFill>
                <a:latin typeface="Calibri" pitchFamily="34" charset="0"/>
                <a:ea typeface="Calibri" pitchFamily="34" charset="-122"/>
                <a:cs typeface="Calibri" pitchFamily="34" charset="-120"/>
              </a:rPr>
              <a:t>ILE and AIB produced marked destabilization at all linker and SBD positions. The ILE SBD double mutant reached the study’s maximum value of +517.966 REU.</a:t>
            </a:r>
            <a:endParaRPr lang="en-US" sz="1050" dirty="0"/>
          </a:p>
        </p:txBody>
      </p:sp>
      <p:sp>
        <p:nvSpPr>
          <p:cNvPr id="15" name="Shape 13"/>
          <p:cNvSpPr/>
          <p:nvPr/>
        </p:nvSpPr>
        <p:spPr>
          <a:xfrm>
            <a:off x="457200" y="3383280"/>
            <a:ext cx="8229600" cy="713232"/>
          </a:xfrm>
          <a:prstGeom prst="roundRect">
            <a:avLst>
              <a:gd name="adj" fmla="val 7692"/>
            </a:avLst>
          </a:prstGeom>
          <a:solidFill>
            <a:srgbClr val="FFFFFF"/>
          </a:solidFill>
          <a:ln/>
          <a:effectLst>
            <a:outerShdw sx="100000" sy="100000" kx="0" ky="0" algn="bl" rotWithShape="0" blurRad="50800" dist="12700" dir="5400000">
              <a:srgbClr val="000000">
                <a:alpha val="8000"/>
              </a:srgbClr>
            </a:outerShdw>
          </a:effectLst>
        </p:spPr>
      </p:sp>
      <p:sp>
        <p:nvSpPr>
          <p:cNvPr id="16" name="Shape 14"/>
          <p:cNvSpPr/>
          <p:nvPr/>
        </p:nvSpPr>
        <p:spPr>
          <a:xfrm>
            <a:off x="566928" y="3511296"/>
            <a:ext cx="777240" cy="457200"/>
          </a:xfrm>
          <a:prstGeom prst="roundRect">
            <a:avLst>
              <a:gd name="adj" fmla="val 12000"/>
            </a:avLst>
          </a:prstGeom>
          <a:solidFill>
            <a:srgbClr val="1E8449"/>
          </a:solidFill>
          <a:ln/>
        </p:spPr>
      </p:sp>
      <p:sp>
        <p:nvSpPr>
          <p:cNvPr id="17" name="Text 15"/>
          <p:cNvSpPr/>
          <p:nvPr/>
        </p:nvSpPr>
        <p:spPr>
          <a:xfrm>
            <a:off x="566928" y="3511296"/>
            <a:ext cx="7772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SBD</a:t>
            </a:r>
            <a:endParaRPr lang="en-US" sz="1300" dirty="0"/>
          </a:p>
        </p:txBody>
      </p:sp>
      <p:sp>
        <p:nvSpPr>
          <p:cNvPr id="18" name="Text 16"/>
          <p:cNvSpPr/>
          <p:nvPr/>
        </p:nvSpPr>
        <p:spPr>
          <a:xfrm>
            <a:off x="1481328" y="3438144"/>
            <a:ext cx="7114032" cy="603504"/>
          </a:xfrm>
          <a:prstGeom prst="rect">
            <a:avLst/>
          </a:prstGeom>
          <a:noFill/>
          <a:ln/>
        </p:spPr>
        <p:txBody>
          <a:bodyPr wrap="square" lIns="0" tIns="0" rIns="0" bIns="0" rtlCol="0" anchor="ctr"/>
          <a:lstStyle/>
          <a:p>
            <a:pPr indent="0" marL="0">
              <a:lnSpc>
                <a:spcPct val="105000"/>
              </a:lnSpc>
              <a:buNone/>
            </a:pPr>
            <a:r>
              <a:rPr lang="en-US" sz="1050" dirty="0">
                <a:solidFill>
                  <a:srgbClr val="1A1A2E"/>
                </a:solidFill>
                <a:latin typeface="Calibri" pitchFamily="34" charset="0"/>
                <a:ea typeface="Calibri" pitchFamily="34" charset="-122"/>
                <a:cs typeface="Calibri" pitchFamily="34" charset="-120"/>
              </a:rPr>
              <a:t>The SBD β-sandwich region shows extremely limited tolerance for bulky amino acids — evidence of evolutionary optimization.</a:t>
            </a:r>
            <a:endParaRPr lang="en-US" sz="1050" dirty="0"/>
          </a:p>
        </p:txBody>
      </p:sp>
      <p:sp>
        <p:nvSpPr>
          <p:cNvPr id="19" name="Shape 17"/>
          <p:cNvSpPr/>
          <p:nvPr/>
        </p:nvSpPr>
        <p:spPr>
          <a:xfrm>
            <a:off x="457200" y="4206240"/>
            <a:ext cx="8229600" cy="822960"/>
          </a:xfrm>
          <a:prstGeom prst="roundRect">
            <a:avLst>
              <a:gd name="adj" fmla="val 6667"/>
            </a:avLst>
          </a:prstGeom>
          <a:solidFill>
            <a:srgbClr val="1B2A4A"/>
          </a:solidFill>
          <a:ln/>
        </p:spPr>
      </p:sp>
      <p:sp>
        <p:nvSpPr>
          <p:cNvPr id="20" name="Text 18"/>
          <p:cNvSpPr/>
          <p:nvPr/>
        </p:nvSpPr>
        <p:spPr>
          <a:xfrm>
            <a:off x="685800" y="4206240"/>
            <a:ext cx="7772400" cy="822960"/>
          </a:xfrm>
          <a:prstGeom prst="rect">
            <a:avLst/>
          </a:prstGeom>
          <a:noFill/>
          <a:ln/>
        </p:spPr>
        <p:txBody>
          <a:bodyPr wrap="square" lIns="0" tIns="0" rIns="0" bIns="0" rtlCol="0" anchor="ctr"/>
          <a:lstStyle/>
          <a:p>
            <a:pPr indent="0" marL="0">
              <a:lnSpc>
                <a:spcPct val="110000"/>
              </a:lnSpc>
              <a:buNone/>
            </a:pPr>
            <a:r>
              <a:rPr lang="en-US" sz="1600" b="1" dirty="0">
                <a:solidFill>
                  <a:srgbClr val="F4C542"/>
                </a:solidFill>
                <a:latin typeface="Calibri" pitchFamily="34" charset="0"/>
                <a:ea typeface="Calibri" pitchFamily="34" charset="-122"/>
                <a:cs typeface="Calibri" pitchFamily="34" charset="-120"/>
              </a:rPr>
              <a:t>★  </a:t>
            </a:r>
            <a:pPr indent="0" marL="0">
              <a:lnSpc>
                <a:spcPct val="110000"/>
              </a:lnSpc>
              <a:buNone/>
            </a:pPr>
            <a:r>
              <a:rPr lang="en-US" sz="1150" dirty="0">
                <a:solidFill>
                  <a:srgbClr val="FFFFFF"/>
                </a:solidFill>
                <a:latin typeface="Calibri" pitchFamily="34" charset="0"/>
                <a:ea typeface="Calibri" pitchFamily="34" charset="-122"/>
                <a:cs typeface="Calibri" pitchFamily="34" charset="-120"/>
              </a:rPr>
              <a:t>NVA’s compatibility with the linker and its stabilizing effect support the astrobiological hypothesis that this amino acid may have been incorporated into primordial chaperone precursors.</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A"/>
        </a:solidFill>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References</a:t>
            </a:r>
            <a:endParaRPr lang="en-US" sz="3000" dirty="0"/>
          </a:p>
        </p:txBody>
      </p:sp>
      <p:sp>
        <p:nvSpPr>
          <p:cNvPr id="3" name="Shape 1"/>
          <p:cNvSpPr/>
          <p:nvPr/>
        </p:nvSpPr>
        <p:spPr>
          <a:xfrm>
            <a:off x="457200" y="914400"/>
            <a:ext cx="4023360" cy="640080"/>
          </a:xfrm>
          <a:prstGeom prst="roundRect">
            <a:avLst>
              <a:gd name="adj" fmla="val 8571"/>
            </a:avLst>
          </a:prstGeom>
          <a:solidFill>
            <a:srgbClr val="FFFFFF"/>
          </a:solidFill>
          <a:ln/>
          <a:effectLst>
            <a:outerShdw sx="100000" sy="100000" kx="0" ky="0" algn="bl" rotWithShape="0" blurRad="38100" dist="12700" dir="5400000">
              <a:srgbClr val="000000">
                <a:alpha val="7000"/>
              </a:srgbClr>
            </a:outerShdw>
          </a:effectLst>
        </p:spPr>
      </p:sp>
      <p:sp>
        <p:nvSpPr>
          <p:cNvPr id="4" name="Text 2"/>
          <p:cNvSpPr/>
          <p:nvPr/>
        </p:nvSpPr>
        <p:spPr>
          <a:xfrm>
            <a:off x="603504" y="950976"/>
            <a:ext cx="3730752" cy="566928"/>
          </a:xfrm>
          <a:prstGeom prst="rect">
            <a:avLst/>
          </a:prstGeom>
          <a:noFill/>
          <a:ln/>
        </p:spPr>
        <p:txBody>
          <a:bodyPr wrap="square" lIns="0" tIns="0" rIns="0" bIns="0" rtlCol="0" anchor="ctr"/>
          <a:lstStyle/>
          <a:p>
            <a:pPr indent="0" marL="0">
              <a:lnSpc>
                <a:spcPct val="100000"/>
              </a:lnSpc>
              <a:buNone/>
            </a:pPr>
            <a:r>
              <a:rPr lang="en-US" sz="900" b="1" dirty="0">
                <a:solidFill>
                  <a:srgbClr val="2E75D6"/>
                </a:solidFill>
                <a:latin typeface="Calibri" pitchFamily="34" charset="0"/>
                <a:ea typeface="Calibri" pitchFamily="34" charset="-122"/>
                <a:cs typeface="Calibri" pitchFamily="34" charset="-120"/>
              </a:rPr>
              <a:t>[1]  </a:t>
            </a:r>
            <a:pPr indent="0" marL="0">
              <a:lnSpc>
                <a:spcPct val="100000"/>
              </a:lnSpc>
              <a:buNone/>
            </a:pPr>
            <a:r>
              <a:rPr lang="en-US" sz="900" dirty="0">
                <a:solidFill>
                  <a:srgbClr val="1A1A2E"/>
                </a:solidFill>
                <a:latin typeface="Calibri" pitchFamily="34" charset="0"/>
                <a:ea typeface="Calibri" pitchFamily="34" charset="-122"/>
                <a:cs typeface="Calibri" pitchFamily="34" charset="-120"/>
              </a:rPr>
              <a:t>Bertelsen et al. (2009). Solution conformation of wild-type E. coli Hsp70 (DnaK). PNAS, 106(20), 8471–8476.</a:t>
            </a:r>
            <a:endParaRPr lang="en-US" sz="900" dirty="0"/>
          </a:p>
        </p:txBody>
      </p:sp>
      <p:sp>
        <p:nvSpPr>
          <p:cNvPr id="5" name="Shape 3"/>
          <p:cNvSpPr/>
          <p:nvPr/>
        </p:nvSpPr>
        <p:spPr>
          <a:xfrm>
            <a:off x="457200" y="1618488"/>
            <a:ext cx="4023360" cy="640080"/>
          </a:xfrm>
          <a:prstGeom prst="roundRect">
            <a:avLst>
              <a:gd name="adj" fmla="val 8571"/>
            </a:avLst>
          </a:prstGeom>
          <a:solidFill>
            <a:srgbClr val="FFFFFF"/>
          </a:solidFill>
          <a:ln/>
          <a:effectLst>
            <a:outerShdw sx="100000" sy="100000" kx="0" ky="0" algn="bl" rotWithShape="0" blurRad="38100" dist="12700" dir="5400000">
              <a:srgbClr val="000000">
                <a:alpha val="7000"/>
              </a:srgbClr>
            </a:outerShdw>
          </a:effectLst>
        </p:spPr>
      </p:sp>
      <p:sp>
        <p:nvSpPr>
          <p:cNvPr id="6" name="Text 4"/>
          <p:cNvSpPr/>
          <p:nvPr/>
        </p:nvSpPr>
        <p:spPr>
          <a:xfrm>
            <a:off x="603504" y="1655064"/>
            <a:ext cx="3730752" cy="566928"/>
          </a:xfrm>
          <a:prstGeom prst="rect">
            <a:avLst/>
          </a:prstGeom>
          <a:noFill/>
          <a:ln/>
        </p:spPr>
        <p:txBody>
          <a:bodyPr wrap="square" lIns="0" tIns="0" rIns="0" bIns="0" rtlCol="0" anchor="ctr"/>
          <a:lstStyle/>
          <a:p>
            <a:pPr indent="0" marL="0">
              <a:lnSpc>
                <a:spcPct val="100000"/>
              </a:lnSpc>
              <a:buNone/>
            </a:pPr>
            <a:r>
              <a:rPr lang="en-US" sz="900" b="1" dirty="0">
                <a:solidFill>
                  <a:srgbClr val="2E75D6"/>
                </a:solidFill>
                <a:latin typeface="Calibri" pitchFamily="34" charset="0"/>
                <a:ea typeface="Calibri" pitchFamily="34" charset="-122"/>
                <a:cs typeface="Calibri" pitchFamily="34" charset="-120"/>
              </a:rPr>
              <a:t>[2]  </a:t>
            </a:r>
            <a:pPr indent="0" marL="0">
              <a:lnSpc>
                <a:spcPct val="100000"/>
              </a:lnSpc>
              <a:buNone/>
            </a:pPr>
            <a:r>
              <a:rPr lang="en-US" sz="900" dirty="0">
                <a:solidFill>
                  <a:srgbClr val="1A1A2E"/>
                </a:solidFill>
                <a:latin typeface="Calibri" pitchFamily="34" charset="0"/>
                <a:ea typeface="Calibri" pitchFamily="34" charset="-122"/>
                <a:cs typeface="Calibri" pitchFamily="34" charset="-120"/>
              </a:rPr>
              <a:t>Bukau &amp; Horwich (1998). The Hsp70 and Hsp60 chaperone machines. Cell, 92(3), 351–366.</a:t>
            </a:r>
            <a:endParaRPr lang="en-US" sz="900" dirty="0"/>
          </a:p>
        </p:txBody>
      </p:sp>
      <p:sp>
        <p:nvSpPr>
          <p:cNvPr id="7" name="Shape 5"/>
          <p:cNvSpPr/>
          <p:nvPr/>
        </p:nvSpPr>
        <p:spPr>
          <a:xfrm>
            <a:off x="457200" y="2322576"/>
            <a:ext cx="4023360" cy="640080"/>
          </a:xfrm>
          <a:prstGeom prst="roundRect">
            <a:avLst>
              <a:gd name="adj" fmla="val 8571"/>
            </a:avLst>
          </a:prstGeom>
          <a:solidFill>
            <a:srgbClr val="FFFFFF"/>
          </a:solidFill>
          <a:ln/>
          <a:effectLst>
            <a:outerShdw sx="100000" sy="100000" kx="0" ky="0" algn="bl" rotWithShape="0" blurRad="38100" dist="12700" dir="5400000">
              <a:srgbClr val="000000">
                <a:alpha val="7000"/>
              </a:srgbClr>
            </a:outerShdw>
          </a:effectLst>
        </p:spPr>
      </p:sp>
      <p:sp>
        <p:nvSpPr>
          <p:cNvPr id="8" name="Text 6"/>
          <p:cNvSpPr/>
          <p:nvPr/>
        </p:nvSpPr>
        <p:spPr>
          <a:xfrm>
            <a:off x="603504" y="2359152"/>
            <a:ext cx="3730752" cy="566928"/>
          </a:xfrm>
          <a:prstGeom prst="rect">
            <a:avLst/>
          </a:prstGeom>
          <a:noFill/>
          <a:ln/>
        </p:spPr>
        <p:txBody>
          <a:bodyPr wrap="square" lIns="0" tIns="0" rIns="0" bIns="0" rtlCol="0" anchor="ctr"/>
          <a:lstStyle/>
          <a:p>
            <a:pPr indent="0" marL="0">
              <a:lnSpc>
                <a:spcPct val="100000"/>
              </a:lnSpc>
              <a:buNone/>
            </a:pPr>
            <a:r>
              <a:rPr lang="en-US" sz="900" b="1" dirty="0">
                <a:solidFill>
                  <a:srgbClr val="2E75D6"/>
                </a:solidFill>
                <a:latin typeface="Calibri" pitchFamily="34" charset="0"/>
                <a:ea typeface="Calibri" pitchFamily="34" charset="-122"/>
                <a:cs typeface="Calibri" pitchFamily="34" charset="-120"/>
              </a:rPr>
              <a:t>[3]  </a:t>
            </a:r>
            <a:pPr indent="0" marL="0">
              <a:lnSpc>
                <a:spcPct val="100000"/>
              </a:lnSpc>
              <a:buNone/>
            </a:pPr>
            <a:r>
              <a:rPr lang="en-US" sz="900" dirty="0">
                <a:solidFill>
                  <a:srgbClr val="1A1A2E"/>
                </a:solidFill>
                <a:latin typeface="Calibri" pitchFamily="34" charset="0"/>
                <a:ea typeface="Calibri" pitchFamily="34" charset="-122"/>
                <a:cs typeface="Calibri" pitchFamily="34" charset="-120"/>
              </a:rPr>
              <a:t>Glavin et al. (2023). The significance of meteoritic amino acids. Chemical Reviews, 123(21), 12478–12528.</a:t>
            </a:r>
            <a:endParaRPr lang="en-US" sz="900" dirty="0"/>
          </a:p>
        </p:txBody>
      </p:sp>
      <p:sp>
        <p:nvSpPr>
          <p:cNvPr id="9" name="Shape 7"/>
          <p:cNvSpPr/>
          <p:nvPr/>
        </p:nvSpPr>
        <p:spPr>
          <a:xfrm>
            <a:off x="457200" y="3026664"/>
            <a:ext cx="4023360" cy="640080"/>
          </a:xfrm>
          <a:prstGeom prst="roundRect">
            <a:avLst>
              <a:gd name="adj" fmla="val 8571"/>
            </a:avLst>
          </a:prstGeom>
          <a:solidFill>
            <a:srgbClr val="FFFFFF"/>
          </a:solidFill>
          <a:ln/>
          <a:effectLst>
            <a:outerShdw sx="100000" sy="100000" kx="0" ky="0" algn="bl" rotWithShape="0" blurRad="38100" dist="12700" dir="5400000">
              <a:srgbClr val="000000">
                <a:alpha val="7000"/>
              </a:srgbClr>
            </a:outerShdw>
          </a:effectLst>
        </p:spPr>
      </p:sp>
      <p:sp>
        <p:nvSpPr>
          <p:cNvPr id="10" name="Text 8"/>
          <p:cNvSpPr/>
          <p:nvPr/>
        </p:nvSpPr>
        <p:spPr>
          <a:xfrm>
            <a:off x="603504" y="3063240"/>
            <a:ext cx="3730752" cy="566928"/>
          </a:xfrm>
          <a:prstGeom prst="rect">
            <a:avLst/>
          </a:prstGeom>
          <a:noFill/>
          <a:ln/>
        </p:spPr>
        <p:txBody>
          <a:bodyPr wrap="square" lIns="0" tIns="0" rIns="0" bIns="0" rtlCol="0" anchor="ctr"/>
          <a:lstStyle/>
          <a:p>
            <a:pPr indent="0" marL="0">
              <a:lnSpc>
                <a:spcPct val="100000"/>
              </a:lnSpc>
              <a:buNone/>
            </a:pPr>
            <a:r>
              <a:rPr lang="en-US" sz="900" b="1" dirty="0">
                <a:solidFill>
                  <a:srgbClr val="2E75D6"/>
                </a:solidFill>
                <a:latin typeface="Calibri" pitchFamily="34" charset="0"/>
                <a:ea typeface="Calibri" pitchFamily="34" charset="-122"/>
                <a:cs typeface="Calibri" pitchFamily="34" charset="-120"/>
              </a:rPr>
              <a:t>[4]  </a:t>
            </a:r>
            <a:pPr indent="0" marL="0">
              <a:lnSpc>
                <a:spcPct val="100000"/>
              </a:lnSpc>
              <a:buNone/>
            </a:pPr>
            <a:r>
              <a:rPr lang="en-US" sz="900" dirty="0">
                <a:solidFill>
                  <a:srgbClr val="1A1A2E"/>
                </a:solidFill>
                <a:latin typeface="Calibri" pitchFamily="34" charset="0"/>
                <a:ea typeface="Calibri" pitchFamily="34" charset="-122"/>
                <a:cs typeface="Calibri" pitchFamily="34" charset="-120"/>
              </a:rPr>
              <a:t>Hartl et al. (2011). Molecular chaperones in protein folding and proteostasis. Nature, 475(7356), 324–332.</a:t>
            </a:r>
            <a:endParaRPr lang="en-US" sz="900" dirty="0"/>
          </a:p>
        </p:txBody>
      </p:sp>
      <p:sp>
        <p:nvSpPr>
          <p:cNvPr id="11" name="Shape 9"/>
          <p:cNvSpPr/>
          <p:nvPr/>
        </p:nvSpPr>
        <p:spPr>
          <a:xfrm>
            <a:off x="457200" y="3730752"/>
            <a:ext cx="4023360" cy="640080"/>
          </a:xfrm>
          <a:prstGeom prst="roundRect">
            <a:avLst>
              <a:gd name="adj" fmla="val 8571"/>
            </a:avLst>
          </a:prstGeom>
          <a:solidFill>
            <a:srgbClr val="FFFFFF"/>
          </a:solidFill>
          <a:ln/>
          <a:effectLst>
            <a:outerShdw sx="100000" sy="100000" kx="0" ky="0" algn="bl" rotWithShape="0" blurRad="38100" dist="12700" dir="5400000">
              <a:srgbClr val="000000">
                <a:alpha val="7000"/>
              </a:srgbClr>
            </a:outerShdw>
          </a:effectLst>
        </p:spPr>
      </p:sp>
      <p:sp>
        <p:nvSpPr>
          <p:cNvPr id="12" name="Text 10"/>
          <p:cNvSpPr/>
          <p:nvPr/>
        </p:nvSpPr>
        <p:spPr>
          <a:xfrm>
            <a:off x="603504" y="3767328"/>
            <a:ext cx="3730752" cy="566928"/>
          </a:xfrm>
          <a:prstGeom prst="rect">
            <a:avLst/>
          </a:prstGeom>
          <a:noFill/>
          <a:ln/>
        </p:spPr>
        <p:txBody>
          <a:bodyPr wrap="square" lIns="0" tIns="0" rIns="0" bIns="0" rtlCol="0" anchor="ctr"/>
          <a:lstStyle/>
          <a:p>
            <a:pPr indent="0" marL="0">
              <a:lnSpc>
                <a:spcPct val="100000"/>
              </a:lnSpc>
              <a:buNone/>
            </a:pPr>
            <a:r>
              <a:rPr lang="en-US" sz="900" b="1" dirty="0">
                <a:solidFill>
                  <a:srgbClr val="2E75D6"/>
                </a:solidFill>
                <a:latin typeface="Calibri" pitchFamily="34" charset="0"/>
                <a:ea typeface="Calibri" pitchFamily="34" charset="-122"/>
                <a:cs typeface="Calibri" pitchFamily="34" charset="-120"/>
              </a:rPr>
              <a:t>[5]  </a:t>
            </a:r>
            <a:pPr indent="0" marL="0">
              <a:lnSpc>
                <a:spcPct val="100000"/>
              </a:lnSpc>
              <a:buNone/>
            </a:pPr>
            <a:r>
              <a:rPr lang="en-US" sz="900" dirty="0">
                <a:solidFill>
                  <a:srgbClr val="1A1A2E"/>
                </a:solidFill>
                <a:latin typeface="Calibri" pitchFamily="34" charset="0"/>
                <a:ea typeface="Calibri" pitchFamily="34" charset="-122"/>
                <a:cs typeface="Calibri" pitchFamily="34" charset="-120"/>
              </a:rPr>
              <a:t>Laufen et al. (1999). Mechanism of regulation of Hsp70 chaperones by DnaJ. PNAS, 96(10), 5452–5457.</a:t>
            </a:r>
            <a:endParaRPr lang="en-US" sz="900" dirty="0"/>
          </a:p>
        </p:txBody>
      </p:sp>
      <p:sp>
        <p:nvSpPr>
          <p:cNvPr id="13" name="Shape 11"/>
          <p:cNvSpPr/>
          <p:nvPr/>
        </p:nvSpPr>
        <p:spPr>
          <a:xfrm>
            <a:off x="457200" y="4434840"/>
            <a:ext cx="4023360" cy="640080"/>
          </a:xfrm>
          <a:prstGeom prst="roundRect">
            <a:avLst>
              <a:gd name="adj" fmla="val 8571"/>
            </a:avLst>
          </a:prstGeom>
          <a:solidFill>
            <a:srgbClr val="FFFFFF"/>
          </a:solidFill>
          <a:ln/>
          <a:effectLst>
            <a:outerShdw sx="100000" sy="100000" kx="0" ky="0" algn="bl" rotWithShape="0" blurRad="38100" dist="12700" dir="5400000">
              <a:srgbClr val="000000">
                <a:alpha val="7000"/>
              </a:srgbClr>
            </a:outerShdw>
          </a:effectLst>
        </p:spPr>
      </p:sp>
      <p:sp>
        <p:nvSpPr>
          <p:cNvPr id="14" name="Text 12"/>
          <p:cNvSpPr/>
          <p:nvPr/>
        </p:nvSpPr>
        <p:spPr>
          <a:xfrm>
            <a:off x="603504" y="4471416"/>
            <a:ext cx="3730752" cy="566928"/>
          </a:xfrm>
          <a:prstGeom prst="rect">
            <a:avLst/>
          </a:prstGeom>
          <a:noFill/>
          <a:ln/>
        </p:spPr>
        <p:txBody>
          <a:bodyPr wrap="square" lIns="0" tIns="0" rIns="0" bIns="0" rtlCol="0" anchor="ctr"/>
          <a:lstStyle/>
          <a:p>
            <a:pPr indent="0" marL="0">
              <a:lnSpc>
                <a:spcPct val="100000"/>
              </a:lnSpc>
              <a:buNone/>
            </a:pPr>
            <a:r>
              <a:rPr lang="en-US" sz="900" b="1" dirty="0">
                <a:solidFill>
                  <a:srgbClr val="2E75D6"/>
                </a:solidFill>
                <a:latin typeface="Calibri" pitchFamily="34" charset="0"/>
                <a:ea typeface="Calibri" pitchFamily="34" charset="-122"/>
                <a:cs typeface="Calibri" pitchFamily="34" charset="-120"/>
              </a:rPr>
              <a:t>[6]  </a:t>
            </a:r>
            <a:pPr indent="0" marL="0">
              <a:lnSpc>
                <a:spcPct val="100000"/>
              </a:lnSpc>
              <a:buNone/>
            </a:pPr>
            <a:r>
              <a:rPr lang="en-US" sz="900" dirty="0">
                <a:solidFill>
                  <a:srgbClr val="1A1A2E"/>
                </a:solidFill>
                <a:latin typeface="Calibri" pitchFamily="34" charset="0"/>
                <a:ea typeface="Calibri" pitchFamily="34" charset="-122"/>
                <a:cs typeface="Calibri" pitchFamily="34" charset="-120"/>
              </a:rPr>
              <a:t>Mayer (2010). Gymnastics of molecular chaperones. Molecular Cell, 39(3), 321–331.</a:t>
            </a:r>
            <a:endParaRPr lang="en-US" sz="900" dirty="0"/>
          </a:p>
        </p:txBody>
      </p:sp>
      <p:sp>
        <p:nvSpPr>
          <p:cNvPr id="15" name="Shape 13"/>
          <p:cNvSpPr/>
          <p:nvPr/>
        </p:nvSpPr>
        <p:spPr>
          <a:xfrm>
            <a:off x="4663440" y="914400"/>
            <a:ext cx="4023360" cy="640080"/>
          </a:xfrm>
          <a:prstGeom prst="roundRect">
            <a:avLst>
              <a:gd name="adj" fmla="val 8571"/>
            </a:avLst>
          </a:prstGeom>
          <a:solidFill>
            <a:srgbClr val="FFFFFF"/>
          </a:solidFill>
          <a:ln/>
          <a:effectLst>
            <a:outerShdw sx="100000" sy="100000" kx="0" ky="0" algn="bl" rotWithShape="0" blurRad="38100" dist="12700" dir="5400000">
              <a:srgbClr val="000000">
                <a:alpha val="7000"/>
              </a:srgbClr>
            </a:outerShdw>
          </a:effectLst>
        </p:spPr>
      </p:sp>
      <p:sp>
        <p:nvSpPr>
          <p:cNvPr id="16" name="Text 14"/>
          <p:cNvSpPr/>
          <p:nvPr/>
        </p:nvSpPr>
        <p:spPr>
          <a:xfrm>
            <a:off x="4809744" y="950976"/>
            <a:ext cx="3730752" cy="566928"/>
          </a:xfrm>
          <a:prstGeom prst="rect">
            <a:avLst/>
          </a:prstGeom>
          <a:noFill/>
          <a:ln/>
        </p:spPr>
        <p:txBody>
          <a:bodyPr wrap="square" lIns="0" tIns="0" rIns="0" bIns="0" rtlCol="0" anchor="ctr"/>
          <a:lstStyle/>
          <a:p>
            <a:pPr indent="0" marL="0">
              <a:lnSpc>
                <a:spcPct val="100000"/>
              </a:lnSpc>
              <a:buNone/>
            </a:pPr>
            <a:r>
              <a:rPr lang="en-US" sz="900" b="1" dirty="0">
                <a:solidFill>
                  <a:srgbClr val="2E75D6"/>
                </a:solidFill>
                <a:latin typeface="Calibri" pitchFamily="34" charset="0"/>
                <a:ea typeface="Calibri" pitchFamily="34" charset="-122"/>
                <a:cs typeface="Calibri" pitchFamily="34" charset="-120"/>
              </a:rPr>
              <a:t>[7]  </a:t>
            </a:r>
            <a:pPr indent="0" marL="0">
              <a:lnSpc>
                <a:spcPct val="100000"/>
              </a:lnSpc>
              <a:buNone/>
            </a:pPr>
            <a:r>
              <a:rPr lang="en-US" sz="900" dirty="0">
                <a:solidFill>
                  <a:srgbClr val="1A1A2E"/>
                </a:solidFill>
                <a:latin typeface="Calibri" pitchFamily="34" charset="0"/>
                <a:ea typeface="Calibri" pitchFamily="34" charset="-122"/>
                <a:cs typeface="Calibri" pitchFamily="34" charset="-120"/>
              </a:rPr>
              <a:t>Park et al. (2016). Simultaneous optimization of biomolecular energy functions. J. Chem. Theory Comput., 12(12), 6201–6212.</a:t>
            </a:r>
            <a:endParaRPr lang="en-US" sz="900" dirty="0"/>
          </a:p>
        </p:txBody>
      </p:sp>
      <p:sp>
        <p:nvSpPr>
          <p:cNvPr id="17" name="Shape 15"/>
          <p:cNvSpPr/>
          <p:nvPr/>
        </p:nvSpPr>
        <p:spPr>
          <a:xfrm>
            <a:off x="4663440" y="1618488"/>
            <a:ext cx="4023360" cy="640080"/>
          </a:xfrm>
          <a:prstGeom prst="roundRect">
            <a:avLst>
              <a:gd name="adj" fmla="val 8571"/>
            </a:avLst>
          </a:prstGeom>
          <a:solidFill>
            <a:srgbClr val="FFFFFF"/>
          </a:solidFill>
          <a:ln/>
          <a:effectLst>
            <a:outerShdw sx="100000" sy="100000" kx="0" ky="0" algn="bl" rotWithShape="0" blurRad="38100" dist="12700" dir="5400000">
              <a:srgbClr val="000000">
                <a:alpha val="7000"/>
              </a:srgbClr>
            </a:outerShdw>
          </a:effectLst>
        </p:spPr>
      </p:sp>
      <p:sp>
        <p:nvSpPr>
          <p:cNvPr id="18" name="Text 16"/>
          <p:cNvSpPr/>
          <p:nvPr/>
        </p:nvSpPr>
        <p:spPr>
          <a:xfrm>
            <a:off x="4809744" y="1655064"/>
            <a:ext cx="3730752" cy="566928"/>
          </a:xfrm>
          <a:prstGeom prst="rect">
            <a:avLst/>
          </a:prstGeom>
          <a:noFill/>
          <a:ln/>
        </p:spPr>
        <p:txBody>
          <a:bodyPr wrap="square" lIns="0" tIns="0" rIns="0" bIns="0" rtlCol="0" anchor="ctr"/>
          <a:lstStyle/>
          <a:p>
            <a:pPr indent="0" marL="0">
              <a:lnSpc>
                <a:spcPct val="100000"/>
              </a:lnSpc>
              <a:buNone/>
            </a:pPr>
            <a:r>
              <a:rPr lang="en-US" sz="900" b="1" dirty="0">
                <a:solidFill>
                  <a:srgbClr val="2E75D6"/>
                </a:solidFill>
                <a:latin typeface="Calibri" pitchFamily="34" charset="0"/>
                <a:ea typeface="Calibri" pitchFamily="34" charset="-122"/>
                <a:cs typeface="Calibri" pitchFamily="34" charset="-120"/>
              </a:rPr>
              <a:t>[8]  </a:t>
            </a:r>
            <a:pPr indent="0" marL="0">
              <a:lnSpc>
                <a:spcPct val="100000"/>
              </a:lnSpc>
              <a:buNone/>
            </a:pPr>
            <a:r>
              <a:rPr lang="en-US" sz="900" dirty="0">
                <a:solidFill>
                  <a:srgbClr val="1A1A2E"/>
                </a:solidFill>
                <a:latin typeface="Calibri" pitchFamily="34" charset="0"/>
                <a:ea typeface="Calibri" pitchFamily="34" charset="-122"/>
                <a:cs typeface="Calibri" pitchFamily="34" charset="-120"/>
              </a:rPr>
              <a:t>Pizzarello &amp; Shock (2010). The organic composition of carbonaceous meteorites. Cold Spring Harb. Perspect. Biol., 2(3).</a:t>
            </a:r>
            <a:endParaRPr lang="en-US" sz="900" dirty="0"/>
          </a:p>
        </p:txBody>
      </p:sp>
      <p:sp>
        <p:nvSpPr>
          <p:cNvPr id="19" name="Shape 17"/>
          <p:cNvSpPr/>
          <p:nvPr/>
        </p:nvSpPr>
        <p:spPr>
          <a:xfrm>
            <a:off x="4663440" y="2322576"/>
            <a:ext cx="4023360" cy="640080"/>
          </a:xfrm>
          <a:prstGeom prst="roundRect">
            <a:avLst>
              <a:gd name="adj" fmla="val 8571"/>
            </a:avLst>
          </a:prstGeom>
          <a:solidFill>
            <a:srgbClr val="FFFFFF"/>
          </a:solidFill>
          <a:ln/>
          <a:effectLst>
            <a:outerShdw sx="100000" sy="100000" kx="0" ky="0" algn="bl" rotWithShape="0" blurRad="38100" dist="12700" dir="5400000">
              <a:srgbClr val="000000">
                <a:alpha val="7000"/>
              </a:srgbClr>
            </a:outerShdw>
          </a:effectLst>
        </p:spPr>
      </p:sp>
      <p:sp>
        <p:nvSpPr>
          <p:cNvPr id="20" name="Text 18"/>
          <p:cNvSpPr/>
          <p:nvPr/>
        </p:nvSpPr>
        <p:spPr>
          <a:xfrm>
            <a:off x="4809744" y="2359152"/>
            <a:ext cx="3730752" cy="566928"/>
          </a:xfrm>
          <a:prstGeom prst="rect">
            <a:avLst/>
          </a:prstGeom>
          <a:noFill/>
          <a:ln/>
        </p:spPr>
        <p:txBody>
          <a:bodyPr wrap="square" lIns="0" tIns="0" rIns="0" bIns="0" rtlCol="0" anchor="ctr"/>
          <a:lstStyle/>
          <a:p>
            <a:pPr indent="0" marL="0">
              <a:lnSpc>
                <a:spcPct val="100000"/>
              </a:lnSpc>
              <a:buNone/>
            </a:pPr>
            <a:r>
              <a:rPr lang="en-US" sz="900" b="1" dirty="0">
                <a:solidFill>
                  <a:srgbClr val="2E75D6"/>
                </a:solidFill>
                <a:latin typeface="Calibri" pitchFamily="34" charset="0"/>
                <a:ea typeface="Calibri" pitchFamily="34" charset="-122"/>
                <a:cs typeface="Calibri" pitchFamily="34" charset="-120"/>
              </a:rPr>
              <a:t>[9]  </a:t>
            </a:r>
            <a:pPr indent="0" marL="0">
              <a:lnSpc>
                <a:spcPct val="100000"/>
              </a:lnSpc>
              <a:buNone/>
            </a:pPr>
            <a:r>
              <a:rPr lang="en-US" sz="900" dirty="0">
                <a:solidFill>
                  <a:srgbClr val="1A1A2E"/>
                </a:solidFill>
                <a:latin typeface="Calibri" pitchFamily="34" charset="0"/>
                <a:ea typeface="Calibri" pitchFamily="34" charset="-122"/>
                <a:cs typeface="Calibri" pitchFamily="34" charset="-120"/>
              </a:rPr>
              <a:t>Swain et al. (2007). Hsp70 chaperone ligands control domain association via an allosteric mechanism. Mol. Cell, 26(1), 27–39.</a:t>
            </a:r>
            <a:endParaRPr lang="en-US" sz="900" dirty="0"/>
          </a:p>
        </p:txBody>
      </p:sp>
      <p:sp>
        <p:nvSpPr>
          <p:cNvPr id="21" name="Shape 19"/>
          <p:cNvSpPr/>
          <p:nvPr/>
        </p:nvSpPr>
        <p:spPr>
          <a:xfrm>
            <a:off x="4663440" y="3026664"/>
            <a:ext cx="4023360" cy="640080"/>
          </a:xfrm>
          <a:prstGeom prst="roundRect">
            <a:avLst>
              <a:gd name="adj" fmla="val 8571"/>
            </a:avLst>
          </a:prstGeom>
          <a:solidFill>
            <a:srgbClr val="FFFFFF"/>
          </a:solidFill>
          <a:ln/>
          <a:effectLst>
            <a:outerShdw sx="100000" sy="100000" kx="0" ky="0" algn="bl" rotWithShape="0" blurRad="38100" dist="12700" dir="5400000">
              <a:srgbClr val="000000">
                <a:alpha val="7000"/>
              </a:srgbClr>
            </a:outerShdw>
          </a:effectLst>
        </p:spPr>
      </p:sp>
      <p:sp>
        <p:nvSpPr>
          <p:cNvPr id="22" name="Text 20"/>
          <p:cNvSpPr/>
          <p:nvPr/>
        </p:nvSpPr>
        <p:spPr>
          <a:xfrm>
            <a:off x="4809744" y="3063240"/>
            <a:ext cx="3730752" cy="566928"/>
          </a:xfrm>
          <a:prstGeom prst="rect">
            <a:avLst/>
          </a:prstGeom>
          <a:noFill/>
          <a:ln/>
        </p:spPr>
        <p:txBody>
          <a:bodyPr wrap="square" lIns="0" tIns="0" rIns="0" bIns="0" rtlCol="0" anchor="ctr"/>
          <a:lstStyle/>
          <a:p>
            <a:pPr indent="0" marL="0">
              <a:lnSpc>
                <a:spcPct val="100000"/>
              </a:lnSpc>
              <a:buNone/>
            </a:pPr>
            <a:r>
              <a:rPr lang="en-US" sz="900" b="1" dirty="0">
                <a:solidFill>
                  <a:srgbClr val="2E75D6"/>
                </a:solidFill>
                <a:latin typeface="Calibri" pitchFamily="34" charset="0"/>
                <a:ea typeface="Calibri" pitchFamily="34" charset="-122"/>
                <a:cs typeface="Calibri" pitchFamily="34" charset="-120"/>
              </a:rPr>
              <a:t>[10]  </a:t>
            </a:r>
            <a:pPr indent="0" marL="0">
              <a:lnSpc>
                <a:spcPct val="100000"/>
              </a:lnSpc>
              <a:buNone/>
            </a:pPr>
            <a:r>
              <a:rPr lang="en-US" sz="900" dirty="0">
                <a:solidFill>
                  <a:srgbClr val="1A1A2E"/>
                </a:solidFill>
                <a:latin typeface="Calibri" pitchFamily="34" charset="0"/>
                <a:ea typeface="Calibri" pitchFamily="34" charset="-122"/>
                <a:cs typeface="Calibri" pitchFamily="34" charset="-120"/>
              </a:rPr>
              <a:t>Toniolo &amp; Benedetti (1991). The polypeptide 3(10)-helix. Trends in Biochemical Sciences, 16, 350–353.</a:t>
            </a:r>
            <a:endParaRPr lang="en-US" sz="900" dirty="0"/>
          </a:p>
        </p:txBody>
      </p:sp>
      <p:sp>
        <p:nvSpPr>
          <p:cNvPr id="23" name="Shape 21"/>
          <p:cNvSpPr/>
          <p:nvPr/>
        </p:nvSpPr>
        <p:spPr>
          <a:xfrm>
            <a:off x="4663440" y="3730752"/>
            <a:ext cx="4023360" cy="640080"/>
          </a:xfrm>
          <a:prstGeom prst="roundRect">
            <a:avLst>
              <a:gd name="adj" fmla="val 8571"/>
            </a:avLst>
          </a:prstGeom>
          <a:solidFill>
            <a:srgbClr val="FFFFFF"/>
          </a:solidFill>
          <a:ln/>
          <a:effectLst>
            <a:outerShdw sx="100000" sy="100000" kx="0" ky="0" algn="bl" rotWithShape="0" blurRad="38100" dist="12700" dir="5400000">
              <a:srgbClr val="000000">
                <a:alpha val="7000"/>
              </a:srgbClr>
            </a:outerShdw>
          </a:effectLst>
        </p:spPr>
      </p:sp>
      <p:sp>
        <p:nvSpPr>
          <p:cNvPr id="24" name="Text 22"/>
          <p:cNvSpPr/>
          <p:nvPr/>
        </p:nvSpPr>
        <p:spPr>
          <a:xfrm>
            <a:off x="4809744" y="3767328"/>
            <a:ext cx="3730752" cy="566928"/>
          </a:xfrm>
          <a:prstGeom prst="rect">
            <a:avLst/>
          </a:prstGeom>
          <a:noFill/>
          <a:ln/>
        </p:spPr>
        <p:txBody>
          <a:bodyPr wrap="square" lIns="0" tIns="0" rIns="0" bIns="0" rtlCol="0" anchor="ctr"/>
          <a:lstStyle/>
          <a:p>
            <a:pPr indent="0" marL="0">
              <a:lnSpc>
                <a:spcPct val="100000"/>
              </a:lnSpc>
              <a:buNone/>
            </a:pPr>
            <a:r>
              <a:rPr lang="en-US" sz="900" b="1" dirty="0">
                <a:solidFill>
                  <a:srgbClr val="2E75D6"/>
                </a:solidFill>
                <a:latin typeface="Calibri" pitchFamily="34" charset="0"/>
                <a:ea typeface="Calibri" pitchFamily="34" charset="-122"/>
                <a:cs typeface="Calibri" pitchFamily="34" charset="-120"/>
              </a:rPr>
              <a:t>[11]  </a:t>
            </a:r>
            <a:pPr indent="0" marL="0">
              <a:lnSpc>
                <a:spcPct val="100000"/>
              </a:lnSpc>
              <a:buNone/>
            </a:pPr>
            <a:r>
              <a:rPr lang="en-US" sz="900" dirty="0">
                <a:solidFill>
                  <a:srgbClr val="1A1A2E"/>
                </a:solidFill>
                <a:latin typeface="Calibri" pitchFamily="34" charset="0"/>
                <a:ea typeface="Calibri" pitchFamily="34" charset="-122"/>
                <a:cs typeface="Calibri" pitchFamily="34" charset="-120"/>
              </a:rPr>
              <a:t>Zhu et al. (1996). Structural analysis of substrate binding by the molecular chaperone DnaK. Science, 272(5268), 1606–1614.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1A4A8C"/>
          </a:solidFill>
          <a:ln/>
        </p:spPr>
      </p:sp>
      <p:sp>
        <p:nvSpPr>
          <p:cNvPr id="3" name="Shape 1"/>
          <p:cNvSpPr/>
          <p:nvPr/>
        </p:nvSpPr>
        <p:spPr>
          <a:xfrm>
            <a:off x="-1463040" y="3566160"/>
            <a:ext cx="2926080" cy="2926080"/>
          </a:xfrm>
          <a:prstGeom prst="ellipse">
            <a:avLst/>
          </a:prstGeom>
          <a:solidFill>
            <a:srgbClr val="1A4A8C"/>
          </a:solidFill>
          <a:ln/>
        </p:spPr>
      </p:sp>
      <p:sp>
        <p:nvSpPr>
          <p:cNvPr id="4" name="Text 2"/>
          <p:cNvSpPr/>
          <p:nvPr/>
        </p:nvSpPr>
        <p:spPr>
          <a:xfrm>
            <a:off x="457200" y="1691640"/>
            <a:ext cx="8229600" cy="640080"/>
          </a:xfrm>
          <a:prstGeom prst="rect">
            <a:avLst/>
          </a:prstGeom>
          <a:noFill/>
          <a:ln/>
        </p:spPr>
        <p:txBody>
          <a:bodyPr wrap="square" lIns="0" tIns="0" rIns="0" bIns="0" rtlCol="0" anchor="ctr"/>
          <a:lstStyle/>
          <a:p>
            <a:pPr algn="ctr" indent="0" marL="0">
              <a:buNone/>
            </a:pPr>
            <a:r>
              <a:rPr lang="en-US" sz="2800" dirty="0">
                <a:solidFill>
                  <a:srgbClr val="C5D3EC"/>
                </a:solidFill>
                <a:latin typeface="Cambria" pitchFamily="34" charset="0"/>
                <a:ea typeface="Cambria" pitchFamily="34" charset="-122"/>
                <a:cs typeface="Cambria" pitchFamily="34" charset="-120"/>
              </a:rPr>
              <a:t>Thank You</a:t>
            </a:r>
            <a:endParaRPr lang="en-US" sz="2800" dirty="0"/>
          </a:p>
        </p:txBody>
      </p:sp>
      <p:sp>
        <p:nvSpPr>
          <p:cNvPr id="5" name="Text 3"/>
          <p:cNvSpPr/>
          <p:nvPr/>
        </p:nvSpPr>
        <p:spPr>
          <a:xfrm>
            <a:off x="457200" y="2240280"/>
            <a:ext cx="8229600"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For Your Attention</a:t>
            </a:r>
            <a:endParaRPr lang="en-US" sz="4800" dirty="0"/>
          </a:p>
        </p:txBody>
      </p:sp>
      <p:sp>
        <p:nvSpPr>
          <p:cNvPr id="6" name="Text 4"/>
          <p:cNvSpPr/>
          <p:nvPr/>
        </p:nvSpPr>
        <p:spPr>
          <a:xfrm>
            <a:off x="457200" y="3383280"/>
            <a:ext cx="8229600" cy="822960"/>
          </a:xfrm>
          <a:prstGeom prst="rect">
            <a:avLst/>
          </a:prstGeom>
          <a:noFill/>
          <a:ln/>
        </p:spPr>
        <p:txBody>
          <a:bodyPr wrap="square" lIns="0" tIns="0" rIns="0" bIns="0" rtlCol="0" anchor="ctr"/>
          <a:lstStyle/>
          <a:p>
            <a:pPr algn="ctr" indent="0" marL="0">
              <a:lnSpc>
                <a:spcPct val="130000"/>
              </a:lnSpc>
              <a:buNone/>
            </a:pPr>
            <a:r>
              <a:rPr lang="en-US" sz="1400" dirty="0">
                <a:solidFill>
                  <a:srgbClr val="FFFFFF"/>
                </a:solidFill>
                <a:latin typeface="Calibri" pitchFamily="34" charset="0"/>
                <a:ea typeface="Calibri" pitchFamily="34" charset="-122"/>
                <a:cs typeface="Calibri" pitchFamily="34" charset="-120"/>
              </a:rPr>
              <a:t>Pelinsu Eda Şentürk · Bioengineering · June 2026</a:t>
            </a:r>
            <a:endParaRPr lang="en-US" sz="1400" dirty="0"/>
          </a:p>
          <a:p>
            <a:pPr algn="ctr" indent="0" marL="0">
              <a:lnSpc>
                <a:spcPct val="130000"/>
              </a:lnSpc>
              <a:buNone/>
            </a:pPr>
            <a:r>
              <a:rPr lang="en-US" sz="1200" dirty="0">
                <a:solidFill>
                  <a:srgbClr val="9FB4D9"/>
                </a:solidFill>
                <a:latin typeface="Calibri" pitchFamily="34" charset="0"/>
                <a:ea typeface="Calibri" pitchFamily="34" charset="-122"/>
                <a:cs typeface="Calibri" pitchFamily="34" charset="-120"/>
              </a:rPr>
              <a:t>Advisor: Asst. Prof. Dr. Saliha Ece Acuner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DnaK Tez Sunumu</dc:title>
  <dc:subject>PptxGenJS Presentation</dc:subject>
  <dc:creator>Pelinsu Eda Şentürk</dc:creator>
  <cp:lastModifiedBy>Pelinsu Eda Şentürk</cp:lastModifiedBy>
  <cp:revision>1</cp:revision>
  <dcterms:created xsi:type="dcterms:W3CDTF">2026-06-14T12:06:52Z</dcterms:created>
  <dcterms:modified xsi:type="dcterms:W3CDTF">2026-06-14T12:06:52Z</dcterms:modified>
</cp:coreProperties>
</file>