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image" Target="../media/image-6-2.jpeg"/><Relationship Id="rId3" Type="http://schemas.openxmlformats.org/officeDocument/2006/relationships/image" Target="../media/image-6-3.jpeg"/><Relationship Id="rId4" Type="http://schemas.openxmlformats.org/officeDocument/2006/relationships/image" Target="../media/image-6-4.jpe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eg"/><Relationship Id="rId2" Type="http://schemas.openxmlformats.org/officeDocument/2006/relationships/image" Target="../media/image-7-2.jpeg"/><Relationship Id="rId3" Type="http://schemas.openxmlformats.org/officeDocument/2006/relationships/image" Target="../media/image-7-3.jpe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eg"/><Relationship Id="rId2" Type="http://schemas.openxmlformats.org/officeDocument/2006/relationships/image" Target="../media/image-8-2.jpeg"/><Relationship Id="rId3" Type="http://schemas.openxmlformats.org/officeDocument/2006/relationships/image" Target="../media/image-8-3.jpe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image" Target="../media/image-9-2.jpeg"/><Relationship Id="rId3" Type="http://schemas.openxmlformats.org/officeDocument/2006/relationships/image" Target="../media/image-9-3.jpeg"/><Relationship Id="rId4" Type="http://schemas.openxmlformats.org/officeDocument/2006/relationships/slideLayout" Target="../slideLayouts/slideLayout1.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image" Target="../media/image-11-2.jpeg"/><Relationship Id="rId3" Type="http://schemas.openxmlformats.org/officeDocument/2006/relationships/image" Target="../media/image-11-3.jpeg"/><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eg"/><Relationship Id="rId2" Type="http://schemas.openxmlformats.org/officeDocument/2006/relationships/image" Target="../media/image-12-2.jpeg"/><Relationship Id="rId3" Type="http://schemas.openxmlformats.org/officeDocument/2006/relationships/image" Target="../media/image-12-3.jpeg"/><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eg"/><Relationship Id="rId2" Type="http://schemas.openxmlformats.org/officeDocument/2006/relationships/image" Target="../media/image-13-2.jpeg"/><Relationship Id="rId3" Type="http://schemas.openxmlformats.org/officeDocument/2006/relationships/image" Target="../media/image-13-3.jpeg"/><Relationship Id="rId4" Type="http://schemas.openxmlformats.org/officeDocument/2006/relationships/slideLayout" Target="../slideLayouts/slideLayout1.xml"/><Relationship Id="rId5"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1A4A8C"/>
          </a:solidFill>
          <a:ln/>
        </p:spPr>
      </p:sp>
      <p:sp>
        <p:nvSpPr>
          <p:cNvPr id="3" name="Shape 1"/>
          <p:cNvSpPr/>
          <p:nvPr/>
        </p:nvSpPr>
        <p:spPr>
          <a:xfrm>
            <a:off x="-1463040" y="3566160"/>
            <a:ext cx="2926080" cy="2926080"/>
          </a:xfrm>
          <a:prstGeom prst="ellipse">
            <a:avLst/>
          </a:prstGeom>
          <a:solidFill>
            <a:srgbClr val="1A4A8C"/>
          </a:solidFill>
          <a:ln/>
        </p:spPr>
      </p:sp>
      <p:sp>
        <p:nvSpPr>
          <p:cNvPr id="4" name="Shape 2"/>
          <p:cNvSpPr/>
          <p:nvPr/>
        </p:nvSpPr>
        <p:spPr>
          <a:xfrm>
            <a:off x="7863840" y="3291840"/>
            <a:ext cx="1463040" cy="1463040"/>
          </a:xfrm>
          <a:prstGeom prst="ellipse">
            <a:avLst/>
          </a:prstGeom>
          <a:solidFill>
            <a:srgbClr val="24395E"/>
          </a:solidFill>
          <a:ln/>
        </p:spPr>
      </p:sp>
      <p:sp>
        <p:nvSpPr>
          <p:cNvPr id="5" name="Text 3"/>
          <p:cNvSpPr/>
          <p:nvPr/>
        </p:nvSpPr>
        <p:spPr>
          <a:xfrm>
            <a:off x="640080" y="548640"/>
            <a:ext cx="7863840" cy="274320"/>
          </a:xfrm>
          <a:prstGeom prst="rect">
            <a:avLst/>
          </a:prstGeom>
          <a:noFill/>
          <a:ln/>
        </p:spPr>
        <p:txBody>
          <a:bodyPr wrap="square" rtlCol="0" anchor="ctr"/>
          <a:lstStyle/>
          <a:p>
            <a:pPr indent="0" marL="0">
              <a:buNone/>
            </a:pPr>
            <a:r>
              <a:rPr lang="en-US" sz="1200" spc="200" kern="0" dirty="0">
                <a:solidFill>
                  <a:srgbClr val="9FB4D9"/>
                </a:solidFill>
                <a:latin typeface="Calibri" pitchFamily="34" charset="0"/>
                <a:ea typeface="Calibri" pitchFamily="34" charset="-122"/>
                <a:cs typeface="Calibri" pitchFamily="34" charset="-120"/>
              </a:rPr>
              <a:t>MÜHENDİSLİK VE DOĞA BİLİMLERİ FAKÜLTESİ</a:t>
            </a:r>
            <a:endParaRPr lang="en-US" sz="1200" dirty="0"/>
          </a:p>
        </p:txBody>
      </p:sp>
      <p:sp>
        <p:nvSpPr>
          <p:cNvPr id="6" name="Text 4"/>
          <p:cNvSpPr/>
          <p:nvPr/>
        </p:nvSpPr>
        <p:spPr>
          <a:xfrm>
            <a:off x="640080" y="868680"/>
            <a:ext cx="7863840" cy="274320"/>
          </a:xfrm>
          <a:prstGeom prst="rect">
            <a:avLst/>
          </a:prstGeom>
          <a:noFill/>
          <a:ln/>
        </p:spPr>
        <p:txBody>
          <a:bodyPr wrap="square" rtlCol="0" anchor="ctr"/>
          <a:lstStyle/>
          <a:p>
            <a:pPr indent="0" marL="0">
              <a:buNone/>
            </a:pPr>
            <a:r>
              <a:rPr lang="en-US" sz="1200" dirty="0">
                <a:solidFill>
                  <a:srgbClr val="9FB4D9"/>
                </a:solidFill>
                <a:latin typeface="Calibri" pitchFamily="34" charset="0"/>
                <a:ea typeface="Calibri" pitchFamily="34" charset="-122"/>
                <a:cs typeface="Calibri" pitchFamily="34" charset="-120"/>
              </a:rPr>
              <a:t>Biyomühendislik Bölümü</a:t>
            </a:r>
            <a:endParaRPr lang="en-US" sz="1200" dirty="0"/>
          </a:p>
        </p:txBody>
      </p:sp>
      <p:sp>
        <p:nvSpPr>
          <p:cNvPr id="7" name="Text 5"/>
          <p:cNvSpPr/>
          <p:nvPr/>
        </p:nvSpPr>
        <p:spPr>
          <a:xfrm>
            <a:off x="640080" y="1554480"/>
            <a:ext cx="7863840" cy="1920240"/>
          </a:xfrm>
          <a:prstGeom prst="rect">
            <a:avLst/>
          </a:prstGeom>
          <a:noFill/>
          <a:ln/>
        </p:spPr>
        <p:txBody>
          <a:bodyPr wrap="square" rtlCol="0" anchor="t"/>
          <a:lstStyle/>
          <a:p>
            <a:pPr indent="0" marL="0">
              <a:lnSpc>
                <a:spcPct val="105000"/>
              </a:lnSpc>
              <a:buNone/>
            </a:pPr>
            <a:r>
              <a:rPr lang="en-US" sz="2900" b="1" dirty="0">
                <a:solidFill>
                  <a:srgbClr val="FFFFFF"/>
                </a:solidFill>
                <a:latin typeface="Cambria" pitchFamily="34" charset="0"/>
                <a:ea typeface="Cambria" pitchFamily="34" charset="-122"/>
                <a:cs typeface="Cambria" pitchFamily="34" charset="-120"/>
              </a:rPr>
              <a:t>Bennu Asteroidi Kökenli Non-Kanonik Amino Asitlerin DnaK Şaperon Proteininin Yapısal Kararlılığı ve Allosterik İşlevine Etkisinin İn Silico Analizi</a:t>
            </a:r>
            <a:endParaRPr lang="en-US" sz="2900" dirty="0"/>
          </a:p>
        </p:txBody>
      </p:sp>
      <p:sp>
        <p:nvSpPr>
          <p:cNvPr id="8" name="Text 6"/>
          <p:cNvSpPr/>
          <p:nvPr/>
        </p:nvSpPr>
        <p:spPr>
          <a:xfrm>
            <a:off x="640080" y="3977640"/>
            <a:ext cx="7863840" cy="1005840"/>
          </a:xfrm>
          <a:prstGeom prst="rect">
            <a:avLst/>
          </a:prstGeom>
          <a:noFill/>
          <a:ln/>
        </p:spPr>
        <p:txBody>
          <a:bodyPr wrap="square" rtlCol="0" anchor="ctr"/>
          <a:lstStyle/>
          <a:p>
            <a:pPr indent="0" marL="0">
              <a:lnSpc>
                <a:spcPct val="120000"/>
              </a:lnSpc>
              <a:buNone/>
            </a:pPr>
            <a:r>
              <a:rPr lang="en-US" sz="1600" b="1" dirty="0">
                <a:solidFill>
                  <a:srgbClr val="FFFFFF"/>
                </a:solidFill>
                <a:latin typeface="Calibri" pitchFamily="34" charset="0"/>
                <a:ea typeface="Calibri" pitchFamily="34" charset="-122"/>
                <a:cs typeface="Calibri" pitchFamily="34" charset="-120"/>
              </a:rPr>
              <a:t>Pelinsu Eda Şentürk  ·  22120509009</a:t>
            </a:r>
            <a:endParaRPr lang="en-US" sz="1600" dirty="0"/>
          </a:p>
          <a:p>
            <a:pPr indent="0" marL="0">
              <a:lnSpc>
                <a:spcPct val="120000"/>
              </a:lnSpc>
              <a:buNone/>
            </a:pPr>
            <a:r>
              <a:rPr lang="en-US" sz="1300" dirty="0">
                <a:solidFill>
                  <a:srgbClr val="C5D3EC"/>
                </a:solidFill>
                <a:latin typeface="Calibri" pitchFamily="34" charset="0"/>
                <a:ea typeface="Calibri" pitchFamily="34" charset="-122"/>
                <a:cs typeface="Calibri" pitchFamily="34" charset="-120"/>
              </a:rPr>
              <a:t>Danışman: Dr. Öğr. Üyesi Saliha Ece Acuner</a:t>
            </a:r>
            <a:endParaRPr lang="en-US" sz="1600" dirty="0"/>
          </a:p>
          <a:p>
            <a:pPr indent="0" marL="0">
              <a:lnSpc>
                <a:spcPct val="120000"/>
              </a:lnSpc>
              <a:buNone/>
            </a:pPr>
            <a:r>
              <a:rPr lang="en-US" sz="1300" dirty="0">
                <a:solidFill>
                  <a:srgbClr val="C5D3EC"/>
                </a:solidFill>
                <a:latin typeface="Calibri" pitchFamily="34" charset="0"/>
                <a:ea typeface="Calibri" pitchFamily="34" charset="-122"/>
                <a:cs typeface="Calibri" pitchFamily="34" charset="-120"/>
              </a:rPr>
              <a:t>Lisans Bitirme Tezi · Haziran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548640" y="274320"/>
            <a:ext cx="7315200" cy="640080"/>
          </a:xfrm>
          <a:prstGeom prst="rect">
            <a:avLst/>
          </a:prstGeom>
          <a:noFill/>
          <a:ln/>
        </p:spPr>
        <p:txBody>
          <a:bodyPr wrap="square" rtlCol="0" anchor="ctr"/>
          <a:lstStyle/>
          <a:p>
            <a:pPr indent="0" marL="0">
              <a:buNone/>
            </a:pPr>
            <a:r>
              <a:rPr lang="en-US" sz="3200" b="1" dirty="0">
                <a:solidFill>
                  <a:srgbClr val="1B2A4A"/>
                </a:solidFill>
                <a:latin typeface="Cambria" pitchFamily="34" charset="0"/>
                <a:ea typeface="Cambria" pitchFamily="34" charset="-122"/>
                <a:cs typeface="Cambria" pitchFamily="34" charset="-120"/>
              </a:rPr>
              <a:t>Sunum Planı</a:t>
            </a:r>
            <a:endParaRPr lang="en-US" sz="3200" dirty="0"/>
          </a:p>
        </p:txBody>
      </p:sp>
      <p:sp>
        <p:nvSpPr>
          <p:cNvPr id="3" name="Shape 1"/>
          <p:cNvSpPr/>
          <p:nvPr/>
        </p:nvSpPr>
        <p:spPr>
          <a:xfrm>
            <a:off x="548640" y="1078992"/>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4" name="Shape 2"/>
          <p:cNvSpPr/>
          <p:nvPr/>
        </p:nvSpPr>
        <p:spPr>
          <a:xfrm>
            <a:off x="694944" y="1161288"/>
            <a:ext cx="402336" cy="402336"/>
          </a:xfrm>
          <a:prstGeom prst="roundRect">
            <a:avLst>
              <a:gd name="adj" fmla="val 13636"/>
            </a:avLst>
          </a:prstGeom>
          <a:solidFill>
            <a:srgbClr val="2E75D6"/>
          </a:solidFill>
          <a:ln/>
        </p:spPr>
      </p:sp>
      <p:sp>
        <p:nvSpPr>
          <p:cNvPr id="5" name="Text 3"/>
          <p:cNvSpPr/>
          <p:nvPr/>
        </p:nvSpPr>
        <p:spPr>
          <a:xfrm>
            <a:off x="694944" y="116128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01</a:t>
            </a:r>
            <a:endParaRPr lang="en-US" sz="1300" dirty="0"/>
          </a:p>
        </p:txBody>
      </p:sp>
      <p:sp>
        <p:nvSpPr>
          <p:cNvPr id="6" name="Text 4"/>
          <p:cNvSpPr/>
          <p:nvPr/>
        </p:nvSpPr>
        <p:spPr>
          <a:xfrm>
            <a:off x="1261872" y="1106424"/>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Araştırma Sorusu &amp; Hipotezler</a:t>
            </a:r>
            <a:endParaRPr lang="en-US" sz="1400" dirty="0"/>
          </a:p>
        </p:txBody>
      </p:sp>
      <p:sp>
        <p:nvSpPr>
          <p:cNvPr id="7" name="Text 5"/>
          <p:cNvSpPr/>
          <p:nvPr/>
        </p:nvSpPr>
        <p:spPr>
          <a:xfrm>
            <a:off x="1261872" y="1380744"/>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Bennu asteroidi, DnaK proteini ve astrobiyolojik bağlam</a:t>
            </a:r>
            <a:endParaRPr lang="en-US" sz="1000" dirty="0"/>
          </a:p>
        </p:txBody>
      </p:sp>
      <p:sp>
        <p:nvSpPr>
          <p:cNvPr id="8" name="Shape 6"/>
          <p:cNvSpPr/>
          <p:nvPr/>
        </p:nvSpPr>
        <p:spPr>
          <a:xfrm>
            <a:off x="548640" y="1723644"/>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9" name="Shape 7"/>
          <p:cNvSpPr/>
          <p:nvPr/>
        </p:nvSpPr>
        <p:spPr>
          <a:xfrm>
            <a:off x="694944" y="1805940"/>
            <a:ext cx="402336" cy="402336"/>
          </a:xfrm>
          <a:prstGeom prst="roundRect">
            <a:avLst>
              <a:gd name="adj" fmla="val 13636"/>
            </a:avLst>
          </a:prstGeom>
          <a:solidFill>
            <a:srgbClr val="2E75D6"/>
          </a:solidFill>
          <a:ln/>
        </p:spPr>
      </p:sp>
      <p:sp>
        <p:nvSpPr>
          <p:cNvPr id="10" name="Text 8"/>
          <p:cNvSpPr/>
          <p:nvPr/>
        </p:nvSpPr>
        <p:spPr>
          <a:xfrm>
            <a:off x="694944" y="180594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02</a:t>
            </a:r>
            <a:endParaRPr lang="en-US" sz="1300" dirty="0"/>
          </a:p>
        </p:txBody>
      </p:sp>
      <p:sp>
        <p:nvSpPr>
          <p:cNvPr id="11" name="Text 9"/>
          <p:cNvSpPr/>
          <p:nvPr/>
        </p:nvSpPr>
        <p:spPr>
          <a:xfrm>
            <a:off x="1261872" y="1751076"/>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Yöntem</a:t>
            </a:r>
            <a:endParaRPr lang="en-US" sz="1400" dirty="0"/>
          </a:p>
        </p:txBody>
      </p:sp>
      <p:sp>
        <p:nvSpPr>
          <p:cNvPr id="12" name="Text 10"/>
          <p:cNvSpPr/>
          <p:nvPr/>
        </p:nvSpPr>
        <p:spPr>
          <a:xfrm>
            <a:off x="1261872" y="2025396"/>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PDB: 4B9Q, PyRosetta ΔΔG, Boltz-2 yapısal tahmin, PyMOL görselleştirme</a:t>
            </a:r>
            <a:endParaRPr lang="en-US" sz="1000" dirty="0"/>
          </a:p>
        </p:txBody>
      </p:sp>
      <p:sp>
        <p:nvSpPr>
          <p:cNvPr id="13" name="Shape 11"/>
          <p:cNvSpPr/>
          <p:nvPr/>
        </p:nvSpPr>
        <p:spPr>
          <a:xfrm>
            <a:off x="548640" y="2368296"/>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14" name="Shape 12"/>
          <p:cNvSpPr/>
          <p:nvPr/>
        </p:nvSpPr>
        <p:spPr>
          <a:xfrm>
            <a:off x="694944" y="2450592"/>
            <a:ext cx="402336" cy="402336"/>
          </a:xfrm>
          <a:prstGeom prst="roundRect">
            <a:avLst>
              <a:gd name="adj" fmla="val 13636"/>
            </a:avLst>
          </a:prstGeom>
          <a:solidFill>
            <a:srgbClr val="2E75D6"/>
          </a:solidFill>
          <a:ln/>
        </p:spPr>
      </p:sp>
      <p:sp>
        <p:nvSpPr>
          <p:cNvPr id="15" name="Text 13"/>
          <p:cNvSpPr/>
          <p:nvPr/>
        </p:nvSpPr>
        <p:spPr>
          <a:xfrm>
            <a:off x="694944" y="245059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03</a:t>
            </a:r>
            <a:endParaRPr lang="en-US" sz="1300" dirty="0"/>
          </a:p>
        </p:txBody>
      </p:sp>
      <p:sp>
        <p:nvSpPr>
          <p:cNvPr id="16" name="Text 14"/>
          <p:cNvSpPr/>
          <p:nvPr/>
        </p:nvSpPr>
        <p:spPr>
          <a:xfrm>
            <a:off x="1261872" y="2395728"/>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Linker Bölgesi Bulguları (L390–L391)</a:t>
            </a:r>
            <a:endParaRPr lang="en-US" sz="1400" dirty="0"/>
          </a:p>
        </p:txBody>
      </p:sp>
      <p:sp>
        <p:nvSpPr>
          <p:cNvPr id="17" name="Text 15"/>
          <p:cNvSpPr/>
          <p:nvPr/>
        </p:nvSpPr>
        <p:spPr>
          <a:xfrm>
            <a:off x="1261872" y="2670048"/>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NVA, VAL, ILE ve AIB mutasyonlarının enerji profilleri</a:t>
            </a:r>
            <a:endParaRPr lang="en-US" sz="1000" dirty="0"/>
          </a:p>
        </p:txBody>
      </p:sp>
      <p:sp>
        <p:nvSpPr>
          <p:cNvPr id="18" name="Shape 16"/>
          <p:cNvSpPr/>
          <p:nvPr/>
        </p:nvSpPr>
        <p:spPr>
          <a:xfrm>
            <a:off x="548640" y="3012948"/>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19" name="Shape 17"/>
          <p:cNvSpPr/>
          <p:nvPr/>
        </p:nvSpPr>
        <p:spPr>
          <a:xfrm>
            <a:off x="694944" y="3095244"/>
            <a:ext cx="402336" cy="402336"/>
          </a:xfrm>
          <a:prstGeom prst="roundRect">
            <a:avLst>
              <a:gd name="adj" fmla="val 13636"/>
            </a:avLst>
          </a:prstGeom>
          <a:solidFill>
            <a:srgbClr val="2E75D6"/>
          </a:solidFill>
          <a:ln/>
        </p:spPr>
      </p:sp>
      <p:sp>
        <p:nvSpPr>
          <p:cNvPr id="20" name="Text 18"/>
          <p:cNvSpPr/>
          <p:nvPr/>
        </p:nvSpPr>
        <p:spPr>
          <a:xfrm>
            <a:off x="694944" y="309524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04</a:t>
            </a:r>
            <a:endParaRPr lang="en-US" sz="1300" dirty="0"/>
          </a:p>
        </p:txBody>
      </p:sp>
      <p:sp>
        <p:nvSpPr>
          <p:cNvPr id="21" name="Text 19"/>
          <p:cNvSpPr/>
          <p:nvPr/>
        </p:nvSpPr>
        <p:spPr>
          <a:xfrm>
            <a:off x="1261872" y="3040380"/>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SBD Bölgesi Bulguları (A429–A435)</a:t>
            </a:r>
            <a:endParaRPr lang="en-US" sz="1400" dirty="0"/>
          </a:p>
        </p:txBody>
      </p:sp>
      <p:sp>
        <p:nvSpPr>
          <p:cNvPr id="22" name="Text 20"/>
          <p:cNvSpPr/>
          <p:nvPr/>
        </p:nvSpPr>
        <p:spPr>
          <a:xfrm>
            <a:off x="1261872" y="3314700"/>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NVA ve ILE mutasyonlarının SBD üzerindeki etkileri</a:t>
            </a:r>
            <a:endParaRPr lang="en-US" sz="1000" dirty="0"/>
          </a:p>
        </p:txBody>
      </p:sp>
      <p:sp>
        <p:nvSpPr>
          <p:cNvPr id="23" name="Shape 21"/>
          <p:cNvSpPr/>
          <p:nvPr/>
        </p:nvSpPr>
        <p:spPr>
          <a:xfrm>
            <a:off x="548640" y="3657600"/>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24" name="Shape 22"/>
          <p:cNvSpPr/>
          <p:nvPr/>
        </p:nvSpPr>
        <p:spPr>
          <a:xfrm>
            <a:off x="694944" y="3739896"/>
            <a:ext cx="402336" cy="402336"/>
          </a:xfrm>
          <a:prstGeom prst="roundRect">
            <a:avLst>
              <a:gd name="adj" fmla="val 13636"/>
            </a:avLst>
          </a:prstGeom>
          <a:solidFill>
            <a:srgbClr val="2E75D6"/>
          </a:solidFill>
          <a:ln/>
        </p:spPr>
      </p:sp>
      <p:sp>
        <p:nvSpPr>
          <p:cNvPr id="25" name="Text 23"/>
          <p:cNvSpPr/>
          <p:nvPr/>
        </p:nvSpPr>
        <p:spPr>
          <a:xfrm>
            <a:off x="694944" y="373989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05</a:t>
            </a:r>
            <a:endParaRPr lang="en-US" sz="1300" dirty="0"/>
          </a:p>
        </p:txBody>
      </p:sp>
      <p:sp>
        <p:nvSpPr>
          <p:cNvPr id="26" name="Text 24"/>
          <p:cNvSpPr/>
          <p:nvPr/>
        </p:nvSpPr>
        <p:spPr>
          <a:xfrm>
            <a:off x="1261872" y="3685032"/>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Tartışma &amp; Astrobiyolojik Yorum</a:t>
            </a:r>
            <a:endParaRPr lang="en-US" sz="1400" dirty="0"/>
          </a:p>
        </p:txBody>
      </p:sp>
      <p:sp>
        <p:nvSpPr>
          <p:cNvPr id="27" name="Text 25"/>
          <p:cNvSpPr/>
          <p:nvPr/>
        </p:nvSpPr>
        <p:spPr>
          <a:xfrm>
            <a:off x="1261872" y="3959352"/>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Bulgular, sınırlılıklar ve gelecek çalışmalar</a:t>
            </a:r>
            <a:endParaRPr lang="en-US" sz="1000" dirty="0"/>
          </a:p>
        </p:txBody>
      </p:sp>
      <p:sp>
        <p:nvSpPr>
          <p:cNvPr id="28" name="Shape 26"/>
          <p:cNvSpPr/>
          <p:nvPr/>
        </p:nvSpPr>
        <p:spPr>
          <a:xfrm>
            <a:off x="548640" y="4302252"/>
            <a:ext cx="8046720" cy="566928"/>
          </a:xfrm>
          <a:prstGeom prst="roundRect">
            <a:avLst>
              <a:gd name="adj" fmla="val 9677"/>
            </a:avLst>
          </a:prstGeom>
          <a:solidFill>
            <a:srgbClr val="FFFFFF"/>
          </a:solidFill>
          <a:ln/>
          <a:effectLst>
            <a:outerShdw sx="100000" sy="100000" kx="0" ky="0" algn="bl" rotWithShape="0" blurRad="50800" dist="12700" dir="5400000">
              <a:srgbClr val="000000">
                <a:alpha val="8000"/>
              </a:srgbClr>
            </a:outerShdw>
          </a:effectLst>
        </p:spPr>
      </p:sp>
      <p:sp>
        <p:nvSpPr>
          <p:cNvPr id="29" name="Shape 27"/>
          <p:cNvSpPr/>
          <p:nvPr/>
        </p:nvSpPr>
        <p:spPr>
          <a:xfrm>
            <a:off x="694944" y="4384548"/>
            <a:ext cx="402336" cy="402336"/>
          </a:xfrm>
          <a:prstGeom prst="roundRect">
            <a:avLst>
              <a:gd name="adj" fmla="val 13636"/>
            </a:avLst>
          </a:prstGeom>
          <a:solidFill>
            <a:srgbClr val="2E75D6"/>
          </a:solidFill>
          <a:ln/>
        </p:spPr>
      </p:sp>
      <p:sp>
        <p:nvSpPr>
          <p:cNvPr id="30" name="Text 28"/>
          <p:cNvSpPr/>
          <p:nvPr/>
        </p:nvSpPr>
        <p:spPr>
          <a:xfrm>
            <a:off x="694944" y="438454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06</a:t>
            </a:r>
            <a:endParaRPr lang="en-US" sz="1300" dirty="0"/>
          </a:p>
        </p:txBody>
      </p:sp>
      <p:sp>
        <p:nvSpPr>
          <p:cNvPr id="31" name="Text 29"/>
          <p:cNvSpPr/>
          <p:nvPr/>
        </p:nvSpPr>
        <p:spPr>
          <a:xfrm>
            <a:off x="1261872" y="4329684"/>
            <a:ext cx="7223760" cy="292608"/>
          </a:xfrm>
          <a:prstGeom prst="rect">
            <a:avLst/>
          </a:prstGeom>
          <a:noFill/>
          <a:ln/>
        </p:spPr>
        <p:txBody>
          <a:bodyPr wrap="square" lIns="0" tIns="0" rIns="0" bIns="0" rtlCol="0" anchor="ctr"/>
          <a:lstStyle/>
          <a:p>
            <a:pPr indent="0" marL="0">
              <a:buNone/>
            </a:pPr>
            <a:r>
              <a:rPr lang="en-US" sz="1400" b="1" dirty="0">
                <a:solidFill>
                  <a:srgbClr val="1B2A4A"/>
                </a:solidFill>
                <a:latin typeface="Calibri" pitchFamily="34" charset="0"/>
                <a:ea typeface="Calibri" pitchFamily="34" charset="-122"/>
                <a:cs typeface="Calibri" pitchFamily="34" charset="-120"/>
              </a:rPr>
              <a:t>Sonuç</a:t>
            </a:r>
            <a:endParaRPr lang="en-US" sz="1400" dirty="0"/>
          </a:p>
        </p:txBody>
      </p:sp>
      <p:sp>
        <p:nvSpPr>
          <p:cNvPr id="32" name="Text 30"/>
          <p:cNvSpPr/>
          <p:nvPr/>
        </p:nvSpPr>
        <p:spPr>
          <a:xfrm>
            <a:off x="1261872" y="4604004"/>
            <a:ext cx="7223760" cy="237744"/>
          </a:xfrm>
          <a:prstGeom prst="rect">
            <a:avLst/>
          </a:prstGeom>
          <a:noFill/>
          <a:ln/>
        </p:spPr>
        <p:txBody>
          <a:bodyPr wrap="square" lIns="0" tIns="0" rIns="0" bIns="0" rtlCol="0" anchor="ctr"/>
          <a:lstStyle/>
          <a:p>
            <a:pPr indent="0" marL="0">
              <a:buNone/>
            </a:pPr>
            <a:r>
              <a:rPr lang="en-US" sz="1000" dirty="0">
                <a:solidFill>
                  <a:srgbClr val="5B6472"/>
                </a:solidFill>
                <a:latin typeface="Calibri" pitchFamily="34" charset="0"/>
                <a:ea typeface="Calibri" pitchFamily="34" charset="-122"/>
                <a:cs typeface="Calibri" pitchFamily="34" charset="-120"/>
              </a:rPr>
              <a:t>Temel çıkarımlar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2800" b="1" dirty="0">
                <a:solidFill>
                  <a:srgbClr val="1B2A4A"/>
                </a:solidFill>
                <a:latin typeface="Cambria" pitchFamily="34" charset="0"/>
                <a:ea typeface="Cambria" pitchFamily="34" charset="-122"/>
                <a:cs typeface="Cambria" pitchFamily="34" charset="-120"/>
              </a:rPr>
              <a:t>Araştırma Sorusu &amp; Bağlam</a:t>
            </a:r>
            <a:endParaRPr lang="en-US" sz="2800" dirty="0"/>
          </a:p>
        </p:txBody>
      </p:sp>
      <p:sp>
        <p:nvSpPr>
          <p:cNvPr id="3" name="Shape 1"/>
          <p:cNvSpPr/>
          <p:nvPr/>
        </p:nvSpPr>
        <p:spPr>
          <a:xfrm>
            <a:off x="457200" y="896112"/>
            <a:ext cx="8229600" cy="713232"/>
          </a:xfrm>
          <a:prstGeom prst="roundRect">
            <a:avLst>
              <a:gd name="adj" fmla="val 7692"/>
            </a:avLst>
          </a:prstGeom>
          <a:solidFill>
            <a:srgbClr val="1B2A4A"/>
          </a:solidFill>
          <a:ln/>
        </p:spPr>
      </p:sp>
      <p:sp>
        <p:nvSpPr>
          <p:cNvPr id="4" name="Text 2"/>
          <p:cNvSpPr/>
          <p:nvPr/>
        </p:nvSpPr>
        <p:spPr>
          <a:xfrm>
            <a:off x="640080" y="896112"/>
            <a:ext cx="7863840" cy="713232"/>
          </a:xfrm>
          <a:prstGeom prst="rect">
            <a:avLst/>
          </a:prstGeom>
          <a:noFill/>
          <a:ln/>
        </p:spPr>
        <p:txBody>
          <a:bodyPr wrap="square" rtlCol="0" anchor="ctr"/>
          <a:lstStyle/>
          <a:p>
            <a:pPr indent="0" marL="0">
              <a:lnSpc>
                <a:spcPct val="110000"/>
              </a:lnSpc>
              <a:buNone/>
            </a:pPr>
            <a:r>
              <a:rPr lang="en-US" sz="1300" b="1" dirty="0">
                <a:solidFill>
                  <a:srgbClr val="9FB4D9"/>
                </a:solidFill>
                <a:latin typeface="Calibri" pitchFamily="34" charset="0"/>
                <a:ea typeface="Calibri" pitchFamily="34" charset="-122"/>
                <a:cs typeface="Calibri" pitchFamily="34" charset="-120"/>
              </a:rPr>
              <a:t>Araştırma Sorusu:  </a:t>
            </a:r>
            <a:pPr indent="0" marL="0">
              <a:lnSpc>
                <a:spcPct val="110000"/>
              </a:lnSpc>
              <a:buNone/>
            </a:pPr>
            <a:r>
              <a:rPr lang="en-US" sz="1300" dirty="0">
                <a:solidFill>
                  <a:srgbClr val="FFFFFF"/>
                </a:solidFill>
                <a:latin typeface="Calibri" pitchFamily="34" charset="0"/>
                <a:ea typeface="Calibri" pitchFamily="34" charset="-122"/>
                <a:cs typeface="Calibri" pitchFamily="34" charset="-120"/>
              </a:rPr>
              <a:t>Bennu asteroidi kökenli non-kanonik amino asitler, DnaK şaperonunun yapısal kararlılığını ve allosterik mekanizmasını nasıl etkiler?</a:t>
            </a:r>
            <a:endParaRPr lang="en-US" sz="1300" dirty="0"/>
          </a:p>
        </p:txBody>
      </p:sp>
      <p:sp>
        <p:nvSpPr>
          <p:cNvPr id="5" name="Shape 3"/>
          <p:cNvSpPr/>
          <p:nvPr/>
        </p:nvSpPr>
        <p:spPr>
          <a:xfrm>
            <a:off x="457200" y="1755648"/>
            <a:ext cx="2679192" cy="1325880"/>
          </a:xfrm>
          <a:prstGeom prst="roundRect">
            <a:avLst>
              <a:gd name="adj" fmla="val 4138"/>
            </a:avLst>
          </a:prstGeom>
          <a:solidFill>
            <a:srgbClr val="FFFFFF"/>
          </a:solidFill>
          <a:ln/>
          <a:effectLst>
            <a:outerShdw sx="100000" sy="100000" kx="0" ky="0" algn="bl" rotWithShape="0" blurRad="50800" dist="12700" dir="5400000">
              <a:srgbClr val="000000">
                <a:alpha val="8000"/>
              </a:srgbClr>
            </a:outerShdw>
          </a:effectLst>
        </p:spPr>
      </p:sp>
      <p:sp>
        <p:nvSpPr>
          <p:cNvPr id="6" name="Shape 4"/>
          <p:cNvSpPr/>
          <p:nvPr/>
        </p:nvSpPr>
        <p:spPr>
          <a:xfrm>
            <a:off x="621792" y="1892808"/>
            <a:ext cx="201168" cy="201168"/>
          </a:xfrm>
          <a:prstGeom prst="ellipse">
            <a:avLst/>
          </a:prstGeom>
          <a:solidFill>
            <a:srgbClr val="2E75D6"/>
          </a:solidFill>
          <a:ln/>
        </p:spPr>
      </p:sp>
      <p:sp>
        <p:nvSpPr>
          <p:cNvPr id="7" name="Text 5"/>
          <p:cNvSpPr/>
          <p:nvPr/>
        </p:nvSpPr>
        <p:spPr>
          <a:xfrm>
            <a:off x="914400" y="1847088"/>
            <a:ext cx="210312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Bennu Asteroidi</a:t>
            </a:r>
            <a:endParaRPr lang="en-US" sz="1250" dirty="0"/>
          </a:p>
        </p:txBody>
      </p:sp>
      <p:sp>
        <p:nvSpPr>
          <p:cNvPr id="8" name="Text 6"/>
          <p:cNvSpPr/>
          <p:nvPr/>
        </p:nvSpPr>
        <p:spPr>
          <a:xfrm>
            <a:off x="621792" y="2194560"/>
            <a:ext cx="2377440" cy="841248"/>
          </a:xfrm>
          <a:prstGeom prst="rect">
            <a:avLst/>
          </a:prstGeom>
          <a:noFill/>
          <a:ln/>
        </p:spPr>
        <p:txBody>
          <a:bodyPr wrap="square" lIns="0" tIns="0" rIns="0" bIns="0" rtlCol="0" anchor="t"/>
          <a:lstStyle/>
          <a:p>
            <a:pPr indent="0" marL="0">
              <a:lnSpc>
                <a:spcPct val="105000"/>
              </a:lnSpc>
              <a:buNone/>
            </a:pPr>
            <a:r>
              <a:rPr lang="en-US" sz="950" dirty="0">
                <a:solidFill>
                  <a:srgbClr val="5B6472"/>
                </a:solidFill>
                <a:latin typeface="Calibri" pitchFamily="34" charset="0"/>
                <a:ea typeface="Calibri" pitchFamily="34" charset="-122"/>
                <a:cs typeface="Calibri" pitchFamily="34" charset="-120"/>
              </a:rPr>
              <a:t>JAXA Hayabusa2 misyonu örneklerinde NVA, NLE, AIB, ABA gibi non-kanonik amino asitler tespit edildi (2023).</a:t>
            </a:r>
            <a:endParaRPr lang="en-US" sz="950" dirty="0"/>
          </a:p>
        </p:txBody>
      </p:sp>
      <p:sp>
        <p:nvSpPr>
          <p:cNvPr id="9" name="Shape 7"/>
          <p:cNvSpPr/>
          <p:nvPr/>
        </p:nvSpPr>
        <p:spPr>
          <a:xfrm>
            <a:off x="3264408" y="1755648"/>
            <a:ext cx="2679192" cy="1325880"/>
          </a:xfrm>
          <a:prstGeom prst="roundRect">
            <a:avLst>
              <a:gd name="adj" fmla="val 4138"/>
            </a:avLst>
          </a:prstGeom>
          <a:solidFill>
            <a:srgbClr val="FFFFFF"/>
          </a:solidFill>
          <a:ln/>
          <a:effectLst>
            <a:outerShdw sx="100000" sy="100000" kx="0" ky="0" algn="bl" rotWithShape="0" blurRad="50800" dist="12700" dir="5400000">
              <a:srgbClr val="000000">
                <a:alpha val="8000"/>
              </a:srgbClr>
            </a:outerShdw>
          </a:effectLst>
        </p:spPr>
      </p:sp>
      <p:sp>
        <p:nvSpPr>
          <p:cNvPr id="10" name="Shape 8"/>
          <p:cNvSpPr/>
          <p:nvPr/>
        </p:nvSpPr>
        <p:spPr>
          <a:xfrm>
            <a:off x="3429000" y="1892808"/>
            <a:ext cx="201168" cy="201168"/>
          </a:xfrm>
          <a:prstGeom prst="ellipse">
            <a:avLst/>
          </a:prstGeom>
          <a:solidFill>
            <a:srgbClr val="1C7293"/>
          </a:solidFill>
          <a:ln/>
        </p:spPr>
      </p:sp>
      <p:sp>
        <p:nvSpPr>
          <p:cNvPr id="11" name="Text 9"/>
          <p:cNvSpPr/>
          <p:nvPr/>
        </p:nvSpPr>
        <p:spPr>
          <a:xfrm>
            <a:off x="3721608" y="1847088"/>
            <a:ext cx="210312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DnaK (HSP70)</a:t>
            </a:r>
            <a:endParaRPr lang="en-US" sz="1250" dirty="0"/>
          </a:p>
        </p:txBody>
      </p:sp>
      <p:sp>
        <p:nvSpPr>
          <p:cNvPr id="12" name="Text 10"/>
          <p:cNvSpPr/>
          <p:nvPr/>
        </p:nvSpPr>
        <p:spPr>
          <a:xfrm>
            <a:off x="3429000" y="2194560"/>
            <a:ext cx="2377440" cy="841248"/>
          </a:xfrm>
          <a:prstGeom prst="rect">
            <a:avLst/>
          </a:prstGeom>
          <a:noFill/>
          <a:ln/>
        </p:spPr>
        <p:txBody>
          <a:bodyPr wrap="square" lIns="0" tIns="0" rIns="0" bIns="0" rtlCol="0" anchor="t"/>
          <a:lstStyle/>
          <a:p>
            <a:pPr indent="0" marL="0">
              <a:lnSpc>
                <a:spcPct val="105000"/>
              </a:lnSpc>
              <a:buNone/>
            </a:pPr>
            <a:r>
              <a:rPr lang="en-US" sz="950" dirty="0">
                <a:solidFill>
                  <a:srgbClr val="5B6472"/>
                </a:solidFill>
                <a:latin typeface="Calibri" pitchFamily="34" charset="0"/>
                <a:ea typeface="Calibri" pitchFamily="34" charset="-122"/>
                <a:cs typeface="Calibri" pitchFamily="34" charset="-120"/>
              </a:rPr>
              <a:t>E. coli moleküler şaperonu; NBD-SBD allosterik mekanizmasıyla proteostazda kritik rol üstlenir.</a:t>
            </a:r>
            <a:endParaRPr lang="en-US" sz="950" dirty="0"/>
          </a:p>
        </p:txBody>
      </p:sp>
      <p:sp>
        <p:nvSpPr>
          <p:cNvPr id="13" name="Shape 11"/>
          <p:cNvSpPr/>
          <p:nvPr/>
        </p:nvSpPr>
        <p:spPr>
          <a:xfrm>
            <a:off x="6071616" y="1755648"/>
            <a:ext cx="2679192" cy="1325880"/>
          </a:xfrm>
          <a:prstGeom prst="roundRect">
            <a:avLst>
              <a:gd name="adj" fmla="val 4138"/>
            </a:avLst>
          </a:prstGeom>
          <a:solidFill>
            <a:srgbClr val="FFFFFF"/>
          </a:solidFill>
          <a:ln/>
          <a:effectLst>
            <a:outerShdw sx="100000" sy="100000" kx="0" ky="0" algn="bl" rotWithShape="0" blurRad="50800" dist="12700" dir="5400000">
              <a:srgbClr val="000000">
                <a:alpha val="8000"/>
              </a:srgbClr>
            </a:outerShdw>
          </a:effectLst>
        </p:spPr>
      </p:sp>
      <p:sp>
        <p:nvSpPr>
          <p:cNvPr id="14" name="Shape 12"/>
          <p:cNvSpPr/>
          <p:nvPr/>
        </p:nvSpPr>
        <p:spPr>
          <a:xfrm>
            <a:off x="6236208" y="1892808"/>
            <a:ext cx="201168" cy="201168"/>
          </a:xfrm>
          <a:prstGeom prst="ellipse">
            <a:avLst/>
          </a:prstGeom>
          <a:solidFill>
            <a:srgbClr val="1E8449"/>
          </a:solidFill>
          <a:ln/>
        </p:spPr>
      </p:sp>
      <p:sp>
        <p:nvSpPr>
          <p:cNvPr id="15" name="Text 13"/>
          <p:cNvSpPr/>
          <p:nvPr/>
        </p:nvSpPr>
        <p:spPr>
          <a:xfrm>
            <a:off x="6528816" y="1847088"/>
            <a:ext cx="2103120" cy="274320"/>
          </a:xfrm>
          <a:prstGeom prst="rect">
            <a:avLst/>
          </a:prstGeom>
          <a:noFill/>
          <a:ln/>
        </p:spPr>
        <p:txBody>
          <a:bodyPr wrap="square" lIns="0" tIns="0" rIns="0" bIns="0" rtlCol="0" anchor="ctr"/>
          <a:lstStyle/>
          <a:p>
            <a:pPr indent="0" marL="0">
              <a:buNone/>
            </a:pPr>
            <a:r>
              <a:rPr lang="en-US" sz="1250" b="1" dirty="0">
                <a:solidFill>
                  <a:srgbClr val="1B2A4A"/>
                </a:solidFill>
                <a:latin typeface="Calibri" pitchFamily="34" charset="0"/>
                <a:ea typeface="Calibri" pitchFamily="34" charset="-122"/>
                <a:cs typeface="Calibri" pitchFamily="34" charset="-120"/>
              </a:rPr>
              <a:t>İn Silico Yaklaşım</a:t>
            </a:r>
            <a:endParaRPr lang="en-US" sz="1250" dirty="0"/>
          </a:p>
        </p:txBody>
      </p:sp>
      <p:sp>
        <p:nvSpPr>
          <p:cNvPr id="16" name="Text 14"/>
          <p:cNvSpPr/>
          <p:nvPr/>
        </p:nvSpPr>
        <p:spPr>
          <a:xfrm>
            <a:off x="6236208" y="2194560"/>
            <a:ext cx="2377440" cy="841248"/>
          </a:xfrm>
          <a:prstGeom prst="rect">
            <a:avLst/>
          </a:prstGeom>
          <a:noFill/>
          <a:ln/>
        </p:spPr>
        <p:txBody>
          <a:bodyPr wrap="square" lIns="0" tIns="0" rIns="0" bIns="0" rtlCol="0" anchor="t"/>
          <a:lstStyle/>
          <a:p>
            <a:pPr indent="0" marL="0">
              <a:lnSpc>
                <a:spcPct val="105000"/>
              </a:lnSpc>
              <a:buNone/>
            </a:pPr>
            <a:r>
              <a:rPr lang="en-US" sz="950" dirty="0">
                <a:solidFill>
                  <a:srgbClr val="5B6472"/>
                </a:solidFill>
                <a:latin typeface="Calibri" pitchFamily="34" charset="0"/>
                <a:ea typeface="Calibri" pitchFamily="34" charset="-122"/>
                <a:cs typeface="Calibri" pitchFamily="34" charset="-120"/>
              </a:rPr>
              <a:t>PyRosetta (ΔΔG hesabı) + Boltz-2 (yapı tahmini) + PyMOL (görselleştirme).</a:t>
            </a:r>
            <a:endParaRPr lang="en-US" sz="950" dirty="0"/>
          </a:p>
        </p:txBody>
      </p:sp>
      <p:sp>
        <p:nvSpPr>
          <p:cNvPr id="17" name="Shape 15"/>
          <p:cNvSpPr/>
          <p:nvPr/>
        </p:nvSpPr>
        <p:spPr>
          <a:xfrm>
            <a:off x="457200" y="3200400"/>
            <a:ext cx="4069080" cy="786384"/>
          </a:xfrm>
          <a:prstGeom prst="roundRect">
            <a:avLst>
              <a:gd name="adj" fmla="val 6977"/>
            </a:avLst>
          </a:prstGeom>
          <a:solidFill>
            <a:srgbClr val="FFFFFF"/>
          </a:solidFill>
          <a:ln/>
          <a:effectLst>
            <a:outerShdw sx="100000" sy="100000" kx="0" ky="0" algn="bl" rotWithShape="0" blurRad="50800" dist="12700" dir="5400000">
              <a:srgbClr val="000000">
                <a:alpha val="8000"/>
              </a:srgbClr>
            </a:outerShdw>
          </a:effectLst>
        </p:spPr>
      </p:sp>
      <p:sp>
        <p:nvSpPr>
          <p:cNvPr id="18" name="Shape 16"/>
          <p:cNvSpPr/>
          <p:nvPr/>
        </p:nvSpPr>
        <p:spPr>
          <a:xfrm>
            <a:off x="594360" y="3364992"/>
            <a:ext cx="457200" cy="457200"/>
          </a:xfrm>
          <a:prstGeom prst="ellipse">
            <a:avLst/>
          </a:prstGeom>
          <a:solidFill>
            <a:srgbClr val="2E75D6"/>
          </a:solidFill>
          <a:ln/>
        </p:spPr>
      </p:sp>
      <p:sp>
        <p:nvSpPr>
          <p:cNvPr id="19" name="Text 17"/>
          <p:cNvSpPr/>
          <p:nvPr/>
        </p:nvSpPr>
        <p:spPr>
          <a:xfrm>
            <a:off x="594360" y="33649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H1</a:t>
            </a:r>
            <a:endParaRPr lang="en-US" sz="1300" dirty="0"/>
          </a:p>
        </p:txBody>
      </p:sp>
      <p:sp>
        <p:nvSpPr>
          <p:cNvPr id="20" name="Text 18"/>
          <p:cNvSpPr/>
          <p:nvPr/>
        </p:nvSpPr>
        <p:spPr>
          <a:xfrm>
            <a:off x="1170432" y="3273552"/>
            <a:ext cx="3246120" cy="640080"/>
          </a:xfrm>
          <a:prstGeom prst="rect">
            <a:avLst/>
          </a:prstGeom>
          <a:noFill/>
          <a:ln/>
        </p:spPr>
        <p:txBody>
          <a:bodyPr wrap="square" lIns="0" tIns="0" rIns="0" bIns="0" rtlCol="0" anchor="ctr"/>
          <a:lstStyle/>
          <a:p>
            <a:pPr indent="0" marL="0">
              <a:lnSpc>
                <a:spcPct val="105000"/>
              </a:lnSpc>
              <a:buNone/>
            </a:pPr>
            <a:r>
              <a:rPr lang="en-US" sz="1000" dirty="0">
                <a:solidFill>
                  <a:srgbClr val="1A1A2E"/>
                </a:solidFill>
                <a:latin typeface="Calibri" pitchFamily="34" charset="0"/>
                <a:ea typeface="Calibri" pitchFamily="34" charset="-122"/>
                <a:cs typeface="Calibri" pitchFamily="34" charset="-120"/>
              </a:rPr>
              <a:t>NVA ve NLE, lösinle yapısal yakınlıkları sayesinde linker bölgesinde tolere edilebilir.</a:t>
            </a:r>
            <a:endParaRPr lang="en-US" sz="1000" dirty="0"/>
          </a:p>
        </p:txBody>
      </p:sp>
      <p:sp>
        <p:nvSpPr>
          <p:cNvPr id="21" name="Shape 19"/>
          <p:cNvSpPr/>
          <p:nvPr/>
        </p:nvSpPr>
        <p:spPr>
          <a:xfrm>
            <a:off x="4617720" y="3200400"/>
            <a:ext cx="4069080" cy="786384"/>
          </a:xfrm>
          <a:prstGeom prst="roundRect">
            <a:avLst>
              <a:gd name="adj" fmla="val 6977"/>
            </a:avLst>
          </a:prstGeom>
          <a:solidFill>
            <a:srgbClr val="FFFFFF"/>
          </a:solidFill>
          <a:ln/>
          <a:effectLst>
            <a:outerShdw sx="100000" sy="100000" kx="0" ky="0" algn="bl" rotWithShape="0" blurRad="50800" dist="12700" dir="5400000">
              <a:srgbClr val="000000">
                <a:alpha val="8000"/>
              </a:srgbClr>
            </a:outerShdw>
          </a:effectLst>
        </p:spPr>
      </p:sp>
      <p:sp>
        <p:nvSpPr>
          <p:cNvPr id="22" name="Shape 20"/>
          <p:cNvSpPr/>
          <p:nvPr/>
        </p:nvSpPr>
        <p:spPr>
          <a:xfrm>
            <a:off x="4754880" y="3364992"/>
            <a:ext cx="457200" cy="457200"/>
          </a:xfrm>
          <a:prstGeom prst="ellipse">
            <a:avLst/>
          </a:prstGeom>
          <a:solidFill>
            <a:srgbClr val="C0392B"/>
          </a:solidFill>
          <a:ln/>
        </p:spPr>
      </p:sp>
      <p:sp>
        <p:nvSpPr>
          <p:cNvPr id="23" name="Text 21"/>
          <p:cNvSpPr/>
          <p:nvPr/>
        </p:nvSpPr>
        <p:spPr>
          <a:xfrm>
            <a:off x="4754880" y="3364992"/>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H2</a:t>
            </a:r>
            <a:endParaRPr lang="en-US" sz="1300" dirty="0"/>
          </a:p>
        </p:txBody>
      </p:sp>
      <p:sp>
        <p:nvSpPr>
          <p:cNvPr id="24" name="Text 22"/>
          <p:cNvSpPr/>
          <p:nvPr/>
        </p:nvSpPr>
        <p:spPr>
          <a:xfrm>
            <a:off x="5330952" y="3273552"/>
            <a:ext cx="3246120" cy="640080"/>
          </a:xfrm>
          <a:prstGeom prst="rect">
            <a:avLst/>
          </a:prstGeom>
          <a:noFill/>
          <a:ln/>
        </p:spPr>
        <p:txBody>
          <a:bodyPr wrap="square" lIns="0" tIns="0" rIns="0" bIns="0" rtlCol="0" anchor="ctr"/>
          <a:lstStyle/>
          <a:p>
            <a:pPr indent="0" marL="0">
              <a:lnSpc>
                <a:spcPct val="105000"/>
              </a:lnSpc>
              <a:buNone/>
            </a:pPr>
            <a:r>
              <a:rPr lang="en-US" sz="1000" dirty="0">
                <a:solidFill>
                  <a:srgbClr val="1A1A2E"/>
                </a:solidFill>
                <a:latin typeface="Calibri" pitchFamily="34" charset="0"/>
                <a:ea typeface="Calibri" pitchFamily="34" charset="-122"/>
                <a:cs typeface="Calibri" pitchFamily="34" charset="-120"/>
              </a:rPr>
              <a:t>β-Dallı ILE ve α,α-dialkil AIB, linker geometrisiyle çelişerek destabilizasyona yol açar.</a:t>
            </a:r>
            <a:endParaRPr lang="en-US" sz="1000" dirty="0"/>
          </a:p>
        </p:txBody>
      </p:sp>
      <p:sp>
        <p:nvSpPr>
          <p:cNvPr id="25" name="Shape 23"/>
          <p:cNvSpPr/>
          <p:nvPr/>
        </p:nvSpPr>
        <p:spPr>
          <a:xfrm>
            <a:off x="457200" y="4078224"/>
            <a:ext cx="4069080" cy="786384"/>
          </a:xfrm>
          <a:prstGeom prst="roundRect">
            <a:avLst>
              <a:gd name="adj" fmla="val 6977"/>
            </a:avLst>
          </a:prstGeom>
          <a:solidFill>
            <a:srgbClr val="FFFFFF"/>
          </a:solidFill>
          <a:ln/>
          <a:effectLst>
            <a:outerShdw sx="100000" sy="100000" kx="0" ky="0" algn="bl" rotWithShape="0" blurRad="50800" dist="12700" dir="5400000">
              <a:srgbClr val="000000">
                <a:alpha val="8000"/>
              </a:srgbClr>
            </a:outerShdw>
          </a:effectLst>
        </p:spPr>
      </p:sp>
      <p:sp>
        <p:nvSpPr>
          <p:cNvPr id="26" name="Shape 24"/>
          <p:cNvSpPr/>
          <p:nvPr/>
        </p:nvSpPr>
        <p:spPr>
          <a:xfrm>
            <a:off x="594360" y="4242816"/>
            <a:ext cx="457200" cy="457200"/>
          </a:xfrm>
          <a:prstGeom prst="ellipse">
            <a:avLst/>
          </a:prstGeom>
          <a:solidFill>
            <a:srgbClr val="C9881A"/>
          </a:solidFill>
          <a:ln/>
        </p:spPr>
      </p:sp>
      <p:sp>
        <p:nvSpPr>
          <p:cNvPr id="27" name="Text 25"/>
          <p:cNvSpPr/>
          <p:nvPr/>
        </p:nvSpPr>
        <p:spPr>
          <a:xfrm>
            <a:off x="594360"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H3</a:t>
            </a:r>
            <a:endParaRPr lang="en-US" sz="1300" dirty="0"/>
          </a:p>
        </p:txBody>
      </p:sp>
      <p:sp>
        <p:nvSpPr>
          <p:cNvPr id="28" name="Text 26"/>
          <p:cNvSpPr/>
          <p:nvPr/>
        </p:nvSpPr>
        <p:spPr>
          <a:xfrm>
            <a:off x="1170432" y="4151376"/>
            <a:ext cx="3246120" cy="640080"/>
          </a:xfrm>
          <a:prstGeom prst="rect">
            <a:avLst/>
          </a:prstGeom>
          <a:noFill/>
          <a:ln/>
        </p:spPr>
        <p:txBody>
          <a:bodyPr wrap="square" lIns="0" tIns="0" rIns="0" bIns="0" rtlCol="0" anchor="ctr"/>
          <a:lstStyle/>
          <a:p>
            <a:pPr indent="0" marL="0">
              <a:lnSpc>
                <a:spcPct val="105000"/>
              </a:lnSpc>
              <a:buNone/>
            </a:pPr>
            <a:r>
              <a:rPr lang="en-US" sz="1000" dirty="0">
                <a:solidFill>
                  <a:srgbClr val="1A1A2E"/>
                </a:solidFill>
                <a:latin typeface="Calibri" pitchFamily="34" charset="0"/>
                <a:ea typeface="Calibri" pitchFamily="34" charset="-122"/>
                <a:cs typeface="Calibri" pitchFamily="34" charset="-120"/>
              </a:rPr>
              <a:t>SBD alanin pozisyonları hacim artışına karşı son derece hassastır.</a:t>
            </a:r>
            <a:endParaRPr lang="en-US" sz="1000" dirty="0"/>
          </a:p>
        </p:txBody>
      </p:sp>
      <p:sp>
        <p:nvSpPr>
          <p:cNvPr id="29" name="Shape 27"/>
          <p:cNvSpPr/>
          <p:nvPr/>
        </p:nvSpPr>
        <p:spPr>
          <a:xfrm>
            <a:off x="4617720" y="4078224"/>
            <a:ext cx="4069080" cy="786384"/>
          </a:xfrm>
          <a:prstGeom prst="roundRect">
            <a:avLst>
              <a:gd name="adj" fmla="val 6977"/>
            </a:avLst>
          </a:prstGeom>
          <a:solidFill>
            <a:srgbClr val="FFFFFF"/>
          </a:solidFill>
          <a:ln/>
          <a:effectLst>
            <a:outerShdw sx="100000" sy="100000" kx="0" ky="0" algn="bl" rotWithShape="0" blurRad="50800" dist="12700" dir="5400000">
              <a:srgbClr val="000000">
                <a:alpha val="8000"/>
              </a:srgbClr>
            </a:outerShdw>
          </a:effectLst>
        </p:spPr>
      </p:sp>
      <p:sp>
        <p:nvSpPr>
          <p:cNvPr id="30" name="Shape 28"/>
          <p:cNvSpPr/>
          <p:nvPr/>
        </p:nvSpPr>
        <p:spPr>
          <a:xfrm>
            <a:off x="4754880" y="4242816"/>
            <a:ext cx="457200" cy="457200"/>
          </a:xfrm>
          <a:prstGeom prst="ellipse">
            <a:avLst/>
          </a:prstGeom>
          <a:solidFill>
            <a:srgbClr val="5B6472"/>
          </a:solidFill>
          <a:ln/>
        </p:spPr>
      </p:sp>
      <p:sp>
        <p:nvSpPr>
          <p:cNvPr id="31" name="Text 29"/>
          <p:cNvSpPr/>
          <p:nvPr/>
        </p:nvSpPr>
        <p:spPr>
          <a:xfrm>
            <a:off x="4754880" y="4242816"/>
            <a:ext cx="457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H4</a:t>
            </a:r>
            <a:endParaRPr lang="en-US" sz="1300" dirty="0"/>
          </a:p>
        </p:txBody>
      </p:sp>
      <p:sp>
        <p:nvSpPr>
          <p:cNvPr id="32" name="Text 30"/>
          <p:cNvSpPr/>
          <p:nvPr/>
        </p:nvSpPr>
        <p:spPr>
          <a:xfrm>
            <a:off x="5330952" y="4151376"/>
            <a:ext cx="3246120" cy="640080"/>
          </a:xfrm>
          <a:prstGeom prst="rect">
            <a:avLst/>
          </a:prstGeom>
          <a:noFill/>
          <a:ln/>
        </p:spPr>
        <p:txBody>
          <a:bodyPr wrap="square" lIns="0" tIns="0" rIns="0" bIns="0" rtlCol="0" anchor="ctr"/>
          <a:lstStyle/>
          <a:p>
            <a:pPr indent="0" marL="0">
              <a:lnSpc>
                <a:spcPct val="105000"/>
              </a:lnSpc>
              <a:buNone/>
            </a:pPr>
            <a:r>
              <a:rPr lang="en-US" sz="1000" dirty="0">
                <a:solidFill>
                  <a:srgbClr val="1A1A2E"/>
                </a:solidFill>
                <a:latin typeface="Calibri" pitchFamily="34" charset="0"/>
                <a:ea typeface="Calibri" pitchFamily="34" charset="-122"/>
                <a:cs typeface="Calibri" pitchFamily="34" charset="-120"/>
              </a:rPr>
              <a:t>β-Alanin (B3A) omurga uyumsuzluğu nedeniyle hesaplanamaz.</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E33"/>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rtlCol="0" anchor="ctr"/>
          <a:lstStyle/>
          <a:p>
            <a:pPr indent="0" marL="0">
              <a:buNone/>
            </a:pPr>
            <a:r>
              <a:rPr lang="en-US" sz="2800" b="1" dirty="0">
                <a:solidFill>
                  <a:srgbClr val="FFFFFF"/>
                </a:solidFill>
                <a:latin typeface="Cambria" pitchFamily="34" charset="0"/>
                <a:ea typeface="Cambria" pitchFamily="34" charset="-122"/>
                <a:cs typeface="Cambria" pitchFamily="34" charset="-120"/>
              </a:rPr>
              <a:t>Yöntem</a:t>
            </a:r>
            <a:endParaRPr lang="en-US" sz="2800" dirty="0"/>
          </a:p>
        </p:txBody>
      </p:sp>
      <p:sp>
        <p:nvSpPr>
          <p:cNvPr id="3" name="Shape 1"/>
          <p:cNvSpPr/>
          <p:nvPr/>
        </p:nvSpPr>
        <p:spPr>
          <a:xfrm>
            <a:off x="1106424" y="868680"/>
            <a:ext cx="640080" cy="640080"/>
          </a:xfrm>
          <a:prstGeom prst="ellipse">
            <a:avLst/>
          </a:prstGeom>
          <a:solidFill>
            <a:srgbClr val="2E75D6"/>
          </a:solidFill>
          <a:ln/>
        </p:spPr>
      </p:sp>
      <p:sp>
        <p:nvSpPr>
          <p:cNvPr id="4" name="Text 2"/>
          <p:cNvSpPr/>
          <p:nvPr/>
        </p:nvSpPr>
        <p:spPr>
          <a:xfrm>
            <a:off x="1106424" y="868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1</a:t>
            </a:r>
            <a:endParaRPr lang="en-US" sz="2200" dirty="0"/>
          </a:p>
        </p:txBody>
      </p:sp>
      <p:sp>
        <p:nvSpPr>
          <p:cNvPr id="5" name="Text 3"/>
          <p:cNvSpPr/>
          <p:nvPr/>
        </p:nvSpPr>
        <p:spPr>
          <a:xfrm>
            <a:off x="2414016" y="868680"/>
            <a:ext cx="128016" cy="640080"/>
          </a:xfrm>
          <a:prstGeom prst="rect">
            <a:avLst/>
          </a:prstGeom>
          <a:noFill/>
          <a:ln/>
        </p:spPr>
        <p:txBody>
          <a:bodyPr wrap="square" lIns="0" tIns="0" rIns="0" bIns="0" rtlCol="0" anchor="ctr"/>
          <a:lstStyle/>
          <a:p>
            <a:pPr algn="ctr" indent="0" marL="0">
              <a:buNone/>
            </a:pPr>
            <a:r>
              <a:rPr lang="en-US" sz="1800" dirty="0">
                <a:solidFill>
                  <a:srgbClr val="8FA3C8"/>
                </a:solidFill>
              </a:rPr>
              <a:t>→</a:t>
            </a:r>
            <a:endParaRPr lang="en-US" sz="1800" dirty="0"/>
          </a:p>
        </p:txBody>
      </p:sp>
      <p:sp>
        <p:nvSpPr>
          <p:cNvPr id="6" name="Shape 4"/>
          <p:cNvSpPr/>
          <p:nvPr/>
        </p:nvSpPr>
        <p:spPr>
          <a:xfrm>
            <a:off x="457200" y="1691640"/>
            <a:ext cx="1938528" cy="3108960"/>
          </a:xfrm>
          <a:prstGeom prst="roundRect">
            <a:avLst>
              <a:gd name="adj" fmla="val 2830"/>
            </a:avLst>
          </a:prstGeom>
          <a:solidFill>
            <a:srgbClr val="243453"/>
          </a:solidFill>
          <a:ln/>
        </p:spPr>
      </p:sp>
      <p:sp>
        <p:nvSpPr>
          <p:cNvPr id="7" name="Text 5"/>
          <p:cNvSpPr/>
          <p:nvPr/>
        </p:nvSpPr>
        <p:spPr>
          <a:xfrm>
            <a:off x="566928" y="1810512"/>
            <a:ext cx="1719072"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Protein Yapısı</a:t>
            </a:r>
            <a:endParaRPr lang="en-US" sz="1250" dirty="0"/>
          </a:p>
        </p:txBody>
      </p:sp>
      <p:sp>
        <p:nvSpPr>
          <p:cNvPr id="8" name="Text 6"/>
          <p:cNvSpPr/>
          <p:nvPr/>
        </p:nvSpPr>
        <p:spPr>
          <a:xfrm>
            <a:off x="594360" y="2331720"/>
            <a:ext cx="1664208" cy="2377440"/>
          </a:xfrm>
          <a:prstGeom prst="rect">
            <a:avLst/>
          </a:prstGeom>
          <a:noFill/>
          <a:ln/>
        </p:spPr>
        <p:txBody>
          <a:bodyPr wrap="square" lIns="0" tIns="0" rIns="0" bIns="0" rtlCol="0" anchor="t"/>
          <a:lstStyle/>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E. coli DnaK</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PDB: 4B9Q (2.0 Å)</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A Zinciri: 587 aa</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Hedef: L390–L391 (Linker)</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A429–A435 (SBD β-sandviç)</a:t>
            </a:r>
            <a:endParaRPr lang="en-US" sz="1000" dirty="0"/>
          </a:p>
        </p:txBody>
      </p:sp>
      <p:sp>
        <p:nvSpPr>
          <p:cNvPr id="9" name="Shape 7"/>
          <p:cNvSpPr/>
          <p:nvPr/>
        </p:nvSpPr>
        <p:spPr>
          <a:xfrm>
            <a:off x="3209544" y="868680"/>
            <a:ext cx="640080" cy="640080"/>
          </a:xfrm>
          <a:prstGeom prst="ellipse">
            <a:avLst/>
          </a:prstGeom>
          <a:solidFill>
            <a:srgbClr val="1E8449"/>
          </a:solidFill>
          <a:ln/>
        </p:spPr>
      </p:sp>
      <p:sp>
        <p:nvSpPr>
          <p:cNvPr id="10" name="Text 8"/>
          <p:cNvSpPr/>
          <p:nvPr/>
        </p:nvSpPr>
        <p:spPr>
          <a:xfrm>
            <a:off x="3209544" y="868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2</a:t>
            </a:r>
            <a:endParaRPr lang="en-US" sz="2200" dirty="0"/>
          </a:p>
        </p:txBody>
      </p:sp>
      <p:sp>
        <p:nvSpPr>
          <p:cNvPr id="11" name="Text 9"/>
          <p:cNvSpPr/>
          <p:nvPr/>
        </p:nvSpPr>
        <p:spPr>
          <a:xfrm>
            <a:off x="4517136" y="868680"/>
            <a:ext cx="128016" cy="640080"/>
          </a:xfrm>
          <a:prstGeom prst="rect">
            <a:avLst/>
          </a:prstGeom>
          <a:noFill/>
          <a:ln/>
        </p:spPr>
        <p:txBody>
          <a:bodyPr wrap="square" lIns="0" tIns="0" rIns="0" bIns="0" rtlCol="0" anchor="ctr"/>
          <a:lstStyle/>
          <a:p>
            <a:pPr algn="ctr" indent="0" marL="0">
              <a:buNone/>
            </a:pPr>
            <a:r>
              <a:rPr lang="en-US" sz="1800" dirty="0">
                <a:solidFill>
                  <a:srgbClr val="8FA3C8"/>
                </a:solidFill>
              </a:rPr>
              <a:t>→</a:t>
            </a:r>
            <a:endParaRPr lang="en-US" sz="1800" dirty="0"/>
          </a:p>
        </p:txBody>
      </p:sp>
      <p:sp>
        <p:nvSpPr>
          <p:cNvPr id="12" name="Shape 10"/>
          <p:cNvSpPr/>
          <p:nvPr/>
        </p:nvSpPr>
        <p:spPr>
          <a:xfrm>
            <a:off x="2560320" y="1691640"/>
            <a:ext cx="1938528" cy="3108960"/>
          </a:xfrm>
          <a:prstGeom prst="roundRect">
            <a:avLst>
              <a:gd name="adj" fmla="val 2830"/>
            </a:avLst>
          </a:prstGeom>
          <a:solidFill>
            <a:srgbClr val="243453"/>
          </a:solidFill>
          <a:ln/>
        </p:spPr>
      </p:sp>
      <p:sp>
        <p:nvSpPr>
          <p:cNvPr id="13" name="Text 11"/>
          <p:cNvSpPr/>
          <p:nvPr/>
        </p:nvSpPr>
        <p:spPr>
          <a:xfrm>
            <a:off x="2670048" y="1810512"/>
            <a:ext cx="1719072"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PyRosetta ΔΔG</a:t>
            </a:r>
            <a:endParaRPr lang="en-US" sz="1250" dirty="0"/>
          </a:p>
        </p:txBody>
      </p:sp>
      <p:sp>
        <p:nvSpPr>
          <p:cNvPr id="14" name="Text 12"/>
          <p:cNvSpPr/>
          <p:nvPr/>
        </p:nvSpPr>
        <p:spPr>
          <a:xfrm>
            <a:off x="2697480" y="2331720"/>
            <a:ext cx="1664208" cy="2377440"/>
          </a:xfrm>
          <a:prstGeom prst="rect">
            <a:avLst/>
          </a:prstGeom>
          <a:noFill/>
          <a:ln/>
        </p:spPr>
        <p:txBody>
          <a:bodyPr wrap="square" lIns="0" tIns="0" rIns="0" bIns="0" rtlCol="0" anchor="t"/>
          <a:lstStyle/>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ref2015 enerji fonksiyonu</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ΔΔG = E_mutant − E_WT</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Rigid-backbone yaklaşımı</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NVA için NVL CCD kodu</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11 mutant yapı</a:t>
            </a:r>
            <a:endParaRPr lang="en-US" sz="1000" dirty="0"/>
          </a:p>
        </p:txBody>
      </p:sp>
      <p:sp>
        <p:nvSpPr>
          <p:cNvPr id="15" name="Shape 13"/>
          <p:cNvSpPr/>
          <p:nvPr/>
        </p:nvSpPr>
        <p:spPr>
          <a:xfrm>
            <a:off x="5312664" y="868680"/>
            <a:ext cx="640080" cy="640080"/>
          </a:xfrm>
          <a:prstGeom prst="ellipse">
            <a:avLst/>
          </a:prstGeom>
          <a:solidFill>
            <a:srgbClr val="D4690A"/>
          </a:solidFill>
          <a:ln/>
        </p:spPr>
      </p:sp>
      <p:sp>
        <p:nvSpPr>
          <p:cNvPr id="16" name="Text 14"/>
          <p:cNvSpPr/>
          <p:nvPr/>
        </p:nvSpPr>
        <p:spPr>
          <a:xfrm>
            <a:off x="5312664" y="868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3</a:t>
            </a:r>
            <a:endParaRPr lang="en-US" sz="2200" dirty="0"/>
          </a:p>
        </p:txBody>
      </p:sp>
      <p:sp>
        <p:nvSpPr>
          <p:cNvPr id="17" name="Text 15"/>
          <p:cNvSpPr/>
          <p:nvPr/>
        </p:nvSpPr>
        <p:spPr>
          <a:xfrm>
            <a:off x="6620256" y="868680"/>
            <a:ext cx="128016" cy="640080"/>
          </a:xfrm>
          <a:prstGeom prst="rect">
            <a:avLst/>
          </a:prstGeom>
          <a:noFill/>
          <a:ln/>
        </p:spPr>
        <p:txBody>
          <a:bodyPr wrap="square" lIns="0" tIns="0" rIns="0" bIns="0" rtlCol="0" anchor="ctr"/>
          <a:lstStyle/>
          <a:p>
            <a:pPr algn="ctr" indent="0" marL="0">
              <a:buNone/>
            </a:pPr>
            <a:r>
              <a:rPr lang="en-US" sz="1800" dirty="0">
                <a:solidFill>
                  <a:srgbClr val="8FA3C8"/>
                </a:solidFill>
              </a:rPr>
              <a:t>→</a:t>
            </a:r>
            <a:endParaRPr lang="en-US" sz="1800" dirty="0"/>
          </a:p>
        </p:txBody>
      </p:sp>
      <p:sp>
        <p:nvSpPr>
          <p:cNvPr id="18" name="Shape 16"/>
          <p:cNvSpPr/>
          <p:nvPr/>
        </p:nvSpPr>
        <p:spPr>
          <a:xfrm>
            <a:off x="4663440" y="1691640"/>
            <a:ext cx="1938528" cy="3108960"/>
          </a:xfrm>
          <a:prstGeom prst="roundRect">
            <a:avLst>
              <a:gd name="adj" fmla="val 2830"/>
            </a:avLst>
          </a:prstGeom>
          <a:solidFill>
            <a:srgbClr val="243453"/>
          </a:solidFill>
          <a:ln/>
        </p:spPr>
      </p:sp>
      <p:sp>
        <p:nvSpPr>
          <p:cNvPr id="19" name="Text 17"/>
          <p:cNvSpPr/>
          <p:nvPr/>
        </p:nvSpPr>
        <p:spPr>
          <a:xfrm>
            <a:off x="4773168" y="1810512"/>
            <a:ext cx="1719072"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Boltz-2 Yapı Tahmini</a:t>
            </a:r>
            <a:endParaRPr lang="en-US" sz="1250" dirty="0"/>
          </a:p>
        </p:txBody>
      </p:sp>
      <p:sp>
        <p:nvSpPr>
          <p:cNvPr id="20" name="Text 18"/>
          <p:cNvSpPr/>
          <p:nvPr/>
        </p:nvSpPr>
        <p:spPr>
          <a:xfrm>
            <a:off x="4800600" y="2331720"/>
            <a:ext cx="1664208" cy="2377440"/>
          </a:xfrm>
          <a:prstGeom prst="rect">
            <a:avLst/>
          </a:prstGeom>
          <a:noFill/>
          <a:ln/>
        </p:spPr>
        <p:txBody>
          <a:bodyPr wrap="square" lIns="0" tIns="0" rIns="0" bIns="0" rtlCol="0" anchor="t"/>
          <a:lstStyle/>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tamarind.bio platformu</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Mutant–WT süperpozisyonu</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CCD kodu + pozisyon girişi</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11 yapı tahmini tamamlandı</a:t>
            </a:r>
            <a:endParaRPr lang="en-US" sz="1000" dirty="0"/>
          </a:p>
        </p:txBody>
      </p:sp>
      <p:sp>
        <p:nvSpPr>
          <p:cNvPr id="21" name="Shape 19"/>
          <p:cNvSpPr/>
          <p:nvPr/>
        </p:nvSpPr>
        <p:spPr>
          <a:xfrm>
            <a:off x="7415784" y="868680"/>
            <a:ext cx="640080" cy="640080"/>
          </a:xfrm>
          <a:prstGeom prst="ellipse">
            <a:avLst/>
          </a:prstGeom>
          <a:solidFill>
            <a:srgbClr val="1C7293"/>
          </a:solidFill>
          <a:ln/>
        </p:spPr>
      </p:sp>
      <p:sp>
        <p:nvSpPr>
          <p:cNvPr id="22" name="Text 20"/>
          <p:cNvSpPr/>
          <p:nvPr/>
        </p:nvSpPr>
        <p:spPr>
          <a:xfrm>
            <a:off x="7415784" y="868680"/>
            <a:ext cx="640080" cy="640080"/>
          </a:xfrm>
          <a:prstGeom prst="rect">
            <a:avLst/>
          </a:prstGeom>
          <a:noFill/>
          <a:ln/>
        </p:spPr>
        <p:txBody>
          <a:bodyPr wrap="square" lIns="0" tIns="0" rIns="0" bIns="0" rtlCol="0" anchor="ctr"/>
          <a:lstStyle/>
          <a:p>
            <a:pPr algn="ctr" indent="0" marL="0">
              <a:buNone/>
            </a:pPr>
            <a:r>
              <a:rPr lang="en-US" sz="2200" b="1" dirty="0">
                <a:solidFill>
                  <a:srgbClr val="FFFFFF"/>
                </a:solidFill>
                <a:latin typeface="Calibri" pitchFamily="34" charset="0"/>
                <a:ea typeface="Calibri" pitchFamily="34" charset="-122"/>
                <a:cs typeface="Calibri" pitchFamily="34" charset="-120"/>
              </a:rPr>
              <a:t>4</a:t>
            </a:r>
            <a:endParaRPr lang="en-US" sz="2200" dirty="0"/>
          </a:p>
        </p:txBody>
      </p:sp>
      <p:sp>
        <p:nvSpPr>
          <p:cNvPr id="23" name="Shape 21"/>
          <p:cNvSpPr/>
          <p:nvPr/>
        </p:nvSpPr>
        <p:spPr>
          <a:xfrm>
            <a:off x="6766560" y="1691640"/>
            <a:ext cx="1938528" cy="3108960"/>
          </a:xfrm>
          <a:prstGeom prst="roundRect">
            <a:avLst>
              <a:gd name="adj" fmla="val 2830"/>
            </a:avLst>
          </a:prstGeom>
          <a:solidFill>
            <a:srgbClr val="243453"/>
          </a:solidFill>
          <a:ln/>
        </p:spPr>
      </p:sp>
      <p:sp>
        <p:nvSpPr>
          <p:cNvPr id="24" name="Text 22"/>
          <p:cNvSpPr/>
          <p:nvPr/>
        </p:nvSpPr>
        <p:spPr>
          <a:xfrm>
            <a:off x="6876288" y="1810512"/>
            <a:ext cx="1719072" cy="457200"/>
          </a:xfrm>
          <a:prstGeom prst="rect">
            <a:avLst/>
          </a:prstGeom>
          <a:noFill/>
          <a:ln/>
        </p:spPr>
        <p:txBody>
          <a:bodyPr wrap="square" lIns="0" tIns="0" rIns="0" bIns="0" rtlCol="0" anchor="t"/>
          <a:lstStyle/>
          <a:p>
            <a:pPr algn="ctr" indent="0" marL="0">
              <a:buNone/>
            </a:pPr>
            <a:r>
              <a:rPr lang="en-US" sz="1250" b="1" dirty="0">
                <a:solidFill>
                  <a:srgbClr val="FFFFFF"/>
                </a:solidFill>
                <a:latin typeface="Calibri" pitchFamily="34" charset="0"/>
                <a:ea typeface="Calibri" pitchFamily="34" charset="-122"/>
                <a:cs typeface="Calibri" pitchFamily="34" charset="-120"/>
              </a:rPr>
              <a:t>PyMOL Görselleştirme</a:t>
            </a:r>
            <a:endParaRPr lang="en-US" sz="1250" dirty="0"/>
          </a:p>
        </p:txBody>
      </p:sp>
      <p:sp>
        <p:nvSpPr>
          <p:cNvPr id="25" name="Text 23"/>
          <p:cNvSpPr/>
          <p:nvPr/>
        </p:nvSpPr>
        <p:spPr>
          <a:xfrm>
            <a:off x="6903720" y="2331720"/>
            <a:ext cx="1664208" cy="2377440"/>
          </a:xfrm>
          <a:prstGeom prst="rect">
            <a:avLst/>
          </a:prstGeom>
          <a:noFill/>
          <a:ln/>
        </p:spPr>
        <p:txBody>
          <a:bodyPr wrap="square" lIns="0" tIns="0" rIns="0" bIns="0" rtlCol="0" anchor="t"/>
          <a:lstStyle/>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3 açı/mutant (yakın, orta, uzak)</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Mavi=WT, Yeşil=NVA</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Turuncu=ILE, Cyan=VAL</a:t>
            </a:r>
            <a:endParaRPr lang="en-US" sz="1000" dirty="0"/>
          </a:p>
          <a:p>
            <a:pPr indent="0" marL="0">
              <a:lnSpc>
                <a:spcPct val="115000"/>
              </a:lnSpc>
              <a:buNone/>
            </a:pPr>
            <a:r>
              <a:rPr lang="en-US" sz="1000" dirty="0">
                <a:solidFill>
                  <a:srgbClr val="C5D3EC"/>
                </a:solidFill>
                <a:latin typeface="Calibri" pitchFamily="34" charset="0"/>
                <a:ea typeface="Calibri" pitchFamily="34" charset="-122"/>
                <a:cs typeface="Calibri" pitchFamily="34" charset="-120"/>
              </a:rPr>
              <a:t>Magenta=AIB</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Linker Bölgesi (L390–L391) — ΔΔG Sonuçları</a:t>
            </a:r>
            <a:endParaRPr lang="en-US" sz="26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1280160"/>
                <a:gridCol w="1645920"/>
                <a:gridCol w="1371600"/>
                <a:gridCol w="3931920"/>
              </a:tblGrid>
              <a:tr h="22402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Amino Asit</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Pozisyon</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ΔΔG (REU)</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Etki</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−3.951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−3.751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−6.090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−4.905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+2.418</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Hafif destabilize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−2.403</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+65.519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Şiddetli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+7.318</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+72.800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Şiddetli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+5.700</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+18.573</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L390+L391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+25.364</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NLE / ABA / B3A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HATA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Rotamer/omurga uyumsuzluğu</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Norvalin (NVA) — Linker Bölgesi (L390–L391)</a:t>
            </a:r>
            <a:endParaRPr lang="en-US" sz="2600" dirty="0"/>
          </a:p>
        </p:txBody>
      </p:sp>
      <p:sp>
        <p:nvSpPr>
          <p:cNvPr id="3" name="Shape 1"/>
          <p:cNvSpPr/>
          <p:nvPr/>
        </p:nvSpPr>
        <p:spPr>
          <a:xfrm>
            <a:off x="457200"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L390NVA</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−3.951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L391NVA</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−3.751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1A4A8C"/>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L390+L391NVA</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−6.090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1993392" cy="1495044"/>
          </a:xfrm>
          <a:prstGeom prst="rect">
            <a:avLst/>
          </a:prstGeom>
        </p:spPr>
      </p:pic>
      <p:sp>
        <p:nvSpPr>
          <p:cNvPr id="13" name="Shape 10"/>
          <p:cNvSpPr/>
          <p:nvPr/>
        </p:nvSpPr>
        <p:spPr>
          <a:xfrm>
            <a:off x="457200" y="1755648"/>
            <a:ext cx="1993392" cy="1495044"/>
          </a:xfrm>
          <a:prstGeom prst="rect">
            <a:avLst/>
          </a:prstGeom>
          <a:ln w="9525">
            <a:solidFill>
              <a:srgbClr val="D0D5DD"/>
            </a:solidFill>
            <a:prstDash val="solid"/>
          </a:ln>
        </p:spPr>
      </p:sp>
      <p:sp>
        <p:nvSpPr>
          <p:cNvPr id="14" name="Text 11"/>
          <p:cNvSpPr/>
          <p:nvPr/>
        </p:nvSpPr>
        <p:spPr>
          <a:xfrm>
            <a:off x="457200" y="3250692"/>
            <a:ext cx="19933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 L390NVA yakın görünüm</a:t>
            </a:r>
            <a:endParaRPr lang="en-US" sz="800" dirty="0"/>
          </a:p>
        </p:txBody>
      </p:sp>
      <p:pic>
        <p:nvPicPr>
          <p:cNvPr id="15" name="Image 1" descr="preencoded.png">    </p:cNvPr>
          <p:cNvPicPr>
            <a:picLocks noChangeAspect="1"/>
          </p:cNvPicPr>
          <p:nvPr/>
        </p:nvPicPr>
        <p:blipFill>
          <a:blip r:embed="rId2"/>
          <a:srcRect l="0" r="0" t="0" b="0"/>
          <a:stretch/>
        </p:blipFill>
        <p:spPr>
          <a:xfrm>
            <a:off x="2514600" y="1755648"/>
            <a:ext cx="1993392" cy="1495044"/>
          </a:xfrm>
          <a:prstGeom prst="rect">
            <a:avLst/>
          </a:prstGeom>
        </p:spPr>
      </p:pic>
      <p:sp>
        <p:nvSpPr>
          <p:cNvPr id="16" name="Shape 12"/>
          <p:cNvSpPr/>
          <p:nvPr/>
        </p:nvSpPr>
        <p:spPr>
          <a:xfrm>
            <a:off x="2514600" y="1755648"/>
            <a:ext cx="1993392" cy="1495044"/>
          </a:xfrm>
          <a:prstGeom prst="rect">
            <a:avLst/>
          </a:prstGeom>
          <a:ln w="9525">
            <a:solidFill>
              <a:srgbClr val="D0D5DD"/>
            </a:solidFill>
            <a:prstDash val="solid"/>
          </a:ln>
        </p:spPr>
      </p:sp>
      <p:sp>
        <p:nvSpPr>
          <p:cNvPr id="17" name="Text 13"/>
          <p:cNvSpPr/>
          <p:nvPr/>
        </p:nvSpPr>
        <p:spPr>
          <a:xfrm>
            <a:off x="2514600" y="3250692"/>
            <a:ext cx="19933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4: L391NVA yakın görünüm</a:t>
            </a:r>
            <a:endParaRPr lang="en-US" sz="800" dirty="0"/>
          </a:p>
        </p:txBody>
      </p:sp>
      <p:pic>
        <p:nvPicPr>
          <p:cNvPr id="18" name="Image 2" descr="preencoded.png">    </p:cNvPr>
          <p:cNvPicPr>
            <a:picLocks noChangeAspect="1"/>
          </p:cNvPicPr>
          <p:nvPr/>
        </p:nvPicPr>
        <p:blipFill>
          <a:blip r:embed="rId3"/>
          <a:srcRect l="0" r="0" t="0" b="0"/>
          <a:stretch/>
        </p:blipFill>
        <p:spPr>
          <a:xfrm>
            <a:off x="4572000" y="1755648"/>
            <a:ext cx="1993392" cy="1495044"/>
          </a:xfrm>
          <a:prstGeom prst="rect">
            <a:avLst/>
          </a:prstGeom>
        </p:spPr>
      </p:pic>
      <p:sp>
        <p:nvSpPr>
          <p:cNvPr id="19" name="Shape 14"/>
          <p:cNvSpPr/>
          <p:nvPr/>
        </p:nvSpPr>
        <p:spPr>
          <a:xfrm>
            <a:off x="4572000" y="1755648"/>
            <a:ext cx="1993392" cy="1495044"/>
          </a:xfrm>
          <a:prstGeom prst="rect">
            <a:avLst/>
          </a:prstGeom>
          <a:ln w="9525">
            <a:solidFill>
              <a:srgbClr val="D0D5DD"/>
            </a:solidFill>
            <a:prstDash val="solid"/>
          </a:ln>
        </p:spPr>
      </p:sp>
      <p:sp>
        <p:nvSpPr>
          <p:cNvPr id="20" name="Text 15"/>
          <p:cNvSpPr/>
          <p:nvPr/>
        </p:nvSpPr>
        <p:spPr>
          <a:xfrm>
            <a:off x="4572000" y="3250692"/>
            <a:ext cx="19933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7: L390+L391NVA yakın</a:t>
            </a:r>
            <a:endParaRPr lang="en-US" sz="800" dirty="0"/>
          </a:p>
        </p:txBody>
      </p:sp>
      <p:pic>
        <p:nvPicPr>
          <p:cNvPr id="21" name="Image 3" descr="preencoded.png">    </p:cNvPr>
          <p:cNvPicPr>
            <a:picLocks noChangeAspect="1"/>
          </p:cNvPicPr>
          <p:nvPr/>
        </p:nvPicPr>
        <p:blipFill>
          <a:blip r:embed="rId4"/>
          <a:srcRect l="0" r="0" t="0" b="0"/>
          <a:stretch/>
        </p:blipFill>
        <p:spPr>
          <a:xfrm>
            <a:off x="6629400" y="1755648"/>
            <a:ext cx="1993392" cy="1495044"/>
          </a:xfrm>
          <a:prstGeom prst="rect">
            <a:avLst/>
          </a:prstGeom>
        </p:spPr>
      </p:pic>
      <p:sp>
        <p:nvSpPr>
          <p:cNvPr id="22" name="Shape 16"/>
          <p:cNvSpPr/>
          <p:nvPr/>
        </p:nvSpPr>
        <p:spPr>
          <a:xfrm>
            <a:off x="6629400" y="1755648"/>
            <a:ext cx="1993392" cy="1495044"/>
          </a:xfrm>
          <a:prstGeom prst="rect">
            <a:avLst/>
          </a:prstGeom>
          <a:ln w="9525">
            <a:solidFill>
              <a:srgbClr val="D0D5DD"/>
            </a:solidFill>
            <a:prstDash val="solid"/>
          </a:ln>
        </p:spPr>
      </p:sp>
      <p:sp>
        <p:nvSpPr>
          <p:cNvPr id="23" name="Text 17"/>
          <p:cNvSpPr/>
          <p:nvPr/>
        </p:nvSpPr>
        <p:spPr>
          <a:xfrm>
            <a:off x="6629400" y="3250692"/>
            <a:ext cx="19933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9: L390+L391NVA uzak</a:t>
            </a:r>
            <a:endParaRPr lang="en-US" sz="800" dirty="0"/>
          </a:p>
        </p:txBody>
      </p:sp>
      <p:sp>
        <p:nvSpPr>
          <p:cNvPr id="24" name="Shape 18"/>
          <p:cNvSpPr/>
          <p:nvPr/>
        </p:nvSpPr>
        <p:spPr>
          <a:xfrm>
            <a:off x="457200" y="3657600"/>
            <a:ext cx="8229600" cy="1325880"/>
          </a:xfrm>
          <a:prstGeom prst="roundRect">
            <a:avLst>
              <a:gd name="adj" fmla="val 4138"/>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5" name="Text 19"/>
          <p:cNvSpPr/>
          <p:nvPr/>
        </p:nvSpPr>
        <p:spPr>
          <a:xfrm>
            <a:off x="621792" y="3712464"/>
            <a:ext cx="7900416" cy="1216152"/>
          </a:xfrm>
          <a:prstGeom prst="rect">
            <a:avLst/>
          </a:prstGeom>
          <a:noFill/>
          <a:ln/>
        </p:spPr>
        <p:txBody>
          <a:bodyPr wrap="square" rtlCol="0" anchor="ctr"/>
          <a:lstStyle/>
          <a:p>
            <a:pPr indent="0" marL="0">
              <a:lnSpc>
                <a:spcPct val="105000"/>
              </a:lnSpc>
              <a:buNone/>
            </a:pPr>
            <a:r>
              <a:rPr lang="en-US" sz="1050" b="1" dirty="0">
                <a:solidFill>
                  <a:srgbClr val="2E75D6"/>
                </a:solidFill>
                <a:latin typeface="Calibri" pitchFamily="34" charset="0"/>
                <a:ea typeface="Calibri" pitchFamily="34" charset="-122"/>
                <a:cs typeface="Calibri" pitchFamily="34" charset="-120"/>
              </a:rPr>
              <a:t>Temel Bulgu: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NVA, linker bölgesindeki her iki lösin pozisyonunda da belirgin stabilizasyon sağlamıştır. Düz zincir yapısı, lösin'in dallanmış yapısına kıyasla linker hidrofobik cebinde daha optimal paketlenme oluşturmaktadır. Çift mutasyonun kümülatif (−6.090 REU) değer üretmesi, iki pozisyonun bağımsız katkı sağladığına işaret eder. Boltz-2 backbone analizleri global yapısal bütünlüğün korunduğunu doğrulamaktadır.</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Valin (VAL) — Linker Bölgesi (L390–L391)</a:t>
            </a:r>
            <a:endParaRPr lang="en-US" sz="2600" dirty="0"/>
          </a:p>
        </p:txBody>
      </p:sp>
      <p:sp>
        <p:nvSpPr>
          <p:cNvPr id="3" name="Shape 1"/>
          <p:cNvSpPr/>
          <p:nvPr/>
        </p:nvSpPr>
        <p:spPr>
          <a:xfrm>
            <a:off x="457200"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L390VAL</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−4.905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C9881A"/>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L391VAL</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+2.418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L390+L391VAL</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−2.403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10: L390+L391VAL yakın görünüm</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11: L390+L391VAL orta görünüm</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12: L390+L391VAL uzak görünüm</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2E75D6"/>
                </a:solidFill>
                <a:latin typeface="Calibri" pitchFamily="34" charset="0"/>
                <a:ea typeface="Calibri" pitchFamily="34" charset="-122"/>
                <a:cs typeface="Calibri" pitchFamily="34" charset="-120"/>
              </a:rPr>
              <a:t>Pozisyona Bağımlı Etki: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VAL, L390'da güçlü stabilizasyon (−4.905 REU) sağlarken L391'de hafif destabilizasyona (+2.418 REU) yol açmaktadır. Çift mutasyonda L390 katkısı baskın olup net stabilizasyon elde edilmektedir (−2.403 REU).</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5B2A75"/>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İzolösin (ILE) — Linker Bölgesi (L390–L391)</a:t>
            </a:r>
            <a:endParaRPr lang="en-US" sz="2600" dirty="0"/>
          </a:p>
        </p:txBody>
      </p:sp>
      <p:sp>
        <p:nvSpPr>
          <p:cNvPr id="3" name="Shape 1"/>
          <p:cNvSpPr/>
          <p:nvPr/>
        </p:nvSpPr>
        <p:spPr>
          <a:xfrm>
            <a:off x="457200" y="1005840"/>
            <a:ext cx="2697480" cy="548640"/>
          </a:xfrm>
          <a:prstGeom prst="roundRect">
            <a:avLst>
              <a:gd name="adj" fmla="val 10000"/>
            </a:avLst>
          </a:prstGeom>
          <a:solidFill>
            <a:srgbClr val="C0392B"/>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L390ILE</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+65.519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C0392B"/>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L391ILE</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+7.318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7D2620"/>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L390+L391ILE</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+72.800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13: L390+L391ILE yakın — steric çakışmalar</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14: L390+L391ILE orta — backbone sapması</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15: L390+L391ILE uzak görünüm</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C0392B"/>
                </a:solidFill>
                <a:latin typeface="Calibri" pitchFamily="34" charset="0"/>
                <a:ea typeface="Calibri" pitchFamily="34" charset="-122"/>
                <a:cs typeface="Calibri" pitchFamily="34" charset="-120"/>
              </a:rPr>
              <a:t>Şiddetli Destabilizasyon: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ILE'nin β-dallanma yapısı (γ-metil grubu), linker'ın dar hidrofobik geometrisiyle ciddi steric çakışmalar oluşturmaktadır. Backbone minimizasyonu uygulanmamış olması yüksek REU değerlerine katkıda bulunmuş olabilir.</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9B2C5E"/>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α-Aminoizobütirik Asit (AIB) — Linker Bölgesi (L390–L391)</a:t>
            </a:r>
            <a:endParaRPr lang="en-US" sz="2300" dirty="0"/>
          </a:p>
        </p:txBody>
      </p:sp>
      <p:sp>
        <p:nvSpPr>
          <p:cNvPr id="3" name="Shape 1"/>
          <p:cNvSpPr/>
          <p:nvPr/>
        </p:nvSpPr>
        <p:spPr>
          <a:xfrm>
            <a:off x="457200" y="1005840"/>
            <a:ext cx="2697480" cy="548640"/>
          </a:xfrm>
          <a:prstGeom prst="roundRect">
            <a:avLst>
              <a:gd name="adj" fmla="val 10000"/>
            </a:avLst>
          </a:prstGeom>
          <a:solidFill>
            <a:srgbClr val="9B2C5E"/>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L390AIB</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+5.700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9B2C5E"/>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L391AIB</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+18.573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7A1F46"/>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L390+L391AIB</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+25.364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16: L390+L391AIB yakın — steric uyumsuzluk</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17: L390+L391AIB orta — backbone sapması</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18: L390+L391AIB uzak görünüm</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9B2C5E"/>
                </a:solidFill>
                <a:latin typeface="Calibri" pitchFamily="34" charset="0"/>
                <a:ea typeface="Calibri" pitchFamily="34" charset="-122"/>
                <a:cs typeface="Calibri" pitchFamily="34" charset="-120"/>
              </a:rPr>
              <a:t>Helikal Uyumsuzluk: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AIB'nin α,α-dialkil yapısı güçlü α-helikal konformasyon tercihi sergilediğinden linker'ın esnek yapısıyla biyofiziksel uyumsuzluk göstermektedir. Boltz-2 analizlerinde β-strand elemanlarının yeniden düzenlendiği gözlemlenmektedir.</a:t>
            </a:r>
            <a:endParaRPr lang="en-US" sz="10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245C3B"/>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SBD Bölgesi (A429–A435) — ΔΔG Sonuçları</a:t>
            </a:r>
            <a:endParaRPr lang="en-US" sz="26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024128"/>
          <a:ext cx="8229600" cy="914400"/>
        </p:xfrm>
        <a:graphic>
          <a:graphicData uri="http://schemas.openxmlformats.org/drawingml/2006/table">
            <a:tbl>
              <a:tblPr/>
              <a:tblGrid>
                <a:gridCol w="1280160"/>
                <a:gridCol w="1645920"/>
                <a:gridCol w="1371600"/>
                <a:gridCol w="3931920"/>
              </a:tblGrid>
              <a:tr h="224028">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Amino Asit</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Pozisyon</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ΔΔG (REU)</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Etki</a:t>
                      </a:r>
                      <a:endParaRPr lang="en-US" sz="100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1B2A4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−2.578</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D4ED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+5.354</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NVA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+2.776</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Hafif destabilize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FF3CD"/>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+52.115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Şiddetli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+27.256</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Şiddetli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VAL</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+79.372</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Şiddetli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+108.675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Aşırı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+409.291</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Aşırı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ILE</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+517.966</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En yüksek değer</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+7.899</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Destabilize edici</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+113.746</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Şiddetli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AIB</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A429+A435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+121.645</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 Şiddetli destabilizasyon</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r h="224028">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NLE / ABA / B3A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dirty="0">
                          <a:solidFill>
                            <a:srgbClr val="1A1A2E"/>
                          </a:solidFill>
                          <a:latin typeface="Calibri" pitchFamily="34" charset="0"/>
                          <a:ea typeface="Calibri" pitchFamily="34" charset="-122"/>
                          <a:cs typeface="Calibri" pitchFamily="34" charset="-120"/>
                        </a:rPr>
                        <a:t>—</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ctr" indent="0" marL="0">
                        <a:buNone/>
                      </a:pPr>
                      <a:r>
                        <a:rPr lang="en-US" sz="950" b="1" dirty="0">
                          <a:solidFill>
                            <a:srgbClr val="1A1A2E"/>
                          </a:solidFill>
                          <a:latin typeface="Calibri" pitchFamily="34" charset="0"/>
                          <a:ea typeface="Calibri" pitchFamily="34" charset="-122"/>
                          <a:cs typeface="Calibri" pitchFamily="34" charset="-120"/>
                        </a:rPr>
                        <a:t>HATA</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c>
                  <a:txBody>
                    <a:bodyPr/>
                    <a:lstStyle/>
                    <a:p>
                      <a:pPr algn="l" indent="0" marL="0">
                        <a:buNone/>
                      </a:pPr>
                      <a:r>
                        <a:rPr lang="en-US" sz="950" dirty="0">
                          <a:solidFill>
                            <a:srgbClr val="1A1A2E"/>
                          </a:solidFill>
                          <a:latin typeface="Calibri" pitchFamily="34" charset="0"/>
                          <a:ea typeface="Calibri" pitchFamily="34" charset="-122"/>
                          <a:cs typeface="Calibri" pitchFamily="34" charset="-120"/>
                        </a:rPr>
                        <a:t>Rotamer/omurga uyumsuzluğu</a:t>
                      </a:r>
                      <a:endParaRPr lang="en-US" sz="950" dirty="0">
                        <a:latin typeface="Calibri" charset="0"/>
                        <a:ea typeface="Calibri" charset="0"/>
                        <a:cs typeface="Calibri" charset="0"/>
                      </a:endParaRPr>
                    </a:p>
                  </a:txBody>
                  <a:tcPr marL="50800" marR="50800" marT="25400" marB="25400" anchor="ctr">
                    <a:lnL w="6350" cap="flat" cmpd="sng" algn="ctr">
                      <a:solidFill>
                        <a:srgbClr val="D5D9E0"/>
                      </a:solidFill>
                      <a:prstDash val="solid"/>
                      <a:round/>
                      <a:headEnd type="none" w="med" len="med"/>
                      <a:tailEnd type="none" w="med" len="med"/>
                    </a:lnL>
                    <a:lnR w="6350" cap="flat" cmpd="sng" algn="ctr">
                      <a:solidFill>
                        <a:srgbClr val="D5D9E0"/>
                      </a:solidFill>
                      <a:prstDash val="solid"/>
                      <a:round/>
                      <a:headEnd type="none" w="med" len="med"/>
                      <a:tailEnd type="none" w="med" len="med"/>
                    </a:lnR>
                    <a:lnT w="6350" cap="flat" cmpd="sng" algn="ctr">
                      <a:solidFill>
                        <a:srgbClr val="D5D9E0"/>
                      </a:solidFill>
                      <a:prstDash val="solid"/>
                      <a:round/>
                      <a:headEnd type="none" w="med" len="med"/>
                      <a:tailEnd type="none" w="med" len="med"/>
                    </a:lnT>
                    <a:lnB w="6350" cap="flat" cmpd="sng" algn="ctr">
                      <a:solidFill>
                        <a:srgbClr val="D5D9E0"/>
                      </a:solidFill>
                      <a:prstDash val="solid"/>
                      <a:round/>
                      <a:headEnd type="none" w="med" len="med"/>
                      <a:tailEnd type="none" w="med" len="med"/>
                    </a:lnB>
                    <a:solidFill>
                      <a:srgbClr val="F8D7DA"/>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2A4A"/>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Norvalin (NVA) — SBD Bölgesi (A429–A435)</a:t>
            </a:r>
            <a:endParaRPr lang="en-US" sz="2600" dirty="0"/>
          </a:p>
        </p:txBody>
      </p:sp>
      <p:sp>
        <p:nvSpPr>
          <p:cNvPr id="3" name="Shape 1"/>
          <p:cNvSpPr/>
          <p:nvPr/>
        </p:nvSpPr>
        <p:spPr>
          <a:xfrm>
            <a:off x="457200" y="1005840"/>
            <a:ext cx="2697480" cy="548640"/>
          </a:xfrm>
          <a:prstGeom prst="roundRect">
            <a:avLst>
              <a:gd name="adj" fmla="val 10000"/>
            </a:avLst>
          </a:prstGeom>
          <a:solidFill>
            <a:srgbClr val="2E75D6"/>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A429NVA</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−2.578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C0392B"/>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A435NVA</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+5.354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C9881A"/>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A429+A435NVA</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+2.776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19: A429NVA yakın görünüm — hidrofobik cep</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20: A429NVA orta görünüm — backbone korunumu</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21: A429NVA uzak görünüm</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2E75D6"/>
                </a:solidFill>
                <a:latin typeface="Calibri" pitchFamily="34" charset="0"/>
                <a:ea typeface="Calibri" pitchFamily="34" charset="-122"/>
                <a:cs typeface="Calibri" pitchFamily="34" charset="-120"/>
              </a:rPr>
              <a:t>Pozisyona Bağımlı Asimetri: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NVA, A429'da stabilizasyon (−2.578 REU) sağlarken A435'te destabilizasyona (+5.354 REU) yol açmaktadır. Bu bulgu, iki pozisyonun SBD substrat bağlama cebi etrafında belirgin biçimde farklı steric mikro ortamlara sahip olduğuna işaret etmektedir.</a:t>
            </a:r>
            <a:endParaRPr lang="en-US" sz="10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41E33"/>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İzolösin (ILE) — SBD Bölgesi I: A429</a:t>
            </a:r>
            <a:endParaRPr lang="en-US" sz="2600" dirty="0"/>
          </a:p>
        </p:txBody>
      </p:sp>
      <p:sp>
        <p:nvSpPr>
          <p:cNvPr id="3" name="Shape 1"/>
          <p:cNvSpPr/>
          <p:nvPr/>
        </p:nvSpPr>
        <p:spPr>
          <a:xfrm>
            <a:off x="457200" y="1005840"/>
            <a:ext cx="2697480" cy="548640"/>
          </a:xfrm>
          <a:prstGeom prst="roundRect">
            <a:avLst>
              <a:gd name="adj" fmla="val 10000"/>
            </a:avLst>
          </a:prstGeom>
          <a:solidFill>
            <a:srgbClr val="C0392B"/>
          </a:solidFill>
          <a:ln/>
          <a:effectLst>
            <a:outerShdw sx="100000" sy="100000" kx="0" ky="0" algn="bl" rotWithShape="0" blurRad="38100" dist="12700" dir="5400000">
              <a:srgbClr val="000000">
                <a:alpha val="12000"/>
              </a:srgbClr>
            </a:outerShdw>
          </a:effectLst>
        </p:spPr>
      </p:sp>
      <p:sp>
        <p:nvSpPr>
          <p:cNvPr id="4" name="Text 2"/>
          <p:cNvSpPr/>
          <p:nvPr/>
        </p:nvSpPr>
        <p:spPr>
          <a:xfrm>
            <a:off x="45720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A429ILE</a:t>
            </a:r>
            <a:endParaRPr lang="en-US" sz="1100" dirty="0"/>
          </a:p>
        </p:txBody>
      </p:sp>
      <p:sp>
        <p:nvSpPr>
          <p:cNvPr id="5" name="Text 3"/>
          <p:cNvSpPr/>
          <p:nvPr/>
        </p:nvSpPr>
        <p:spPr>
          <a:xfrm>
            <a:off x="45720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+108.675 REU</a:t>
            </a:r>
            <a:endParaRPr lang="en-US" sz="1400" dirty="0"/>
          </a:p>
        </p:txBody>
      </p:sp>
      <p:sp>
        <p:nvSpPr>
          <p:cNvPr id="6" name="Shape 4"/>
          <p:cNvSpPr/>
          <p:nvPr/>
        </p:nvSpPr>
        <p:spPr>
          <a:xfrm>
            <a:off x="3227832" y="1005840"/>
            <a:ext cx="2697480" cy="548640"/>
          </a:xfrm>
          <a:prstGeom prst="roundRect">
            <a:avLst>
              <a:gd name="adj" fmla="val 10000"/>
            </a:avLst>
          </a:prstGeom>
          <a:solidFill>
            <a:srgbClr val="7D2620"/>
          </a:solidFill>
          <a:ln/>
          <a:effectLst>
            <a:outerShdw sx="100000" sy="100000" kx="0" ky="0" algn="bl" rotWithShape="0" blurRad="38100" dist="12700" dir="5400000">
              <a:srgbClr val="000000">
                <a:alpha val="12000"/>
              </a:srgbClr>
            </a:outerShdw>
          </a:effectLst>
        </p:spPr>
      </p:sp>
      <p:sp>
        <p:nvSpPr>
          <p:cNvPr id="7" name="Text 5"/>
          <p:cNvSpPr/>
          <p:nvPr/>
        </p:nvSpPr>
        <p:spPr>
          <a:xfrm>
            <a:off x="3227832"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A435ILE</a:t>
            </a:r>
            <a:endParaRPr lang="en-US" sz="1100" dirty="0"/>
          </a:p>
        </p:txBody>
      </p:sp>
      <p:sp>
        <p:nvSpPr>
          <p:cNvPr id="8" name="Text 6"/>
          <p:cNvSpPr/>
          <p:nvPr/>
        </p:nvSpPr>
        <p:spPr>
          <a:xfrm>
            <a:off x="3227832"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+409.291 REU</a:t>
            </a:r>
            <a:endParaRPr lang="en-US" sz="1400" dirty="0"/>
          </a:p>
        </p:txBody>
      </p:sp>
      <p:sp>
        <p:nvSpPr>
          <p:cNvPr id="9" name="Shape 7"/>
          <p:cNvSpPr/>
          <p:nvPr/>
        </p:nvSpPr>
        <p:spPr>
          <a:xfrm>
            <a:off x="5989320" y="1005840"/>
            <a:ext cx="2697480" cy="548640"/>
          </a:xfrm>
          <a:prstGeom prst="roundRect">
            <a:avLst>
              <a:gd name="adj" fmla="val 10000"/>
            </a:avLst>
          </a:prstGeom>
          <a:solidFill>
            <a:srgbClr val="5C1410"/>
          </a:solidFill>
          <a:ln/>
          <a:effectLst>
            <a:outerShdw sx="100000" sy="100000" kx="0" ky="0" algn="bl" rotWithShape="0" blurRad="38100" dist="12700" dir="5400000">
              <a:srgbClr val="000000">
                <a:alpha val="12000"/>
              </a:srgbClr>
            </a:outerShdw>
          </a:effectLst>
        </p:spPr>
      </p:sp>
      <p:sp>
        <p:nvSpPr>
          <p:cNvPr id="10" name="Text 8"/>
          <p:cNvSpPr/>
          <p:nvPr/>
        </p:nvSpPr>
        <p:spPr>
          <a:xfrm>
            <a:off x="5989320" y="1051560"/>
            <a:ext cx="26974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A429+A435ILE</a:t>
            </a:r>
            <a:endParaRPr lang="en-US" sz="1100" dirty="0"/>
          </a:p>
        </p:txBody>
      </p:sp>
      <p:sp>
        <p:nvSpPr>
          <p:cNvPr id="11" name="Text 9"/>
          <p:cNvSpPr/>
          <p:nvPr/>
        </p:nvSpPr>
        <p:spPr>
          <a:xfrm>
            <a:off x="5989320" y="1252728"/>
            <a:ext cx="26974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+517.966 REU</a:t>
            </a:r>
            <a:endParaRPr lang="en-US" sz="1400" dirty="0"/>
          </a:p>
        </p:txBody>
      </p:sp>
      <p:pic>
        <p:nvPicPr>
          <p:cNvPr id="12"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3" name="Shape 10"/>
          <p:cNvSpPr/>
          <p:nvPr/>
        </p:nvSpPr>
        <p:spPr>
          <a:xfrm>
            <a:off x="457200" y="1755648"/>
            <a:ext cx="2679192" cy="2011680"/>
          </a:xfrm>
          <a:prstGeom prst="rect">
            <a:avLst/>
          </a:prstGeom>
          <a:ln w="9525">
            <a:solidFill>
              <a:srgbClr val="D0D5DD"/>
            </a:solidFill>
            <a:prstDash val="solid"/>
          </a:ln>
        </p:spPr>
      </p:sp>
      <p:sp>
        <p:nvSpPr>
          <p:cNvPr id="14" name="Text 11"/>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22: A429ILE yakın — steric çakışmalar</a:t>
            </a:r>
            <a:endParaRPr lang="en-US" sz="800" dirty="0"/>
          </a:p>
        </p:txBody>
      </p:sp>
      <p:pic>
        <p:nvPicPr>
          <p:cNvPr id="15"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6" name="Shape 12"/>
          <p:cNvSpPr/>
          <p:nvPr/>
        </p:nvSpPr>
        <p:spPr>
          <a:xfrm>
            <a:off x="3227832" y="1755648"/>
            <a:ext cx="2679192" cy="2011680"/>
          </a:xfrm>
          <a:prstGeom prst="rect">
            <a:avLst/>
          </a:prstGeom>
          <a:ln w="9525">
            <a:solidFill>
              <a:srgbClr val="D0D5DD"/>
            </a:solidFill>
            <a:prstDash val="solid"/>
          </a:ln>
        </p:spPr>
      </p:sp>
      <p:sp>
        <p:nvSpPr>
          <p:cNvPr id="17" name="Text 13"/>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23: A429ILE orta — backbone distorsiyonu</a:t>
            </a:r>
            <a:endParaRPr lang="en-US" sz="800" dirty="0"/>
          </a:p>
        </p:txBody>
      </p:sp>
      <p:pic>
        <p:nvPicPr>
          <p:cNvPr id="18"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9" name="Shape 14"/>
          <p:cNvSpPr/>
          <p:nvPr/>
        </p:nvSpPr>
        <p:spPr>
          <a:xfrm>
            <a:off x="5998464" y="1755648"/>
            <a:ext cx="2679192" cy="2011680"/>
          </a:xfrm>
          <a:prstGeom prst="rect">
            <a:avLst/>
          </a:prstGeom>
          <a:ln w="9525">
            <a:solidFill>
              <a:srgbClr val="D0D5DD"/>
            </a:solidFill>
            <a:prstDash val="solid"/>
          </a:ln>
        </p:spPr>
      </p:sp>
      <p:sp>
        <p:nvSpPr>
          <p:cNvPr id="20" name="Text 15"/>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24: A429ILE uzak görünüm</a:t>
            </a:r>
            <a:endParaRPr lang="en-US" sz="800" dirty="0"/>
          </a:p>
        </p:txBody>
      </p:sp>
      <p:sp>
        <p:nvSpPr>
          <p:cNvPr id="21" name="Shape 16"/>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22" name="Text 17"/>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C0392B"/>
                </a:solidFill>
                <a:latin typeface="Calibri" pitchFamily="34" charset="0"/>
                <a:ea typeface="Calibri" pitchFamily="34" charset="-122"/>
                <a:cs typeface="Calibri" pitchFamily="34" charset="-120"/>
              </a:rPr>
              <a:t>Evrimsel Kısıtlama: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SBD β-sandviç bölgesindeki alanin kalıntıları, substrat bağlama geometrisi için evrimsel olarak seçilmiş olup hacim artışına son derece duyarlıdır. A429 pozisyonunda bile +108.675 REU gibi yüksek bir destabilizasyon gözlenmektedir.</a:t>
            </a:r>
            <a:endParaRPr lang="en-US" sz="10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41E33"/>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300" b="1" dirty="0">
                <a:solidFill>
                  <a:srgbClr val="FFFFFF"/>
                </a:solidFill>
                <a:latin typeface="Cambria" pitchFamily="34" charset="0"/>
                <a:ea typeface="Cambria" pitchFamily="34" charset="-122"/>
                <a:cs typeface="Cambria" pitchFamily="34" charset="-120"/>
              </a:rPr>
              <a:t>İzolösin (ILE) — SBD Bölgesi II: A435 ve Çift Mutasyon</a:t>
            </a:r>
            <a:endParaRPr lang="en-US" sz="2300" dirty="0"/>
          </a:p>
        </p:txBody>
      </p:sp>
      <p:sp>
        <p:nvSpPr>
          <p:cNvPr id="3" name="Shape 1"/>
          <p:cNvSpPr/>
          <p:nvPr/>
        </p:nvSpPr>
        <p:spPr>
          <a:xfrm>
            <a:off x="1600200" y="1005840"/>
            <a:ext cx="2926080" cy="548640"/>
          </a:xfrm>
          <a:prstGeom prst="roundRect">
            <a:avLst>
              <a:gd name="adj" fmla="val 10000"/>
            </a:avLst>
          </a:prstGeom>
          <a:solidFill>
            <a:srgbClr val="7D2620"/>
          </a:solidFill>
          <a:ln/>
          <a:effectLst>
            <a:outerShdw sx="100000" sy="100000" kx="0" ky="0" algn="bl" rotWithShape="0" blurRad="38100" dist="12700" dir="5400000">
              <a:srgbClr val="000000">
                <a:alpha val="12000"/>
              </a:srgbClr>
            </a:outerShdw>
          </a:effectLst>
        </p:spPr>
      </p:sp>
      <p:sp>
        <p:nvSpPr>
          <p:cNvPr id="4" name="Text 2"/>
          <p:cNvSpPr/>
          <p:nvPr/>
        </p:nvSpPr>
        <p:spPr>
          <a:xfrm>
            <a:off x="1600200" y="1051560"/>
            <a:ext cx="29260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A435ILE</a:t>
            </a:r>
            <a:endParaRPr lang="en-US" sz="1100" dirty="0"/>
          </a:p>
        </p:txBody>
      </p:sp>
      <p:sp>
        <p:nvSpPr>
          <p:cNvPr id="5" name="Text 3"/>
          <p:cNvSpPr/>
          <p:nvPr/>
        </p:nvSpPr>
        <p:spPr>
          <a:xfrm>
            <a:off x="1600200" y="1252728"/>
            <a:ext cx="29260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+409.291 REU</a:t>
            </a:r>
            <a:endParaRPr lang="en-US" sz="1400" dirty="0"/>
          </a:p>
        </p:txBody>
      </p:sp>
      <p:sp>
        <p:nvSpPr>
          <p:cNvPr id="6" name="Shape 4"/>
          <p:cNvSpPr/>
          <p:nvPr/>
        </p:nvSpPr>
        <p:spPr>
          <a:xfrm>
            <a:off x="4617720" y="1005840"/>
            <a:ext cx="2926080" cy="548640"/>
          </a:xfrm>
          <a:prstGeom prst="roundRect">
            <a:avLst>
              <a:gd name="adj" fmla="val 10000"/>
            </a:avLst>
          </a:prstGeom>
          <a:solidFill>
            <a:srgbClr val="5C1410"/>
          </a:solidFill>
          <a:ln/>
          <a:effectLst>
            <a:outerShdw sx="100000" sy="100000" kx="0" ky="0" algn="bl" rotWithShape="0" blurRad="38100" dist="12700" dir="5400000">
              <a:srgbClr val="000000">
                <a:alpha val="12000"/>
              </a:srgbClr>
            </a:outerShdw>
          </a:effectLst>
        </p:spPr>
      </p:sp>
      <p:sp>
        <p:nvSpPr>
          <p:cNvPr id="7" name="Text 5"/>
          <p:cNvSpPr/>
          <p:nvPr/>
        </p:nvSpPr>
        <p:spPr>
          <a:xfrm>
            <a:off x="4617720" y="1051560"/>
            <a:ext cx="2926080" cy="24688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A429+A435ILE</a:t>
            </a:r>
            <a:endParaRPr lang="en-US" sz="1100" dirty="0"/>
          </a:p>
        </p:txBody>
      </p:sp>
      <p:sp>
        <p:nvSpPr>
          <p:cNvPr id="8" name="Text 6"/>
          <p:cNvSpPr/>
          <p:nvPr/>
        </p:nvSpPr>
        <p:spPr>
          <a:xfrm>
            <a:off x="4617720" y="1252728"/>
            <a:ext cx="2926080"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+517.966 REU</a:t>
            </a:r>
            <a:endParaRPr lang="en-US" sz="1400" dirty="0"/>
          </a:p>
        </p:txBody>
      </p:sp>
      <p:pic>
        <p:nvPicPr>
          <p:cNvPr id="9" name="Image 0" descr="preencoded.png">    </p:cNvPr>
          <p:cNvPicPr>
            <a:picLocks noChangeAspect="1"/>
          </p:cNvPicPr>
          <p:nvPr/>
        </p:nvPicPr>
        <p:blipFill>
          <a:blip r:embed="rId1"/>
          <a:srcRect l="0" r="0" t="0" b="0"/>
          <a:stretch/>
        </p:blipFill>
        <p:spPr>
          <a:xfrm>
            <a:off x="457200" y="1755648"/>
            <a:ext cx="2679192" cy="2011680"/>
          </a:xfrm>
          <a:prstGeom prst="rect">
            <a:avLst/>
          </a:prstGeom>
        </p:spPr>
      </p:pic>
      <p:sp>
        <p:nvSpPr>
          <p:cNvPr id="10" name="Shape 7"/>
          <p:cNvSpPr/>
          <p:nvPr/>
        </p:nvSpPr>
        <p:spPr>
          <a:xfrm>
            <a:off x="457200" y="1755648"/>
            <a:ext cx="2679192" cy="2011680"/>
          </a:xfrm>
          <a:prstGeom prst="rect">
            <a:avLst/>
          </a:prstGeom>
          <a:ln w="9525">
            <a:solidFill>
              <a:srgbClr val="D0D5DD"/>
            </a:solidFill>
            <a:prstDash val="solid"/>
          </a:ln>
        </p:spPr>
      </p:sp>
      <p:sp>
        <p:nvSpPr>
          <p:cNvPr id="11" name="Text 8"/>
          <p:cNvSpPr/>
          <p:nvPr/>
        </p:nvSpPr>
        <p:spPr>
          <a:xfrm>
            <a:off x="457200"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25: A435ILE yakın — steric uyumsuzluk</a:t>
            </a:r>
            <a:endParaRPr lang="en-US" sz="800" dirty="0"/>
          </a:p>
        </p:txBody>
      </p:sp>
      <p:pic>
        <p:nvPicPr>
          <p:cNvPr id="12" name="Image 1" descr="preencoded.png">    </p:cNvPr>
          <p:cNvPicPr>
            <a:picLocks noChangeAspect="1"/>
          </p:cNvPicPr>
          <p:nvPr/>
        </p:nvPicPr>
        <p:blipFill>
          <a:blip r:embed="rId2"/>
          <a:srcRect l="0" r="0" t="0" b="0"/>
          <a:stretch/>
        </p:blipFill>
        <p:spPr>
          <a:xfrm>
            <a:off x="3227832" y="1755648"/>
            <a:ext cx="2679192" cy="2011680"/>
          </a:xfrm>
          <a:prstGeom prst="rect">
            <a:avLst/>
          </a:prstGeom>
        </p:spPr>
      </p:pic>
      <p:sp>
        <p:nvSpPr>
          <p:cNvPr id="13" name="Shape 9"/>
          <p:cNvSpPr/>
          <p:nvPr/>
        </p:nvSpPr>
        <p:spPr>
          <a:xfrm>
            <a:off x="3227832" y="1755648"/>
            <a:ext cx="2679192" cy="2011680"/>
          </a:xfrm>
          <a:prstGeom prst="rect">
            <a:avLst/>
          </a:prstGeom>
          <a:ln w="9525">
            <a:solidFill>
              <a:srgbClr val="D0D5DD"/>
            </a:solidFill>
            <a:prstDash val="solid"/>
          </a:ln>
        </p:spPr>
      </p:sp>
      <p:sp>
        <p:nvSpPr>
          <p:cNvPr id="14" name="Text 10"/>
          <p:cNvSpPr/>
          <p:nvPr/>
        </p:nvSpPr>
        <p:spPr>
          <a:xfrm>
            <a:off x="3227832"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27: A435ILE uzak görünüm</a:t>
            </a:r>
            <a:endParaRPr lang="en-US" sz="800" dirty="0"/>
          </a:p>
        </p:txBody>
      </p:sp>
      <p:pic>
        <p:nvPicPr>
          <p:cNvPr id="15" name="Image 2" descr="preencoded.png">    </p:cNvPr>
          <p:cNvPicPr>
            <a:picLocks noChangeAspect="1"/>
          </p:cNvPicPr>
          <p:nvPr/>
        </p:nvPicPr>
        <p:blipFill>
          <a:blip r:embed="rId3"/>
          <a:srcRect l="0" r="0" t="0" b="0"/>
          <a:stretch/>
        </p:blipFill>
        <p:spPr>
          <a:xfrm>
            <a:off x="5998464" y="1755648"/>
            <a:ext cx="2679192" cy="2011680"/>
          </a:xfrm>
          <a:prstGeom prst="rect">
            <a:avLst/>
          </a:prstGeom>
        </p:spPr>
      </p:pic>
      <p:sp>
        <p:nvSpPr>
          <p:cNvPr id="16" name="Shape 11"/>
          <p:cNvSpPr/>
          <p:nvPr/>
        </p:nvSpPr>
        <p:spPr>
          <a:xfrm>
            <a:off x="5998464" y="1755648"/>
            <a:ext cx="2679192" cy="2011680"/>
          </a:xfrm>
          <a:prstGeom prst="rect">
            <a:avLst/>
          </a:prstGeom>
          <a:ln w="9525">
            <a:solidFill>
              <a:srgbClr val="D0D5DD"/>
            </a:solidFill>
            <a:prstDash val="solid"/>
          </a:ln>
        </p:spPr>
      </p:sp>
      <p:sp>
        <p:nvSpPr>
          <p:cNvPr id="17" name="Text 12"/>
          <p:cNvSpPr/>
          <p:nvPr/>
        </p:nvSpPr>
        <p:spPr>
          <a:xfrm>
            <a:off x="5998464" y="3767328"/>
            <a:ext cx="2679192" cy="256032"/>
          </a:xfrm>
          <a:prstGeom prst="rect">
            <a:avLst/>
          </a:prstGeom>
          <a:noFill/>
          <a:ln/>
        </p:spPr>
        <p:txBody>
          <a:bodyPr wrap="square" lIns="0" tIns="0" rIns="0" bIns="0" rtlCol="0" anchor="ctr"/>
          <a:lstStyle/>
          <a:p>
            <a:pPr algn="ctr" indent="0" marL="0">
              <a:buNone/>
            </a:pPr>
            <a:r>
              <a:rPr lang="en-US" sz="800" i="1" dirty="0">
                <a:solidFill>
                  <a:srgbClr val="C9D3E8"/>
                </a:solidFill>
                <a:latin typeface="Calibri" pitchFamily="34" charset="0"/>
                <a:ea typeface="Calibri" pitchFamily="34" charset="-122"/>
                <a:cs typeface="Calibri" pitchFamily="34" charset="-120"/>
              </a:rPr>
              <a:t>Şekil 28: A429+A435ILE yakın — kümülatif çakışma</a:t>
            </a:r>
            <a:endParaRPr lang="en-US" sz="800" dirty="0"/>
          </a:p>
        </p:txBody>
      </p:sp>
      <p:sp>
        <p:nvSpPr>
          <p:cNvPr id="18" name="Shape 13"/>
          <p:cNvSpPr/>
          <p:nvPr/>
        </p:nvSpPr>
        <p:spPr>
          <a:xfrm>
            <a:off x="457200" y="4160520"/>
            <a:ext cx="8229600" cy="822960"/>
          </a:xfrm>
          <a:prstGeom prst="roundRect">
            <a:avLst>
              <a:gd name="adj" fmla="val 6667"/>
            </a:avLst>
          </a:prstGeom>
          <a:solidFill>
            <a:srgbClr val="FFFFFF"/>
          </a:solidFill>
          <a:ln w="12700">
            <a:solidFill>
              <a:srgbClr val="E2E5EB"/>
            </a:solidFill>
            <a:prstDash val="solid"/>
          </a:ln>
          <a:effectLst>
            <a:outerShdw sx="100000" sy="100000" kx="0" ky="0" algn="bl" rotWithShape="0" blurRad="50800" dist="12700" dir="5400000">
              <a:srgbClr val="000000">
                <a:alpha val="8000"/>
              </a:srgbClr>
            </a:outerShdw>
          </a:effectLst>
        </p:spPr>
      </p:sp>
      <p:sp>
        <p:nvSpPr>
          <p:cNvPr id="19" name="Text 14"/>
          <p:cNvSpPr/>
          <p:nvPr/>
        </p:nvSpPr>
        <p:spPr>
          <a:xfrm>
            <a:off x="621792" y="4215384"/>
            <a:ext cx="7900416" cy="713232"/>
          </a:xfrm>
          <a:prstGeom prst="rect">
            <a:avLst/>
          </a:prstGeom>
          <a:noFill/>
          <a:ln/>
        </p:spPr>
        <p:txBody>
          <a:bodyPr wrap="square" rtlCol="0" anchor="ctr"/>
          <a:lstStyle/>
          <a:p>
            <a:pPr indent="0" marL="0">
              <a:lnSpc>
                <a:spcPct val="105000"/>
              </a:lnSpc>
              <a:buNone/>
            </a:pPr>
            <a:r>
              <a:rPr lang="en-US" sz="1050" b="1" dirty="0">
                <a:solidFill>
                  <a:srgbClr val="7D2620"/>
                </a:solidFill>
                <a:latin typeface="Calibri" pitchFamily="34" charset="0"/>
                <a:ea typeface="Calibri" pitchFamily="34" charset="-122"/>
                <a:cs typeface="Calibri" pitchFamily="34" charset="-120"/>
              </a:rPr>
              <a:t>En Yüksek ΔΔG:  </a:t>
            </a:r>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A435 pozisyonu, ILE'nin hacmine A429'dan bile daha duyarlıdır (+409.291 REU). Her iki pozisyonun birlikte mutasyonu çalışmanın en yüksek toplam ΔΔG değerini (+517.966 REU) üretmiştir — SBD β-sandviç bölgesinin hacimli amino asitlere toleransının son derece sınırlı olduğunu kanıtlamaktadır.</a:t>
            </a:r>
            <a:endParaRPr lang="en-US" sz="10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245C3B"/>
        </a:solidFill>
      </p:bgPr>
    </p:bg>
    <p:spTree>
      <p:nvGrpSpPr>
        <p:cNvPr id="1" name=""/>
        <p:cNvGrpSpPr/>
        <p:nvPr/>
      </p:nvGrpSpPr>
      <p:grpSpPr>
        <a:xfrm>
          <a:off x="0" y="0"/>
          <a:ext cx="0" cy="0"/>
          <a:chOff x="0" y="0"/>
          <a:chExt cx="0" cy="0"/>
        </a:xfrm>
      </p:grpSpPr>
      <p:sp>
        <p:nvSpPr>
          <p:cNvPr id="2" name="Text 0"/>
          <p:cNvSpPr/>
          <p:nvPr/>
        </p:nvSpPr>
        <p:spPr>
          <a:xfrm>
            <a:off x="457200" y="292608"/>
            <a:ext cx="8229600" cy="566928"/>
          </a:xfrm>
          <a:prstGeom prst="rect">
            <a:avLst/>
          </a:prstGeom>
          <a:noFill/>
          <a:ln/>
        </p:spPr>
        <p:txBody>
          <a:bodyPr wrap="square" lIns="0" tIns="0" rIns="0" bIns="0" rtlCol="0" anchor="ctr"/>
          <a:lstStyle/>
          <a:p>
            <a:pPr indent="0" marL="0">
              <a:buNone/>
            </a:pPr>
            <a:r>
              <a:rPr lang="en-US" sz="2600" b="1" dirty="0">
                <a:solidFill>
                  <a:srgbClr val="FFFFFF"/>
                </a:solidFill>
                <a:latin typeface="Cambria" pitchFamily="34" charset="0"/>
                <a:ea typeface="Cambria" pitchFamily="34" charset="-122"/>
                <a:cs typeface="Cambria" pitchFamily="34" charset="-120"/>
              </a:rPr>
              <a:t>Tartışma &amp; Astrobiyolojik Yorum</a:t>
            </a:r>
            <a:endParaRPr lang="en-US" sz="2600" dirty="0"/>
          </a:p>
        </p:txBody>
      </p:sp>
      <p:sp>
        <p:nvSpPr>
          <p:cNvPr id="3" name="Shape 1"/>
          <p:cNvSpPr/>
          <p:nvPr/>
        </p:nvSpPr>
        <p:spPr>
          <a:xfrm>
            <a:off x="457200" y="1005840"/>
            <a:ext cx="4069080" cy="1920240"/>
          </a:xfrm>
          <a:prstGeom prst="roundRect">
            <a:avLst>
              <a:gd name="adj" fmla="val 2857"/>
            </a:avLst>
          </a:prstGeom>
          <a:solidFill>
            <a:srgbClr val="FFFFFF"/>
          </a:solidFill>
          <a:ln/>
          <a:effectLst>
            <a:outerShdw sx="100000" sy="100000" kx="0" ky="0" algn="bl" rotWithShape="0" blurRad="50800" dist="12700" dir="5400000">
              <a:srgbClr val="000000">
                <a:alpha val="8000"/>
              </a:srgbClr>
            </a:outerShdw>
          </a:effectLst>
        </p:spPr>
      </p:sp>
      <p:sp>
        <p:nvSpPr>
          <p:cNvPr id="4" name="Shape 2"/>
          <p:cNvSpPr/>
          <p:nvPr/>
        </p:nvSpPr>
        <p:spPr>
          <a:xfrm>
            <a:off x="457200" y="1005840"/>
            <a:ext cx="4069080" cy="457200"/>
          </a:xfrm>
          <a:prstGeom prst="roundRect">
            <a:avLst>
              <a:gd name="adj" fmla="val 12000"/>
            </a:avLst>
          </a:prstGeom>
          <a:solidFill>
            <a:srgbClr val="2E75D6"/>
          </a:solidFill>
          <a:ln/>
        </p:spPr>
      </p:sp>
      <p:sp>
        <p:nvSpPr>
          <p:cNvPr id="5" name="Text 3"/>
          <p:cNvSpPr/>
          <p:nvPr/>
        </p:nvSpPr>
        <p:spPr>
          <a:xfrm>
            <a:off x="457200" y="1005840"/>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NVA'nın Linker Stabilitesi</a:t>
            </a:r>
            <a:endParaRPr lang="en-US" sz="1300" dirty="0"/>
          </a:p>
        </p:txBody>
      </p:sp>
      <p:sp>
        <p:nvSpPr>
          <p:cNvPr id="6" name="Text 4"/>
          <p:cNvSpPr/>
          <p:nvPr/>
        </p:nvSpPr>
        <p:spPr>
          <a:xfrm>
            <a:off x="621792" y="1554480"/>
            <a:ext cx="3739896" cy="1298448"/>
          </a:xfrm>
          <a:prstGeom prst="rect">
            <a:avLst/>
          </a:prstGeom>
          <a:noFill/>
          <a:ln/>
        </p:spPr>
        <p:txBody>
          <a:bodyPr wrap="square" lIns="0" tIns="0" rIns="0" bIns="0" rtlCol="0" anchor="t"/>
          <a:lstStyle/>
          <a:p>
            <a:pPr indent="0" marL="0">
              <a:lnSpc>
                <a:spcPct val="108000"/>
              </a:lnSpc>
              <a:buNone/>
            </a:pPr>
            <a:r>
              <a:rPr lang="en-US" sz="1000" dirty="0">
                <a:solidFill>
                  <a:srgbClr val="1A1A2E"/>
                </a:solidFill>
                <a:latin typeface="Calibri" pitchFamily="34" charset="0"/>
                <a:ea typeface="Calibri" pitchFamily="34" charset="-122"/>
                <a:cs typeface="Calibri" pitchFamily="34" charset="-120"/>
              </a:rPr>
              <a:t>NVA'nın düz zincir yapısı linker hidrofobik cebinde optimal paketlenme sağlamaktadır. Boltz-2 backbone korunumu, allosterik iletim için zorunlu linker konformasyonel dinamiklerinin büyük ölçüde korunduğuna işaret eder.</a:t>
            </a:r>
            <a:endParaRPr lang="en-US" sz="1000" dirty="0"/>
          </a:p>
        </p:txBody>
      </p:sp>
      <p:sp>
        <p:nvSpPr>
          <p:cNvPr id="7" name="Shape 5"/>
          <p:cNvSpPr/>
          <p:nvPr/>
        </p:nvSpPr>
        <p:spPr>
          <a:xfrm>
            <a:off x="4617720" y="1005840"/>
            <a:ext cx="4069080" cy="1920240"/>
          </a:xfrm>
          <a:prstGeom prst="roundRect">
            <a:avLst>
              <a:gd name="adj" fmla="val 2857"/>
            </a:avLst>
          </a:prstGeom>
          <a:solidFill>
            <a:srgbClr val="FFFFFF"/>
          </a:solidFill>
          <a:ln/>
          <a:effectLst>
            <a:outerShdw sx="100000" sy="100000" kx="0" ky="0" algn="bl" rotWithShape="0" blurRad="50800" dist="12700" dir="5400000">
              <a:srgbClr val="000000">
                <a:alpha val="8000"/>
              </a:srgbClr>
            </a:outerShdw>
          </a:effectLst>
        </p:spPr>
      </p:sp>
      <p:sp>
        <p:nvSpPr>
          <p:cNvPr id="8" name="Shape 6"/>
          <p:cNvSpPr/>
          <p:nvPr/>
        </p:nvSpPr>
        <p:spPr>
          <a:xfrm>
            <a:off x="4617720" y="1005840"/>
            <a:ext cx="4069080" cy="457200"/>
          </a:xfrm>
          <a:prstGeom prst="roundRect">
            <a:avLst>
              <a:gd name="adj" fmla="val 12000"/>
            </a:avLst>
          </a:prstGeom>
          <a:solidFill>
            <a:srgbClr val="1C7293"/>
          </a:solidFill>
          <a:ln/>
        </p:spPr>
      </p:sp>
      <p:sp>
        <p:nvSpPr>
          <p:cNvPr id="9" name="Text 7"/>
          <p:cNvSpPr/>
          <p:nvPr/>
        </p:nvSpPr>
        <p:spPr>
          <a:xfrm>
            <a:off x="4617720" y="1005840"/>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SBD Pozisyona Bağımlı Asimetri</a:t>
            </a:r>
            <a:endParaRPr lang="en-US" sz="1300" dirty="0"/>
          </a:p>
        </p:txBody>
      </p:sp>
      <p:sp>
        <p:nvSpPr>
          <p:cNvPr id="10" name="Text 8"/>
          <p:cNvSpPr/>
          <p:nvPr/>
        </p:nvSpPr>
        <p:spPr>
          <a:xfrm>
            <a:off x="4782312" y="1554480"/>
            <a:ext cx="3739896" cy="1298448"/>
          </a:xfrm>
          <a:prstGeom prst="rect">
            <a:avLst/>
          </a:prstGeom>
          <a:noFill/>
          <a:ln/>
        </p:spPr>
        <p:txBody>
          <a:bodyPr wrap="square" lIns="0" tIns="0" rIns="0" bIns="0" rtlCol="0" anchor="t"/>
          <a:lstStyle/>
          <a:p>
            <a:pPr indent="0" marL="0">
              <a:lnSpc>
                <a:spcPct val="108000"/>
              </a:lnSpc>
              <a:buNone/>
            </a:pPr>
            <a:r>
              <a:rPr lang="en-US" sz="1000" dirty="0">
                <a:solidFill>
                  <a:srgbClr val="1A1A2E"/>
                </a:solidFill>
                <a:latin typeface="Calibri" pitchFamily="34" charset="0"/>
                <a:ea typeface="Calibri" pitchFamily="34" charset="-122"/>
                <a:cs typeface="Calibri" pitchFamily="34" charset="-120"/>
              </a:rPr>
              <a:t>A429 ve A435'teki farklı NVA sonuçları, pozisyonların belirgin biçimde farklı steric mikro ortamlara sahip olduğunu gösterir. VAL ve ILE'nin aşırı yüksek SBD değerleri, bu bölgenin evrimsel olarak optimize edildiğine işaret eder.</a:t>
            </a:r>
            <a:endParaRPr lang="en-US" sz="1000" dirty="0"/>
          </a:p>
        </p:txBody>
      </p:sp>
      <p:sp>
        <p:nvSpPr>
          <p:cNvPr id="11" name="Shape 9"/>
          <p:cNvSpPr/>
          <p:nvPr/>
        </p:nvSpPr>
        <p:spPr>
          <a:xfrm>
            <a:off x="457200" y="3035808"/>
            <a:ext cx="4069080" cy="1920240"/>
          </a:xfrm>
          <a:prstGeom prst="roundRect">
            <a:avLst>
              <a:gd name="adj" fmla="val 2857"/>
            </a:avLst>
          </a:prstGeom>
          <a:solidFill>
            <a:srgbClr val="FFFFFF"/>
          </a:solidFill>
          <a:ln/>
          <a:effectLst>
            <a:outerShdw sx="100000" sy="100000" kx="0" ky="0" algn="bl" rotWithShape="0" blurRad="50800" dist="12700" dir="5400000">
              <a:srgbClr val="000000">
                <a:alpha val="8000"/>
              </a:srgbClr>
            </a:outerShdw>
          </a:effectLst>
        </p:spPr>
      </p:sp>
      <p:sp>
        <p:nvSpPr>
          <p:cNvPr id="12" name="Shape 10"/>
          <p:cNvSpPr/>
          <p:nvPr/>
        </p:nvSpPr>
        <p:spPr>
          <a:xfrm>
            <a:off x="457200" y="3035808"/>
            <a:ext cx="4069080" cy="457200"/>
          </a:xfrm>
          <a:prstGeom prst="roundRect">
            <a:avLst>
              <a:gd name="adj" fmla="val 12000"/>
            </a:avLst>
          </a:prstGeom>
          <a:solidFill>
            <a:srgbClr val="1E8449"/>
          </a:solidFill>
          <a:ln/>
        </p:spPr>
      </p:sp>
      <p:sp>
        <p:nvSpPr>
          <p:cNvPr id="13" name="Text 11"/>
          <p:cNvSpPr/>
          <p:nvPr/>
        </p:nvSpPr>
        <p:spPr>
          <a:xfrm>
            <a:off x="457200" y="3035808"/>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Astrobiyolojik Çıkarım</a:t>
            </a:r>
            <a:endParaRPr lang="en-US" sz="1300" dirty="0"/>
          </a:p>
        </p:txBody>
      </p:sp>
      <p:sp>
        <p:nvSpPr>
          <p:cNvPr id="14" name="Text 12"/>
          <p:cNvSpPr/>
          <p:nvPr/>
        </p:nvSpPr>
        <p:spPr>
          <a:xfrm>
            <a:off x="621792" y="3584448"/>
            <a:ext cx="3739896" cy="1298448"/>
          </a:xfrm>
          <a:prstGeom prst="rect">
            <a:avLst/>
          </a:prstGeom>
          <a:noFill/>
          <a:ln/>
        </p:spPr>
        <p:txBody>
          <a:bodyPr wrap="square" lIns="0" tIns="0" rIns="0" bIns="0" rtlCol="0" anchor="t"/>
          <a:lstStyle/>
          <a:p>
            <a:pPr indent="0" marL="0">
              <a:lnSpc>
                <a:spcPct val="108000"/>
              </a:lnSpc>
              <a:buNone/>
            </a:pPr>
            <a:r>
              <a:rPr lang="en-US" sz="1000" dirty="0">
                <a:solidFill>
                  <a:srgbClr val="1A1A2E"/>
                </a:solidFill>
                <a:latin typeface="Calibri" pitchFamily="34" charset="0"/>
                <a:ea typeface="Calibri" pitchFamily="34" charset="-122"/>
                <a:cs typeface="Calibri" pitchFamily="34" charset="-120"/>
              </a:rPr>
              <a:t>NVA'nın linker bölgesindeki uyumluluğu ve stabilizasyon etkisi, bu amino asidin erken Dünya'ya asteroid çarpması yoluyla taşınması halinde ilkel şaperon öncüllerine entegre olmuş olabileceğini destekler.</a:t>
            </a:r>
            <a:endParaRPr lang="en-US" sz="1000" dirty="0"/>
          </a:p>
        </p:txBody>
      </p:sp>
      <p:sp>
        <p:nvSpPr>
          <p:cNvPr id="15" name="Shape 13"/>
          <p:cNvSpPr/>
          <p:nvPr/>
        </p:nvSpPr>
        <p:spPr>
          <a:xfrm>
            <a:off x="4617720" y="3035808"/>
            <a:ext cx="4069080" cy="1920240"/>
          </a:xfrm>
          <a:prstGeom prst="roundRect">
            <a:avLst>
              <a:gd name="adj" fmla="val 2857"/>
            </a:avLst>
          </a:prstGeom>
          <a:solidFill>
            <a:srgbClr val="FFFFFF"/>
          </a:solidFill>
          <a:ln/>
          <a:effectLst>
            <a:outerShdw sx="100000" sy="100000" kx="0" ky="0" algn="bl" rotWithShape="0" blurRad="50800" dist="12700" dir="5400000">
              <a:srgbClr val="000000">
                <a:alpha val="8000"/>
              </a:srgbClr>
            </a:outerShdw>
          </a:effectLst>
        </p:spPr>
      </p:sp>
      <p:sp>
        <p:nvSpPr>
          <p:cNvPr id="16" name="Shape 14"/>
          <p:cNvSpPr/>
          <p:nvPr/>
        </p:nvSpPr>
        <p:spPr>
          <a:xfrm>
            <a:off x="4617720" y="3035808"/>
            <a:ext cx="4069080" cy="457200"/>
          </a:xfrm>
          <a:prstGeom prst="roundRect">
            <a:avLst>
              <a:gd name="adj" fmla="val 12000"/>
            </a:avLst>
          </a:prstGeom>
          <a:solidFill>
            <a:srgbClr val="6B4226"/>
          </a:solidFill>
          <a:ln/>
        </p:spPr>
      </p:sp>
      <p:sp>
        <p:nvSpPr>
          <p:cNvPr id="17" name="Text 15"/>
          <p:cNvSpPr/>
          <p:nvPr/>
        </p:nvSpPr>
        <p:spPr>
          <a:xfrm>
            <a:off x="4617720" y="3035808"/>
            <a:ext cx="406908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Metodolojik Sınırlılıklar</a:t>
            </a:r>
            <a:endParaRPr lang="en-US" sz="1300" dirty="0"/>
          </a:p>
        </p:txBody>
      </p:sp>
      <p:sp>
        <p:nvSpPr>
          <p:cNvPr id="18" name="Text 16"/>
          <p:cNvSpPr/>
          <p:nvPr/>
        </p:nvSpPr>
        <p:spPr>
          <a:xfrm>
            <a:off x="4782312" y="3584448"/>
            <a:ext cx="3739896" cy="1298448"/>
          </a:xfrm>
          <a:prstGeom prst="rect">
            <a:avLst/>
          </a:prstGeom>
          <a:noFill/>
          <a:ln/>
        </p:spPr>
        <p:txBody>
          <a:bodyPr wrap="square" lIns="0" tIns="0" rIns="0" bIns="0" rtlCol="0" anchor="t"/>
          <a:lstStyle/>
          <a:p>
            <a:pPr indent="0" marL="0">
              <a:lnSpc>
                <a:spcPct val="108000"/>
              </a:lnSpc>
              <a:buNone/>
            </a:pPr>
            <a:r>
              <a:rPr lang="en-US" sz="1000" dirty="0">
                <a:solidFill>
                  <a:srgbClr val="1A1A2E"/>
                </a:solidFill>
                <a:latin typeface="Calibri" pitchFamily="34" charset="0"/>
                <a:ea typeface="Calibri" pitchFamily="34" charset="-122"/>
                <a:cs typeface="Calibri" pitchFamily="34" charset="-120"/>
              </a:rPr>
              <a:t>Backbone minimizasyonu uygulanmamış olması yüksek REU değerlerinde aşırı tahmine yol açabilir. NLE, ABA, B3A için rotamer kütüphanesi eksikliği hesaplama yapılamamasına neden olmuştur. Boltz-2 statik tahminleri allosterik dinamikleri yansıtmaz.</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Sonuç</a:t>
            </a:r>
            <a:endParaRPr lang="en-US" sz="3000" dirty="0"/>
          </a:p>
        </p:txBody>
      </p:sp>
      <p:sp>
        <p:nvSpPr>
          <p:cNvPr id="3" name="Shape 1"/>
          <p:cNvSpPr/>
          <p:nvPr/>
        </p:nvSpPr>
        <p:spPr>
          <a:xfrm>
            <a:off x="457200" y="914400"/>
            <a:ext cx="8229600" cy="713232"/>
          </a:xfrm>
          <a:prstGeom prst="roundRect">
            <a:avLst>
              <a:gd name="adj" fmla="val 7692"/>
            </a:avLst>
          </a:prstGeom>
          <a:solidFill>
            <a:srgbClr val="FFFFFF"/>
          </a:solidFill>
          <a:ln/>
          <a:effectLst>
            <a:outerShdw sx="100000" sy="100000" kx="0" ky="0" algn="bl" rotWithShape="0" blurRad="50800" dist="12700" dir="5400000">
              <a:srgbClr val="000000">
                <a:alpha val="8000"/>
              </a:srgbClr>
            </a:outerShdw>
          </a:effectLst>
        </p:spPr>
      </p:sp>
      <p:sp>
        <p:nvSpPr>
          <p:cNvPr id="4" name="Shape 2"/>
          <p:cNvSpPr/>
          <p:nvPr/>
        </p:nvSpPr>
        <p:spPr>
          <a:xfrm>
            <a:off x="566928" y="1042416"/>
            <a:ext cx="777240" cy="457200"/>
          </a:xfrm>
          <a:prstGeom prst="roundRect">
            <a:avLst>
              <a:gd name="adj" fmla="val 12000"/>
            </a:avLst>
          </a:prstGeom>
          <a:solidFill>
            <a:srgbClr val="2E75D6"/>
          </a:solidFill>
          <a:ln/>
        </p:spPr>
      </p:sp>
      <p:sp>
        <p:nvSpPr>
          <p:cNvPr id="5" name="Text 3"/>
          <p:cNvSpPr/>
          <p:nvPr/>
        </p:nvSpPr>
        <p:spPr>
          <a:xfrm>
            <a:off x="566928" y="1042416"/>
            <a:ext cx="777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NVA</a:t>
            </a:r>
            <a:endParaRPr lang="en-US" sz="1300" dirty="0"/>
          </a:p>
        </p:txBody>
      </p:sp>
      <p:sp>
        <p:nvSpPr>
          <p:cNvPr id="6" name="Text 4"/>
          <p:cNvSpPr/>
          <p:nvPr/>
        </p:nvSpPr>
        <p:spPr>
          <a:xfrm>
            <a:off x="1481328" y="969264"/>
            <a:ext cx="7114032" cy="603504"/>
          </a:xfrm>
          <a:prstGeom prst="rect">
            <a:avLst/>
          </a:prstGeom>
          <a:noFill/>
          <a:ln/>
        </p:spPr>
        <p:txBody>
          <a:bodyPr wrap="square" lIns="0" tIns="0" rIns="0" bIns="0" rtlCol="0" anchor="ctr"/>
          <a:lstStyle/>
          <a:p>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NVA, linker bölgesinde güçlü stabilize edici etki göstermiştir (ΔΔG = −6.090 REU, çift mutasyon). Global backbone geometrisi korunmuştur — allosterik iletim sürekliliği desteklenmektedir.</a:t>
            </a:r>
            <a:endParaRPr lang="en-US" sz="1050" dirty="0"/>
          </a:p>
        </p:txBody>
      </p:sp>
      <p:sp>
        <p:nvSpPr>
          <p:cNvPr id="7" name="Shape 5"/>
          <p:cNvSpPr/>
          <p:nvPr/>
        </p:nvSpPr>
        <p:spPr>
          <a:xfrm>
            <a:off x="457200" y="1737360"/>
            <a:ext cx="8229600" cy="713232"/>
          </a:xfrm>
          <a:prstGeom prst="roundRect">
            <a:avLst>
              <a:gd name="adj" fmla="val 7692"/>
            </a:avLst>
          </a:prstGeom>
          <a:solidFill>
            <a:srgbClr val="FFFFFF"/>
          </a:solidFill>
          <a:ln/>
          <a:effectLst>
            <a:outerShdw sx="100000" sy="100000" kx="0" ky="0" algn="bl" rotWithShape="0" blurRad="50800" dist="12700" dir="5400000">
              <a:srgbClr val="000000">
                <a:alpha val="8000"/>
              </a:srgbClr>
            </a:outerShdw>
          </a:effectLst>
        </p:spPr>
      </p:sp>
      <p:sp>
        <p:nvSpPr>
          <p:cNvPr id="8" name="Shape 6"/>
          <p:cNvSpPr/>
          <p:nvPr/>
        </p:nvSpPr>
        <p:spPr>
          <a:xfrm>
            <a:off x="566928" y="1865376"/>
            <a:ext cx="777240" cy="457200"/>
          </a:xfrm>
          <a:prstGeom prst="roundRect">
            <a:avLst>
              <a:gd name="adj" fmla="val 12000"/>
            </a:avLst>
          </a:prstGeom>
          <a:solidFill>
            <a:srgbClr val="1C7293"/>
          </a:solidFill>
          <a:ln/>
        </p:spPr>
      </p:sp>
      <p:sp>
        <p:nvSpPr>
          <p:cNvPr id="9" name="Text 7"/>
          <p:cNvSpPr/>
          <p:nvPr/>
        </p:nvSpPr>
        <p:spPr>
          <a:xfrm>
            <a:off x="566928" y="1865376"/>
            <a:ext cx="777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VAL</a:t>
            </a:r>
            <a:endParaRPr lang="en-US" sz="1300" dirty="0"/>
          </a:p>
        </p:txBody>
      </p:sp>
      <p:sp>
        <p:nvSpPr>
          <p:cNvPr id="10" name="Text 8"/>
          <p:cNvSpPr/>
          <p:nvPr/>
        </p:nvSpPr>
        <p:spPr>
          <a:xfrm>
            <a:off x="1481328" y="1792224"/>
            <a:ext cx="7114032" cy="603504"/>
          </a:xfrm>
          <a:prstGeom prst="rect">
            <a:avLst/>
          </a:prstGeom>
          <a:noFill/>
          <a:ln/>
        </p:spPr>
        <p:txBody>
          <a:bodyPr wrap="square" lIns="0" tIns="0" rIns="0" bIns="0" rtlCol="0" anchor="ctr"/>
          <a:lstStyle/>
          <a:p>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VAL, linker L390'da stabilizasyon sağlarken pozisyona bağımlı farklı sonuçlar üretmiştir — β-dallanmanın steric etkisi belirleyicidir.</a:t>
            </a:r>
            <a:endParaRPr lang="en-US" sz="1050" dirty="0"/>
          </a:p>
        </p:txBody>
      </p:sp>
      <p:sp>
        <p:nvSpPr>
          <p:cNvPr id="11" name="Shape 9"/>
          <p:cNvSpPr/>
          <p:nvPr/>
        </p:nvSpPr>
        <p:spPr>
          <a:xfrm>
            <a:off x="457200" y="2560320"/>
            <a:ext cx="8229600" cy="713232"/>
          </a:xfrm>
          <a:prstGeom prst="roundRect">
            <a:avLst>
              <a:gd name="adj" fmla="val 7692"/>
            </a:avLst>
          </a:prstGeom>
          <a:solidFill>
            <a:srgbClr val="FFFFFF"/>
          </a:solidFill>
          <a:ln/>
          <a:effectLst>
            <a:outerShdw sx="100000" sy="100000" kx="0" ky="0" algn="bl" rotWithShape="0" blurRad="50800" dist="12700" dir="5400000">
              <a:srgbClr val="000000">
                <a:alpha val="8000"/>
              </a:srgbClr>
            </a:outerShdw>
          </a:effectLst>
        </p:spPr>
      </p:sp>
      <p:sp>
        <p:nvSpPr>
          <p:cNvPr id="12" name="Shape 10"/>
          <p:cNvSpPr/>
          <p:nvPr/>
        </p:nvSpPr>
        <p:spPr>
          <a:xfrm>
            <a:off x="566928" y="2688336"/>
            <a:ext cx="777240" cy="457200"/>
          </a:xfrm>
          <a:prstGeom prst="roundRect">
            <a:avLst>
              <a:gd name="adj" fmla="val 12000"/>
            </a:avLst>
          </a:prstGeom>
          <a:solidFill>
            <a:srgbClr val="C0392B"/>
          </a:solidFill>
          <a:ln/>
        </p:spPr>
      </p:sp>
      <p:sp>
        <p:nvSpPr>
          <p:cNvPr id="13" name="Text 11"/>
          <p:cNvSpPr/>
          <p:nvPr/>
        </p:nvSpPr>
        <p:spPr>
          <a:xfrm>
            <a:off x="566928" y="2688336"/>
            <a:ext cx="777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ILE</a:t>
            </a:r>
            <a:endParaRPr lang="en-US" sz="1300" dirty="0"/>
          </a:p>
        </p:txBody>
      </p:sp>
      <p:sp>
        <p:nvSpPr>
          <p:cNvPr id="14" name="Text 12"/>
          <p:cNvSpPr/>
          <p:nvPr/>
        </p:nvSpPr>
        <p:spPr>
          <a:xfrm>
            <a:off x="1481328" y="2615184"/>
            <a:ext cx="7114032" cy="603504"/>
          </a:xfrm>
          <a:prstGeom prst="rect">
            <a:avLst/>
          </a:prstGeom>
          <a:noFill/>
          <a:ln/>
        </p:spPr>
        <p:txBody>
          <a:bodyPr wrap="square" lIns="0" tIns="0" rIns="0" bIns="0" rtlCol="0" anchor="ctr"/>
          <a:lstStyle/>
          <a:p>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ILE ve AIB, tüm linker ve SBD pozisyonlarında belirgin destabilizasyon üretmiştir. ILE SBD çift mutantında +517.966 REU ile çalışmanın maksimum değerine ulaşılmıştır.</a:t>
            </a:r>
            <a:endParaRPr lang="en-US" sz="1050" dirty="0"/>
          </a:p>
        </p:txBody>
      </p:sp>
      <p:sp>
        <p:nvSpPr>
          <p:cNvPr id="15" name="Shape 13"/>
          <p:cNvSpPr/>
          <p:nvPr/>
        </p:nvSpPr>
        <p:spPr>
          <a:xfrm>
            <a:off x="457200" y="3383280"/>
            <a:ext cx="8229600" cy="713232"/>
          </a:xfrm>
          <a:prstGeom prst="roundRect">
            <a:avLst>
              <a:gd name="adj" fmla="val 7692"/>
            </a:avLst>
          </a:prstGeom>
          <a:solidFill>
            <a:srgbClr val="FFFFFF"/>
          </a:solidFill>
          <a:ln/>
          <a:effectLst>
            <a:outerShdw sx="100000" sy="100000" kx="0" ky="0" algn="bl" rotWithShape="0" blurRad="50800" dist="12700" dir="5400000">
              <a:srgbClr val="000000">
                <a:alpha val="8000"/>
              </a:srgbClr>
            </a:outerShdw>
          </a:effectLst>
        </p:spPr>
      </p:sp>
      <p:sp>
        <p:nvSpPr>
          <p:cNvPr id="16" name="Shape 14"/>
          <p:cNvSpPr/>
          <p:nvPr/>
        </p:nvSpPr>
        <p:spPr>
          <a:xfrm>
            <a:off x="566928" y="3511296"/>
            <a:ext cx="777240" cy="457200"/>
          </a:xfrm>
          <a:prstGeom prst="roundRect">
            <a:avLst>
              <a:gd name="adj" fmla="val 12000"/>
            </a:avLst>
          </a:prstGeom>
          <a:solidFill>
            <a:srgbClr val="1E8449"/>
          </a:solidFill>
          <a:ln/>
        </p:spPr>
      </p:sp>
      <p:sp>
        <p:nvSpPr>
          <p:cNvPr id="17" name="Text 15"/>
          <p:cNvSpPr/>
          <p:nvPr/>
        </p:nvSpPr>
        <p:spPr>
          <a:xfrm>
            <a:off x="566928" y="3511296"/>
            <a:ext cx="7772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SBD</a:t>
            </a:r>
            <a:endParaRPr lang="en-US" sz="1300" dirty="0"/>
          </a:p>
        </p:txBody>
      </p:sp>
      <p:sp>
        <p:nvSpPr>
          <p:cNvPr id="18" name="Text 16"/>
          <p:cNvSpPr/>
          <p:nvPr/>
        </p:nvSpPr>
        <p:spPr>
          <a:xfrm>
            <a:off x="1481328" y="3438144"/>
            <a:ext cx="7114032" cy="603504"/>
          </a:xfrm>
          <a:prstGeom prst="rect">
            <a:avLst/>
          </a:prstGeom>
          <a:noFill/>
          <a:ln/>
        </p:spPr>
        <p:txBody>
          <a:bodyPr wrap="square" lIns="0" tIns="0" rIns="0" bIns="0" rtlCol="0" anchor="ctr"/>
          <a:lstStyle/>
          <a:p>
            <a:pPr indent="0" marL="0">
              <a:lnSpc>
                <a:spcPct val="105000"/>
              </a:lnSpc>
              <a:buNone/>
            </a:pPr>
            <a:r>
              <a:rPr lang="en-US" sz="1050" dirty="0">
                <a:solidFill>
                  <a:srgbClr val="1A1A2E"/>
                </a:solidFill>
                <a:latin typeface="Calibri" pitchFamily="34" charset="0"/>
                <a:ea typeface="Calibri" pitchFamily="34" charset="-122"/>
                <a:cs typeface="Calibri" pitchFamily="34" charset="-120"/>
              </a:rPr>
              <a:t>SBD β-sandviç bölgesi, hacimli amino asitlere karşı son derece sınırlı tolerans sergilemektedir — evrimsel optimizasyonun kanıtı.</a:t>
            </a:r>
            <a:endParaRPr lang="en-US" sz="1050" dirty="0"/>
          </a:p>
        </p:txBody>
      </p:sp>
      <p:sp>
        <p:nvSpPr>
          <p:cNvPr id="19" name="Shape 17"/>
          <p:cNvSpPr/>
          <p:nvPr/>
        </p:nvSpPr>
        <p:spPr>
          <a:xfrm>
            <a:off x="457200" y="4206240"/>
            <a:ext cx="8229600" cy="822960"/>
          </a:xfrm>
          <a:prstGeom prst="roundRect">
            <a:avLst>
              <a:gd name="adj" fmla="val 6667"/>
            </a:avLst>
          </a:prstGeom>
          <a:solidFill>
            <a:srgbClr val="1B2A4A"/>
          </a:solidFill>
          <a:ln/>
        </p:spPr>
      </p:sp>
      <p:sp>
        <p:nvSpPr>
          <p:cNvPr id="20" name="Text 18"/>
          <p:cNvSpPr/>
          <p:nvPr/>
        </p:nvSpPr>
        <p:spPr>
          <a:xfrm>
            <a:off x="685800" y="4206240"/>
            <a:ext cx="7772400" cy="822960"/>
          </a:xfrm>
          <a:prstGeom prst="rect">
            <a:avLst/>
          </a:prstGeom>
          <a:noFill/>
          <a:ln/>
        </p:spPr>
        <p:txBody>
          <a:bodyPr wrap="square" lIns="0" tIns="0" rIns="0" bIns="0" rtlCol="0" anchor="ctr"/>
          <a:lstStyle/>
          <a:p>
            <a:pPr indent="0" marL="0">
              <a:lnSpc>
                <a:spcPct val="110000"/>
              </a:lnSpc>
              <a:buNone/>
            </a:pPr>
            <a:r>
              <a:rPr lang="en-US" sz="1600" b="1" dirty="0">
                <a:solidFill>
                  <a:srgbClr val="F4C542"/>
                </a:solidFill>
                <a:latin typeface="Calibri" pitchFamily="34" charset="0"/>
                <a:ea typeface="Calibri" pitchFamily="34" charset="-122"/>
                <a:cs typeface="Calibri" pitchFamily="34" charset="-120"/>
              </a:rPr>
              <a:t>★  </a:t>
            </a:r>
            <a:pPr indent="0" marL="0">
              <a:lnSpc>
                <a:spcPct val="110000"/>
              </a:lnSpc>
              <a:buNone/>
            </a:pPr>
            <a:r>
              <a:rPr lang="en-US" sz="1150" dirty="0">
                <a:solidFill>
                  <a:srgbClr val="FFFFFF"/>
                </a:solidFill>
                <a:latin typeface="Calibri" pitchFamily="34" charset="0"/>
                <a:ea typeface="Calibri" pitchFamily="34" charset="-122"/>
                <a:cs typeface="Calibri" pitchFamily="34" charset="-120"/>
              </a:rPr>
              <a:t>NVA'nın linker uyumluluğu ve stabilizasyon etkisi, bu amino asidin ilkel şaperon öncüllerine entegre olmuş olabileceği astrobiyolojik hipotezini desteklemektedir.</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7FA"/>
        </a:solidFill>
      </p:bgPr>
    </p:bg>
    <p:spTree>
      <p:nvGrpSpPr>
        <p:cNvPr id="1" name=""/>
        <p:cNvGrpSpPr/>
        <p:nvPr/>
      </p:nvGrpSpPr>
      <p:grpSpPr>
        <a:xfrm>
          <a:off x="0" y="0"/>
          <a:ext cx="0" cy="0"/>
          <a:chOff x="0" y="0"/>
          <a:chExt cx="0" cy="0"/>
        </a:xfrm>
      </p:grpSpPr>
      <p:sp>
        <p:nvSpPr>
          <p:cNvPr id="2" name="Text 0"/>
          <p:cNvSpPr/>
          <p:nvPr/>
        </p:nvSpPr>
        <p:spPr>
          <a:xfrm>
            <a:off x="457200" y="256032"/>
            <a:ext cx="8229600" cy="548640"/>
          </a:xfrm>
          <a:prstGeom prst="rect">
            <a:avLst/>
          </a:prstGeom>
          <a:noFill/>
          <a:ln/>
        </p:spPr>
        <p:txBody>
          <a:bodyPr wrap="square" rtlCol="0" anchor="ctr"/>
          <a:lstStyle/>
          <a:p>
            <a:pPr indent="0" marL="0">
              <a:buNone/>
            </a:pPr>
            <a:r>
              <a:rPr lang="en-US" sz="3000" b="1" dirty="0">
                <a:solidFill>
                  <a:srgbClr val="1B2A4A"/>
                </a:solidFill>
                <a:latin typeface="Cambria" pitchFamily="34" charset="0"/>
                <a:ea typeface="Cambria" pitchFamily="34" charset="-122"/>
                <a:cs typeface="Cambria" pitchFamily="34" charset="-120"/>
              </a:rPr>
              <a:t>Kaynakça</a:t>
            </a:r>
            <a:endParaRPr lang="en-US" sz="3000" dirty="0"/>
          </a:p>
        </p:txBody>
      </p:sp>
      <p:sp>
        <p:nvSpPr>
          <p:cNvPr id="3" name="Shape 1"/>
          <p:cNvSpPr/>
          <p:nvPr/>
        </p:nvSpPr>
        <p:spPr>
          <a:xfrm>
            <a:off x="457200" y="914400"/>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4" name="Text 2"/>
          <p:cNvSpPr/>
          <p:nvPr/>
        </p:nvSpPr>
        <p:spPr>
          <a:xfrm>
            <a:off x="603504" y="950976"/>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[1]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Bertelsen et al. (2009). Solution conformation of wild-type E. coli Hsp70 (DnaK). PNAS, 106(20), 8471–8476.</a:t>
            </a:r>
            <a:endParaRPr lang="en-US" sz="900" dirty="0"/>
          </a:p>
        </p:txBody>
      </p:sp>
      <p:sp>
        <p:nvSpPr>
          <p:cNvPr id="5" name="Shape 3"/>
          <p:cNvSpPr/>
          <p:nvPr/>
        </p:nvSpPr>
        <p:spPr>
          <a:xfrm>
            <a:off x="457200" y="1618488"/>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6" name="Text 4"/>
          <p:cNvSpPr/>
          <p:nvPr/>
        </p:nvSpPr>
        <p:spPr>
          <a:xfrm>
            <a:off x="603504" y="1655064"/>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[2]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Bukau &amp; Horwich (1998). The Hsp70 and Hsp60 chaperone machines. Cell, 92(3), 351–366.</a:t>
            </a:r>
            <a:endParaRPr lang="en-US" sz="900" dirty="0"/>
          </a:p>
        </p:txBody>
      </p:sp>
      <p:sp>
        <p:nvSpPr>
          <p:cNvPr id="7" name="Shape 5"/>
          <p:cNvSpPr/>
          <p:nvPr/>
        </p:nvSpPr>
        <p:spPr>
          <a:xfrm>
            <a:off x="457200" y="2322576"/>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8" name="Text 6"/>
          <p:cNvSpPr/>
          <p:nvPr/>
        </p:nvSpPr>
        <p:spPr>
          <a:xfrm>
            <a:off x="603504" y="2359152"/>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[3]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Glavin et al. (2023). The significance of meteoritic amino acids. Chemical Reviews, 123(21), 12478–12528.</a:t>
            </a:r>
            <a:endParaRPr lang="en-US" sz="900" dirty="0"/>
          </a:p>
        </p:txBody>
      </p:sp>
      <p:sp>
        <p:nvSpPr>
          <p:cNvPr id="9" name="Shape 7"/>
          <p:cNvSpPr/>
          <p:nvPr/>
        </p:nvSpPr>
        <p:spPr>
          <a:xfrm>
            <a:off x="457200" y="3026664"/>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0" name="Text 8"/>
          <p:cNvSpPr/>
          <p:nvPr/>
        </p:nvSpPr>
        <p:spPr>
          <a:xfrm>
            <a:off x="603504" y="3063240"/>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[4]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Hartl et al. (2011). Molecular chaperones in protein folding and proteostasis. Nature, 475(7356), 324–332.</a:t>
            </a:r>
            <a:endParaRPr lang="en-US" sz="900" dirty="0"/>
          </a:p>
        </p:txBody>
      </p:sp>
      <p:sp>
        <p:nvSpPr>
          <p:cNvPr id="11" name="Shape 9"/>
          <p:cNvSpPr/>
          <p:nvPr/>
        </p:nvSpPr>
        <p:spPr>
          <a:xfrm>
            <a:off x="457200" y="3730752"/>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2" name="Text 10"/>
          <p:cNvSpPr/>
          <p:nvPr/>
        </p:nvSpPr>
        <p:spPr>
          <a:xfrm>
            <a:off x="603504" y="3767328"/>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[5]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Laufen et al. (1999). Mechanism of regulation of Hsp70 chaperones by DnaJ. PNAS, 96(10), 5452–5457.</a:t>
            </a:r>
            <a:endParaRPr lang="en-US" sz="900" dirty="0"/>
          </a:p>
        </p:txBody>
      </p:sp>
      <p:sp>
        <p:nvSpPr>
          <p:cNvPr id="13" name="Shape 11"/>
          <p:cNvSpPr/>
          <p:nvPr/>
        </p:nvSpPr>
        <p:spPr>
          <a:xfrm>
            <a:off x="457200" y="4434840"/>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4" name="Text 12"/>
          <p:cNvSpPr/>
          <p:nvPr/>
        </p:nvSpPr>
        <p:spPr>
          <a:xfrm>
            <a:off x="603504" y="4471416"/>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[6]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Mayer (2010). Gymnastics of molecular chaperones. Molecular Cell, 39(3), 321–331.</a:t>
            </a:r>
            <a:endParaRPr lang="en-US" sz="900" dirty="0"/>
          </a:p>
        </p:txBody>
      </p:sp>
      <p:sp>
        <p:nvSpPr>
          <p:cNvPr id="15" name="Shape 13"/>
          <p:cNvSpPr/>
          <p:nvPr/>
        </p:nvSpPr>
        <p:spPr>
          <a:xfrm>
            <a:off x="4663440" y="914400"/>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6" name="Text 14"/>
          <p:cNvSpPr/>
          <p:nvPr/>
        </p:nvSpPr>
        <p:spPr>
          <a:xfrm>
            <a:off x="4809744" y="950976"/>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[7]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Park et al. (2016). Simultaneous optimization of biomolecular energy functions. J. Chem. Theory Comput., 12(12), 6201–6212.</a:t>
            </a:r>
            <a:endParaRPr lang="en-US" sz="900" dirty="0"/>
          </a:p>
        </p:txBody>
      </p:sp>
      <p:sp>
        <p:nvSpPr>
          <p:cNvPr id="17" name="Shape 15"/>
          <p:cNvSpPr/>
          <p:nvPr/>
        </p:nvSpPr>
        <p:spPr>
          <a:xfrm>
            <a:off x="4663440" y="1618488"/>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18" name="Text 16"/>
          <p:cNvSpPr/>
          <p:nvPr/>
        </p:nvSpPr>
        <p:spPr>
          <a:xfrm>
            <a:off x="4809744" y="1655064"/>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[8]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Pizzarello &amp; Shock (2010). The organic composition of carbonaceous meteorites. Cold Spring Harb. Perspect. Biol., 2(3).</a:t>
            </a:r>
            <a:endParaRPr lang="en-US" sz="900" dirty="0"/>
          </a:p>
        </p:txBody>
      </p:sp>
      <p:sp>
        <p:nvSpPr>
          <p:cNvPr id="19" name="Shape 17"/>
          <p:cNvSpPr/>
          <p:nvPr/>
        </p:nvSpPr>
        <p:spPr>
          <a:xfrm>
            <a:off x="4663440" y="2322576"/>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20" name="Text 18"/>
          <p:cNvSpPr/>
          <p:nvPr/>
        </p:nvSpPr>
        <p:spPr>
          <a:xfrm>
            <a:off x="4809744" y="2359152"/>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[9]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Swain et al. (2007). Hsp70 chaperone ligands control domain association via an allosteric mechanism. Mol. Cell, 26(1), 27–39.</a:t>
            </a:r>
            <a:endParaRPr lang="en-US" sz="900" dirty="0"/>
          </a:p>
        </p:txBody>
      </p:sp>
      <p:sp>
        <p:nvSpPr>
          <p:cNvPr id="21" name="Shape 19"/>
          <p:cNvSpPr/>
          <p:nvPr/>
        </p:nvSpPr>
        <p:spPr>
          <a:xfrm>
            <a:off x="4663440" y="3026664"/>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22" name="Text 20"/>
          <p:cNvSpPr/>
          <p:nvPr/>
        </p:nvSpPr>
        <p:spPr>
          <a:xfrm>
            <a:off x="4809744" y="3063240"/>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[10]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Toniolo &amp; Benedetti (1991). The polypeptide 3(10)-helix. Trends in Biochemical Sciences, 16, 350–353.</a:t>
            </a:r>
            <a:endParaRPr lang="en-US" sz="900" dirty="0"/>
          </a:p>
        </p:txBody>
      </p:sp>
      <p:sp>
        <p:nvSpPr>
          <p:cNvPr id="23" name="Shape 21"/>
          <p:cNvSpPr/>
          <p:nvPr/>
        </p:nvSpPr>
        <p:spPr>
          <a:xfrm>
            <a:off x="4663440" y="3730752"/>
            <a:ext cx="4023360" cy="640080"/>
          </a:xfrm>
          <a:prstGeom prst="roundRect">
            <a:avLst>
              <a:gd name="adj" fmla="val 8571"/>
            </a:avLst>
          </a:prstGeom>
          <a:solidFill>
            <a:srgbClr val="FFFFFF"/>
          </a:solidFill>
          <a:ln/>
          <a:effectLst>
            <a:outerShdw sx="100000" sy="100000" kx="0" ky="0" algn="bl" rotWithShape="0" blurRad="38100" dist="12700" dir="5400000">
              <a:srgbClr val="000000">
                <a:alpha val="7000"/>
              </a:srgbClr>
            </a:outerShdw>
          </a:effectLst>
        </p:spPr>
      </p:sp>
      <p:sp>
        <p:nvSpPr>
          <p:cNvPr id="24" name="Text 22"/>
          <p:cNvSpPr/>
          <p:nvPr/>
        </p:nvSpPr>
        <p:spPr>
          <a:xfrm>
            <a:off x="4809744" y="3767328"/>
            <a:ext cx="3730752" cy="566928"/>
          </a:xfrm>
          <a:prstGeom prst="rect">
            <a:avLst/>
          </a:prstGeom>
          <a:noFill/>
          <a:ln/>
        </p:spPr>
        <p:txBody>
          <a:bodyPr wrap="square" lIns="0" tIns="0" rIns="0" bIns="0" rtlCol="0" anchor="ctr"/>
          <a:lstStyle/>
          <a:p>
            <a:pPr indent="0" marL="0">
              <a:lnSpc>
                <a:spcPct val="100000"/>
              </a:lnSpc>
              <a:buNone/>
            </a:pPr>
            <a:r>
              <a:rPr lang="en-US" sz="900" b="1" dirty="0">
                <a:solidFill>
                  <a:srgbClr val="2E75D6"/>
                </a:solidFill>
                <a:latin typeface="Calibri" pitchFamily="34" charset="0"/>
                <a:ea typeface="Calibri" pitchFamily="34" charset="-122"/>
                <a:cs typeface="Calibri" pitchFamily="34" charset="-120"/>
              </a:rPr>
              <a:t>[11]  </a:t>
            </a:r>
            <a:pPr indent="0" marL="0">
              <a:lnSpc>
                <a:spcPct val="100000"/>
              </a:lnSpc>
              <a:buNone/>
            </a:pPr>
            <a:r>
              <a:rPr lang="en-US" sz="900" dirty="0">
                <a:solidFill>
                  <a:srgbClr val="1A1A2E"/>
                </a:solidFill>
                <a:latin typeface="Calibri" pitchFamily="34" charset="0"/>
                <a:ea typeface="Calibri" pitchFamily="34" charset="-122"/>
                <a:cs typeface="Calibri" pitchFamily="34" charset="-120"/>
              </a:rPr>
              <a:t>Zhu et al. (1996). Structural analysis of substrate binding by the molecular chaperone DnaK. Science, 272(5268), 1606–1614.</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B2A4A"/>
        </a:solidFill>
      </p:bgPr>
    </p:bg>
    <p:spTree>
      <p:nvGrpSpPr>
        <p:cNvPr id="1" name=""/>
        <p:cNvGrpSpPr/>
        <p:nvPr/>
      </p:nvGrpSpPr>
      <p:grpSpPr>
        <a:xfrm>
          <a:off x="0" y="0"/>
          <a:ext cx="0" cy="0"/>
          <a:chOff x="0" y="0"/>
          <a:chExt cx="0" cy="0"/>
        </a:xfrm>
      </p:grpSpPr>
      <p:sp>
        <p:nvSpPr>
          <p:cNvPr id="2" name="Shape 0"/>
          <p:cNvSpPr/>
          <p:nvPr/>
        </p:nvSpPr>
        <p:spPr>
          <a:xfrm>
            <a:off x="6949440" y="-1280160"/>
            <a:ext cx="3291840" cy="3291840"/>
          </a:xfrm>
          <a:prstGeom prst="ellipse">
            <a:avLst/>
          </a:prstGeom>
          <a:solidFill>
            <a:srgbClr val="1A4A8C"/>
          </a:solidFill>
          <a:ln/>
        </p:spPr>
      </p:sp>
      <p:sp>
        <p:nvSpPr>
          <p:cNvPr id="3" name="Shape 1"/>
          <p:cNvSpPr/>
          <p:nvPr/>
        </p:nvSpPr>
        <p:spPr>
          <a:xfrm>
            <a:off x="-1463040" y="3566160"/>
            <a:ext cx="2926080" cy="2926080"/>
          </a:xfrm>
          <a:prstGeom prst="ellipse">
            <a:avLst/>
          </a:prstGeom>
          <a:solidFill>
            <a:srgbClr val="1A4A8C"/>
          </a:solidFill>
          <a:ln/>
        </p:spPr>
      </p:sp>
      <p:sp>
        <p:nvSpPr>
          <p:cNvPr id="4" name="Text 2"/>
          <p:cNvSpPr/>
          <p:nvPr/>
        </p:nvSpPr>
        <p:spPr>
          <a:xfrm>
            <a:off x="457200" y="1691640"/>
            <a:ext cx="8229600" cy="640080"/>
          </a:xfrm>
          <a:prstGeom prst="rect">
            <a:avLst/>
          </a:prstGeom>
          <a:noFill/>
          <a:ln/>
        </p:spPr>
        <p:txBody>
          <a:bodyPr wrap="square" lIns="0" tIns="0" rIns="0" bIns="0" rtlCol="0" anchor="ctr"/>
          <a:lstStyle/>
          <a:p>
            <a:pPr algn="ctr" indent="0" marL="0">
              <a:buNone/>
            </a:pPr>
            <a:r>
              <a:rPr lang="en-US" sz="2800" dirty="0">
                <a:solidFill>
                  <a:srgbClr val="C5D3EC"/>
                </a:solidFill>
                <a:latin typeface="Cambria" pitchFamily="34" charset="0"/>
                <a:ea typeface="Cambria" pitchFamily="34" charset="-122"/>
                <a:cs typeface="Cambria" pitchFamily="34" charset="-120"/>
              </a:rPr>
              <a:t>Dinlediğiniz için</a:t>
            </a:r>
            <a:endParaRPr lang="en-US" sz="2800" dirty="0"/>
          </a:p>
        </p:txBody>
      </p:sp>
      <p:sp>
        <p:nvSpPr>
          <p:cNvPr id="5" name="Text 3"/>
          <p:cNvSpPr/>
          <p:nvPr/>
        </p:nvSpPr>
        <p:spPr>
          <a:xfrm>
            <a:off x="457200" y="2240280"/>
            <a:ext cx="8229600" cy="914400"/>
          </a:xfrm>
          <a:prstGeom prst="rect">
            <a:avLst/>
          </a:prstGeom>
          <a:noFill/>
          <a:ln/>
        </p:spPr>
        <p:txBody>
          <a:bodyPr wrap="square" lIns="0" tIns="0" rIns="0" bIns="0" rtlCol="0" anchor="ctr"/>
          <a:lstStyle/>
          <a:p>
            <a:pPr algn="ctr" indent="0" marL="0">
              <a:buNone/>
            </a:pPr>
            <a:r>
              <a:rPr lang="en-US" sz="4800" b="1" dirty="0">
                <a:solidFill>
                  <a:srgbClr val="FFFFFF"/>
                </a:solidFill>
                <a:latin typeface="Cambria" pitchFamily="34" charset="0"/>
                <a:ea typeface="Cambria" pitchFamily="34" charset="-122"/>
                <a:cs typeface="Cambria" pitchFamily="34" charset="-120"/>
              </a:rPr>
              <a:t>Teşekkürler</a:t>
            </a:r>
            <a:endParaRPr lang="en-US" sz="4800" dirty="0"/>
          </a:p>
        </p:txBody>
      </p:sp>
      <p:sp>
        <p:nvSpPr>
          <p:cNvPr id="6" name="Text 4"/>
          <p:cNvSpPr/>
          <p:nvPr/>
        </p:nvSpPr>
        <p:spPr>
          <a:xfrm>
            <a:off x="457200" y="3383280"/>
            <a:ext cx="8229600" cy="822960"/>
          </a:xfrm>
          <a:prstGeom prst="rect">
            <a:avLst/>
          </a:prstGeom>
          <a:noFill/>
          <a:ln/>
        </p:spPr>
        <p:txBody>
          <a:bodyPr wrap="square" lIns="0" tIns="0" rIns="0" bIns="0" rtlCol="0" anchor="ctr"/>
          <a:lstStyle/>
          <a:p>
            <a:pPr algn="ctr" indent="0" marL="0">
              <a:lnSpc>
                <a:spcPct val="130000"/>
              </a:lnSpc>
              <a:buNone/>
            </a:pPr>
            <a:r>
              <a:rPr lang="en-US" sz="1400" dirty="0">
                <a:solidFill>
                  <a:srgbClr val="FFFFFF"/>
                </a:solidFill>
                <a:latin typeface="Calibri" pitchFamily="34" charset="0"/>
                <a:ea typeface="Calibri" pitchFamily="34" charset="-122"/>
                <a:cs typeface="Calibri" pitchFamily="34" charset="-120"/>
              </a:rPr>
              <a:t>Pelinsu Eda Şentürk · Biyomühendislik · Haziran 2026</a:t>
            </a:r>
            <a:endParaRPr lang="en-US" sz="1400" dirty="0"/>
          </a:p>
          <a:p>
            <a:pPr algn="ctr" indent="0" marL="0">
              <a:lnSpc>
                <a:spcPct val="130000"/>
              </a:lnSpc>
              <a:buNone/>
            </a:pPr>
            <a:r>
              <a:rPr lang="en-US" sz="1200" dirty="0">
                <a:solidFill>
                  <a:srgbClr val="9FB4D9"/>
                </a:solidFill>
                <a:latin typeface="Calibri" pitchFamily="34" charset="0"/>
                <a:ea typeface="Calibri" pitchFamily="34" charset="-122"/>
                <a:cs typeface="Calibri" pitchFamily="34" charset="-120"/>
              </a:rPr>
              <a:t>Danışman: Dr. Öğr. Üyesi Saliha Ece Acuner</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DnaK Tez Sunumu</dc:title>
  <dc:subject>PptxGenJS Presentation</dc:subject>
  <dc:creator>Pelinsu Eda Şentürk</dc:creator>
  <cp:lastModifiedBy>Pelinsu Eda Şentürk</cp:lastModifiedBy>
  <cp:revision>1</cp:revision>
  <dcterms:created xsi:type="dcterms:W3CDTF">2026-06-14T11:55:54Z</dcterms:created>
  <dcterms:modified xsi:type="dcterms:W3CDTF">2026-06-14T11:55:54Z</dcterms:modified>
</cp:coreProperties>
</file>